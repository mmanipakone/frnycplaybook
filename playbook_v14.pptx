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08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5943600"/>
          </a:xfrm>
          <a:prstGeom prst="rect">
            <a:avLst/>
          </a:prstGeom>
          <a:solidFill>
            <a:srgbClr val="10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12648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C518"/>
                </a:solidFill>
                <a:latin typeface="Calibri"/>
              </a:rPr>
              <a:t>FUTUREREADY NYC  ·  NYCPS OFFICE OF STUDENT PATHWAYS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92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RECRUITMENT
&amp; RETENTION
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0"/>
            <a:ext cx="548640" cy="635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832104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  <a:latin typeface="Calibri"/>
              </a:rPr>
              <a:t>A school-year action guide for FRNYC teams.
Grade by grade. Month by month. Aligned to KIMs.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4640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56677"/>
                </a:solidFill>
                <a:latin typeface="Calibri"/>
              </a:rPr>
              <a:t>2026  ·  FUTUREREADY NYC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956800"/>
            <a:ext cx="2590800" cy="101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90800" y="9956800"/>
            <a:ext cx="2590800" cy="101600"/>
          </a:xfrm>
          <a:prstGeom prst="rect">
            <a:avLst/>
          </a:prstGeom>
          <a:solidFill>
            <a:srgbClr val="B5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81600" y="9956800"/>
            <a:ext cx="2590800" cy="10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90800" cy="101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90800" y="0"/>
            <a:ext cx="2590800" cy="101600"/>
          </a:xfrm>
          <a:prstGeom prst="rect">
            <a:avLst/>
          </a:prstGeom>
          <a:solidFill>
            <a:srgbClr val="B5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81600" y="0"/>
            <a:ext cx="2590800" cy="10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460"/>
                </a:solidFill>
                <a:latin typeface="Calibri"/>
              </a:rPr>
              <a:t>Recruitment &amp; Retention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09600"/>
            <a:ext cx="411480" cy="381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33832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WHAT THIS PLAYBOOK IS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79780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8051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202C"/>
                </a:solidFill>
                <a:latin typeface="Calibri"/>
              </a:rPr>
              <a:t>This playbook guides FRNYC school teams through what to do — grade by grade, month by month — to build a full, equitable cohort and retain students through credential completion. Each activity is linked to its relevant KIM checkpoint. FRNYC places students in career pathways combining Work-Based Learning (WBL), college-credit coursework (ECC), and industry credentials. Enrollment officially begins in 10th grade; 8th–9th grade is for awareness and interest alignment.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640080"/>
            <a:ext cx="33832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WHO THIS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779780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81788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202C"/>
                </a:solidFill>
                <a:latin typeface="Calibri"/>
              </a:rPr>
              <a:t>• FRNYC Coordinators — manage the full cycle from awareness to 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13538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202C"/>
                </a:solidFill>
                <a:latin typeface="Calibri"/>
              </a:rPr>
              <a:t>• School Counselors — lead 1:1 advising, post-secondary planning, early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45288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202C"/>
                </a:solidFill>
                <a:latin typeface="Calibri"/>
              </a:rPr>
              <a:t>• APs of Instruction — schedule ECC supports; lead end-of-year debrief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77038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202C"/>
                </a:solidFill>
                <a:latin typeface="Calibri"/>
              </a:rPr>
              <a:t>• Pathway Teachers — deliver CCI coursework; connect students to WBL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21408"/>
            <a:ext cx="6858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KIM CHECKPOINTS — SCHOOL YEAR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611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86508"/>
            <a:ext cx="3383280" cy="93268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2350008"/>
            <a:ext cx="186080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369A1"/>
                </a:solidFill>
                <a:latin typeface="Calibri"/>
              </a:rPr>
              <a:t>CHECKPOINT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8004" y="2350008"/>
            <a:ext cx="1420977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F3460"/>
                </a:solidFill>
                <a:latin typeface="Calibri"/>
              </a:rPr>
              <a:t>Oct 5,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2502408"/>
            <a:ext cx="3230880" cy="67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5568"/>
                </a:solidFill>
                <a:latin typeface="Calibri"/>
              </a:rPr>
              <a:t>• All 10th–12th graders identified in STARS  [A3]
• All students enrolled in Fall CCI  [A8]
• Equity recruitment and support plan submitted  [A6]
• Academic support plan in place for students who need it  [A7]
• WBL intermediary partner confirmed for 10th grade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286508"/>
            <a:ext cx="3383280" cy="932688"/>
          </a:xfrm>
          <a:prstGeom prst="rect">
            <a:avLst/>
          </a:prstGeom>
          <a:solidFill>
            <a:srgbClr val="F5F3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8120" y="2350008"/>
            <a:ext cx="186080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6D28D9"/>
                </a:solidFill>
                <a:latin typeface="Calibri"/>
              </a:rPr>
              <a:t>CHECKPOINT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2724" y="2350008"/>
            <a:ext cx="1420977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F3460"/>
                </a:solidFill>
                <a:latin typeface="Calibri"/>
              </a:rPr>
              <a:t>Jan 5,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8120" y="2502408"/>
            <a:ext cx="3230880" cy="67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5568"/>
                </a:solidFill>
                <a:latin typeface="Calibri"/>
              </a:rPr>
              <a:t>• All 11th graders: first 1:1 with college &amp; career advisor complete  [B15]
• Spring ECC planning confirmations completed  [B16]
• All 10th graders: first unpaid WBL activity captured in STARS  [B17]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74060"/>
            <a:ext cx="3383280" cy="932688"/>
          </a:xfrm>
          <a:prstGeom prst="rect">
            <a:avLst/>
          </a:prstGeom>
          <a:solidFill>
            <a:srgbClr val="F0FDF4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3337560"/>
            <a:ext cx="186080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0F766E"/>
                </a:solidFill>
                <a:latin typeface="Calibri"/>
              </a:rPr>
              <a:t>CHECKPOINT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8004" y="3337560"/>
            <a:ext cx="1420977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F3460"/>
                </a:solidFill>
                <a:latin typeface="Calibri"/>
              </a:rPr>
              <a:t>Apr 5,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3489960"/>
            <a:ext cx="3230880" cy="67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5568"/>
                </a:solidFill>
                <a:latin typeface="Calibri"/>
              </a:rPr>
              <a:t>• All 9th graders enrolled in career exploration course  [C20]
• All 11th–12th graders enrolled in pathway-aligned ECC  [C24]
• All 12th graders: paid WBL opportunity accepted and confirmed  [C25]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3274060"/>
            <a:ext cx="3383280" cy="932688"/>
          </a:xfrm>
          <a:prstGeom prst="rect">
            <a:avLst/>
          </a:prstGeom>
          <a:solidFill>
            <a:srgbClr val="FFF7ED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8120" y="3337560"/>
            <a:ext cx="186080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9A3412"/>
                </a:solidFill>
                <a:latin typeface="Calibri"/>
              </a:rPr>
              <a:t>CHECKPOINT 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92724" y="3337560"/>
            <a:ext cx="1420977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0F3460"/>
                </a:solidFill>
                <a:latin typeface="Calibri"/>
              </a:rPr>
              <a:t>Jul 5,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8120" y="3489960"/>
            <a:ext cx="3230880" cy="67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4A5568"/>
                </a:solidFill>
                <a:latin typeface="Calibri"/>
              </a:rPr>
              <a:t>• Next school year implementation plan approved  [D29]
• All rising 10th graders identified in STARS  [D30]
• Annual equity reflection complete  [D31]
• 9th grade: interest survey, 1:1 advising &amp; exploration complete  [D32, D34, D37]
• ECC completions locked; WBL activities documented  [D40, D43, D46]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78808"/>
            <a:ext cx="6858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5 CORE PRINCIPLES OF RECRUITMENT &amp; RETENTION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185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343908"/>
            <a:ext cx="50800" cy="65836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8000" y="4343908"/>
            <a:ext cx="3332480" cy="6583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800" y="4394708"/>
            <a:ext cx="32054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369A1"/>
                </a:solidFill>
                <a:latin typeface="Calibri"/>
              </a:rPr>
              <a:t>1. TIMING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800" y="4534408"/>
            <a:ext cx="3205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Recruitment is year-round, starting before students enter high school. Programs that build awareness in 8th grade give students time to explore and arrive in 10th grade ready to engage.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4343908"/>
            <a:ext cx="50800" cy="6583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82720" y="4343908"/>
            <a:ext cx="3332480" cy="6583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33520" y="4394708"/>
            <a:ext cx="32054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D28D9"/>
                </a:solidFill>
                <a:latin typeface="Calibri"/>
              </a:rPr>
              <a:t>2.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3520" y="4534408"/>
            <a:ext cx="3205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Programs embedded in advisory, courses, and school culture see stronger enrollment and persistence. When FRNYC is woven into the school day, students experience it as a natural part of their education.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047996"/>
            <a:ext cx="5080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8000" y="5047996"/>
            <a:ext cx="3332480" cy="6583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800" y="5098796"/>
            <a:ext cx="32054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766E"/>
                </a:solidFill>
                <a:latin typeface="Calibri"/>
              </a:rPr>
              <a:t>3. SOCIAL PROOF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8800" y="5238496"/>
            <a:ext cx="3205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Students are most influenced by other students. Peer-to-peer communication builds trust, makes pathways feel real, and increases interest and enrollment across all grades.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5047996"/>
            <a:ext cx="50800" cy="65836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982720" y="5047996"/>
            <a:ext cx="3332480" cy="6583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33520" y="5098796"/>
            <a:ext cx="320548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66534"/>
                </a:solidFill>
                <a:latin typeface="Calibri"/>
              </a:rPr>
              <a:t>4. RELEVANCE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33520" y="5238496"/>
            <a:ext cx="32054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Students enroll and stay when they understand what they will do, what they will gain, and how it connects to their future. Lead with concrete outcomes — not abstract language like 'career readiness.'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52084"/>
            <a:ext cx="50800" cy="438912"/>
          </a:xfrm>
          <a:prstGeom prst="rect">
            <a:avLst/>
          </a:prstGeom>
          <a:solidFill>
            <a:srgbClr val="B5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8000" y="5752084"/>
            <a:ext cx="6807200" cy="43891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800" y="5802884"/>
            <a:ext cx="667512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B5162B"/>
                </a:solidFill>
                <a:latin typeface="Calibri"/>
              </a:rPr>
              <a:t>5. EQUITY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8800" y="594258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Students with disabilities and multilingual learners are often underrepresented due to structural barriers — not lack of interest. Strong programs track representation, identify barriers, and address them proactively. Linked to KIMs A6 and D31.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227572"/>
            <a:ext cx="6858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KEY TERMS USED IN THIS GUIDE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6367272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5958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4053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FRNYC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64053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FutureReady New York City — the program this guide supports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1920" y="65958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0" y="64053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KIM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64053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Key Indicator Measure — accountability checkpoint system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68117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6212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WBL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66212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Work-Based Learning — internships, job shadows, workplace simulations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31920" y="68117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66212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ECC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17720" y="66212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Employer-Connected Credentials — college-credit coursework aligned to credentials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70276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68371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CCI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" y="68371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College and Career Institute — the FRNYC instructional course framework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31920" y="70276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0" y="68371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STARS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68371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NYC's student data system — all cohort and activity data must be entered here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72435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70530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SWD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3000" y="70530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Students with Disabilities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72435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0" y="70530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MLL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17720" y="70530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Multilingual Learners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74594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72689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OSP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3000" y="72689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Office of Student Pathways (NYCPS) — the office that oversees FRNYC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931920" y="7459472"/>
            <a:ext cx="338328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31920" y="7268972"/>
            <a:ext cx="6604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F3460"/>
                </a:solidFill>
                <a:latin typeface="Calibri"/>
              </a:rPr>
              <a:t>Intermediary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7720" y="7268972"/>
            <a:ext cx="2672080" cy="190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Third-party org assigned by OSP that arranges all WBL placements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7535672"/>
            <a:ext cx="6350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20700" y="7535672"/>
            <a:ext cx="6794500" cy="384048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4200" y="759917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DDDDDD"/>
                </a:solidFill>
                <a:latin typeface="Calibri"/>
              </a:rPr>
              <a:t>"Lead with what students get — a real-world WBL experience (internship, job shadow, or workplace simulation), college credit, or an industry-recognized credential before graduation — not with what FRNYC is or does."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9656064"/>
            <a:ext cx="77724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7200" y="97195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A5568"/>
                </a:solidFill>
                <a:latin typeface="Calibri"/>
              </a:rPr>
              <a:t>FRNYC Recruitment &amp; Retention Playbook  ·  FutureReady NYC / NYCPS Office of Student Pathways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0" y="97195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55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1600"/>
            <a:ext cx="7772400" cy="384048"/>
          </a:xfrm>
          <a:prstGeom prst="rect">
            <a:avLst/>
          </a:prstGeom>
          <a:noFill/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51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3460"/>
                </a:solidFill>
                <a:latin typeface="Calibri"/>
              </a:rPr>
              <a:t>GRADES 8–9 — AWARENESS, EXPLORATION &amp; COHORT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6858000" cy="59436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53720"/>
            <a:ext cx="557784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EEEEE"/>
                </a:solidFill>
                <a:latin typeface="Calibri"/>
              </a:rPr>
              <a:t>PRE-KIM AWARENESS &amp;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07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8TH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09320"/>
            <a:ext cx="55778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DDDDD"/>
                </a:solidFill>
                <a:latin typeface="Calibri"/>
              </a:rPr>
              <a:t>Goal: 8th graders and their families know your school is a FRNYC school and are interested enough to choose it. KIM measurement begins in 10th grade, so this groundwork is strategically essential.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579120"/>
            <a:ext cx="6858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61288"/>
          <a:ext cx="685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1028700"/>
                <a:gridCol w="2057400"/>
                <a:gridCol w="685800"/>
                <a:gridCol w="82296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Purpose &amp; Success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Point Person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Cat.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KIM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Sept–Oct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Promote FRNYC on all school materials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Add 'Future Ready NYC' and FRNYC logos to website, flyers, and social posts
□ Lead with outcomes students earn: ECC credits, WBL experience, industry credentials
Success: Visitors know you're a FRNYC school before they arrive at open house.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Prospective families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Supports A6 equitable recruitment plan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Oct–Feb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Ambassador-led open house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Brief 2–3 current FRNYC students using the Ambassador Script; assign to small groups
□ Each ambassador shares one concrete outcome they earned
Success: 8th graders hear a real outcome from a current student.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Prospective students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Builds pipeline to A3 cohort identification</a:t>
                      </a:r>
                    </a:p>
                  </a:txBody>
                  <a:tcPr>
                    <a:noFill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Oct–Feb</a:t>
                      </a:r>
                    </a:p>
                  </a:txBody>
                  <a:tcPr>
                    <a:solidFill>
                      <a:srgbClr val="0369A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Feeder school outreach + invite to FRNYC event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Contact 3–5 feeder school counselors; offer a campus tour or ambassador visit
□ Invite prospective 8th graders to a student showcase or career fair — no application required
Success: 2+ feeder visits done; prospective students see FRNYC in action.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Prospective students &amp; families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Supports A6 equitable pipeline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29596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35808"/>
            <a:ext cx="6858000" cy="5943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86608"/>
            <a:ext cx="557784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EEEEE"/>
                </a:solidFill>
                <a:latin typeface="Calibri"/>
              </a:rPr>
              <a:t>EXPLORATION &amp; INTEREST ALIGNMENT → COHORT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360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9TH 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42208"/>
            <a:ext cx="55778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DDDDD"/>
                </a:solidFill>
                <a:latin typeface="Calibri"/>
              </a:rPr>
              <a:t>Goal: Every 9th grader explores career options and can say whether FRNYC fits. Cohort confirmed and orientation done before end of year. KIM chain: C20 → D32 → D34 → D30.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112008"/>
            <a:ext cx="6858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694176"/>
          <a:ext cx="68580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1028700"/>
                <a:gridCol w="2057400"/>
                <a:gridCol w="685800"/>
                <a:gridCol w="82296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Purpose &amp; Success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Point Person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Cat.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KIM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Sept–June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Career Explorations — all 9th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Cover multiple career areas; ask 'Which connects to something you care about?'
□ By end of unit, each student names one career area that interests them
Success: Every 9th grader can say whether FRNYC fits.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9th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Pathway Teacher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C20 9th enrolled in exploration
D37 9th completed exploration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Oct &amp; Mar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Ambassador visits to 9th grade advisories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Two visits per year (fall and spring) using the Advisory Slide Deck
□ Ambassadors share one thing they've done and one thing they've earned
Success: Every 9th grader has 2+ direct FRNYC exposures before the survey.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9th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Builds pipeline to D30 rising 10th in STARS</a:t>
                      </a:r>
                    </a:p>
                  </a:txBody>
                  <a:tcPr>
                    <a:noFill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Nov or Feb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Parent-student panel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3–4 current FRNYC students share outcomes; parents hear directly and ask questions
□ Format: 30–45 minutes, Q&amp;A included
Success: Parents can describe one concrete outcome students earn in FRNYC.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9th grade families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Supports A6 equity &amp; family access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End of March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Interest survey — all 9th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Google Form to every 9th grader — required (Yes / No / Maybe)
□ Coordinator follows up with non-responders within 5 days; sort responses by end of March
Success: 100% response rate; sorted list by end of March.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9th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D32 9th graders completed career interest survey</a:t>
                      </a:r>
                    </a:p>
                  </a:txBody>
                  <a:tcPr>
                    <a:noFill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April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1:1 meetings with interested students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1:1 with each interested student; survey response is the agenda
□ Cross-reference with master schedule — conflicts get a conversation, not an exclusion
Success: Every interested student has had a documented 1:1 by end of April.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Interested 9th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School Counselor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D34 9th graders completed 1:1 with advisor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By May</a:t>
                      </a:r>
                    </a:p>
                  </a:txBody>
                  <a:tcPr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Orientation for rising 10th graders + parent session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Rising 10th graders meet their pathway teacher and cohort
□ Same-day parent session covers what students will earn and key dates for the year ahead
Success: Rising 10th graders enter September knowing their pathway, cohort, and teacher.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Confirmed students &amp; families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Recruitment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D30 Rising 10th graders identified in STARS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9656064"/>
            <a:ext cx="77724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97195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A5568"/>
                </a:solidFill>
                <a:latin typeface="Calibri"/>
              </a:rPr>
              <a:t>FRNYC Recruitment &amp; Retention Playbook  ·  FutureReady NYC / NYCPS Office of Student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97195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55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1600"/>
            <a:ext cx="7772400" cy="384048"/>
          </a:xfrm>
          <a:prstGeom prst="rect">
            <a:avLst/>
          </a:prstGeom>
          <a:noFill/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51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3460"/>
                </a:solidFill>
                <a:latin typeface="Calibri"/>
              </a:rPr>
              <a:t>GRADES 10–11 — COHORT LAUNCH, DEEP ENGAGEMENT &amp; ECC PERSISTENCE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6858000" cy="5943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53720"/>
            <a:ext cx="557784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EEEEE"/>
                </a:solidFill>
                <a:latin typeface="Calibri"/>
              </a:rPr>
              <a:t>COHORT LAUNCH &amp; DEEP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07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10TH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09320"/>
            <a:ext cx="55778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DDDDD"/>
                </a:solidFill>
                <a:latin typeface="Calibri"/>
              </a:rPr>
              <a:t>Goal: Students are officially in FRNYC as a cohort. WBL aligns with CCI coursework. Peer community and identity form. All students in STARS and enrolled in Fall CCI by Checkpoint A (Oct 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579120"/>
            <a:ext cx="6858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61288"/>
          <a:ext cx="6858000" cy="226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1028700"/>
                <a:gridCol w="2057400"/>
                <a:gridCol w="685800"/>
                <a:gridCol w="82296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Purpose &amp; Success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Point Person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Cat.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KIM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September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STARS enrollment + cohort launch event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Confirm all FRNYC 10th graders identified in STARS
□ Hold an inaugural event — welcome students by name; invite older FRNYC students to share something they've earned
Success: Every student in STARS; students feel publicly welcomed into FRNYC.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10th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A3 Cohort in STARS
A8 Fall CCI enrolled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Sept–Oct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Align WBL with CCI via intermediary partner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Share CCI course overview with the WBL intermediary partner — they arrange all placements
□ Confirm 100% of students have a pathway-aligned WBL placement by October
Success: Every student sees the connection between coursework and real-world experience.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10th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B17 First unpaid WBL captured
D43 Two unpaid WBL completed</a:t>
                      </a:r>
                    </a:p>
                  </a:txBody>
                  <a:tcPr>
                    <a:noFill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Monthly FRNYC community time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30–60 min monthly session (advisory, lunch, or afterschool) using the Cohort Meeting Guide
□ If students span multiple CCI sections, use this time to unite them — cross-section peer network is the primary retention driver
Success: Students attend consistently; peer relationships deepen across sections.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10th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 — peer community and cohort identity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Per semester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Family checkpoint events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One event per semester — showcase, career panel, or Career Discovery Week; translate all materials into top 3 home languages
□ Answer: What will my student earn? What skills? What real-world experience?
Success: Parents can describe what their student is earning in the program.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Families of enrolled students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Supports A6 equity &amp; family engagement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4676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43808"/>
            <a:ext cx="6858000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94608"/>
            <a:ext cx="557784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EEEEE"/>
                </a:solidFill>
                <a:latin typeface="Calibri"/>
              </a:rPr>
              <a:t>ACADEMIC SUPPORTS, ADVISING &amp; ECC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8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11TH 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55778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DDDDD"/>
                </a:solidFill>
                <a:latin typeface="Calibri"/>
              </a:rPr>
              <a:t>Goal: Academic supports for ECC eligibility are scheduled into the school day — not optional add-ons. Every student builds a post-secondary plan grounded in their FRNYC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620008"/>
            <a:ext cx="6858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202176"/>
          <a:ext cx="6858000" cy="226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1028700"/>
                <a:gridCol w="2057400"/>
                <a:gridCol w="685800"/>
                <a:gridCol w="82296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Purpose &amp; Success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Point Person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Cat.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KIM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Sept–Oct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ECC eligibility audit + support planning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Identify who needs support to meet ECC eligibility (placement scores, GPA, or prerequisites)
□ AP of Instruction schedules tutoring or Regents prep inside the school day
Success: Every student has a clear ECC path; support plan in place by Oct 5.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11th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AP of Instruction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A7 Academic supports plan
C24 ECC enrolled Fall/Spring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January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First structured 1:1 advising + early 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Structured 1:1 with college &amp; career advisor connecting CCI and WBL work to post-graduation goals
□ Watch for: 3+ missed sessions, changing interests, or declining grades — check-in within 1 week
Success: All students have had first advising 1:1 by January 5.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11th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School Counselor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B15 First 1:1 with college &amp; career advisor</a:t>
                      </a:r>
                    </a:p>
                  </a:txBody>
                  <a:tcPr>
                    <a:noFill/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Feb–May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Group sessions + ongoing support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2+ structured group sessions per year connecting CCI and WBL work to post-graduation goals
□ Maintain attendance list; follow up with anyone who misses 2+
Success: Attendance tracked; every student who needs support has a documented plan.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11th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A7 Supports plan
D40 ECC completion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Before June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Second 1:1 + post-secondary plan documented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Ask each student: 'Based on your FRNYC work, what do you want after graduation?'
□ Document each student's plan: WBL experiences, ECC courses completed, and intended next step
Success: Every student has a documented post-secondary intention before school ends.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11th graders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School Counselor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D33 Second 1:1 complete
D36 Written career planning reflection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9656064"/>
            <a:ext cx="77724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97195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A5568"/>
                </a:solidFill>
                <a:latin typeface="Calibri"/>
              </a:rPr>
              <a:t>FRNYC Recruitment &amp; Retention Playbook  ·  FutureReady NYC / NYCPS Office of Student 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97195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55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1600"/>
            <a:ext cx="7772400" cy="384048"/>
          </a:xfrm>
          <a:prstGeom prst="rect">
            <a:avLst/>
          </a:prstGeom>
          <a:noFill/>
          <a:ln w="25400">
            <a:solidFill>
              <a:srgbClr val="0F3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510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F3460"/>
                </a:solidFill>
                <a:latin typeface="Calibri"/>
              </a:rPr>
              <a:t>12TH GRADE — COMPLETION &amp; AMBASSADOR PIPELINE · EQUITY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6858000" cy="59436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53720"/>
            <a:ext cx="557784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EEEEEE"/>
                </a:solidFill>
                <a:latin typeface="Calibri"/>
              </a:rPr>
              <a:t>COMPLETION &amp; AMBASSADOR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807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12TH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09320"/>
            <a:ext cx="55778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DDDDD"/>
                </a:solidFill>
                <a:latin typeface="Calibri"/>
              </a:rPr>
              <a:t>Goal: Every enrolled student earns their credential before graduation. Students who need additional support are identified in September — not April. Completers become next year's ambassadors.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579120"/>
            <a:ext cx="685800" cy="49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61288"/>
          <a:ext cx="68580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1028700"/>
                <a:gridCol w="2057400"/>
                <a:gridCol w="685800"/>
                <a:gridCol w="822960"/>
                <a:gridCol w="548640"/>
                <a:gridCol w="1097280"/>
              </a:tblGrid>
              <a:tr h="2286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Purpose &amp; Success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Point Person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Cat.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KIM</a:t>
                      </a:r>
                    </a:p>
                  </a:txBody>
                  <a:tcPr>
                    <a:solidFill>
                      <a:srgbClr val="081F3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September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KIM review — completion status audit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Pull each student's ECC record from the KIM system — on track vs. needs additional support
□ Data not entered in the system won't count toward accountability
□ By Oct 1: every student who needs support has a written completion plan
Success: Every student's ECC status is known by October 1.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12th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A7 Support plan in place
Protects D40 ECC completion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Ongoing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ECC partner coordination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Name a direct contact at the ECC partner institution; know all deadlines
□ When a student needs support, contact the ECC liaison directly — don't wait for grades
□ Explore support or withdrawal options before mid-semester, when options narrow
Success: No credit lost due to a missed administrative deadline.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School / ECC partner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B16 Spring ECC planning
D41 ECC partner planning
D42 Fall ECC roster submitted</a:t>
                      </a:r>
                    </a:p>
                  </a:txBody>
                  <a:tcPr>
                    <a:noFill/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Jan–Apr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Completion push + ambassador recruitment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January: verify ECC progress via KIM system; weekly check-ins for anyone behind
□ Recruit 3–5 completing seniors as ambassadors — ask directly
□ Ambassador role: open house, advisory visits, share their FRNYC experience
Success: 90%+ earn credential before graduation; 3+ ambassadors confirmed.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Enrolled 12th graders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C25 Seniors: paid WBL accepted
D40 ECC completion
D46 Seniors: paid WBL completed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Calibri"/>
                        </a:rPr>
                        <a:t>Before June 30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1">
                          <a:solidFill>
                            <a:srgbClr val="0F3460"/>
                          </a:solidFill>
                          <a:latin typeface="Calibri"/>
                        </a:rPr>
                        <a:t>End-of-year debrief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□ Coordinator + AP + Counselor: review % who completed, where students needed more support, 3 changes for next cycle
□ File the debrief before June 30 — findings shape next fall's open house and feeder school priorities
Success: Written debrief on file; 3 changes identified for next year.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School staff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FRNYC Coordinator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Both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650" b="0">
                          <a:solidFill>
                            <a:srgbClr val="4A5568"/>
                          </a:solidFill>
                          <a:latin typeface="Calibri"/>
                        </a:rPr>
                        <a:t>D29 Next-SY implementation plan
D31 Equity reflection complete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37724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48608"/>
            <a:ext cx="6858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4A5568"/>
                </a:solidFill>
                <a:latin typeface="Calibri"/>
              </a:rPr>
              <a:t>EQUITY CHECKLIST — SWD &amp; MLL ACCESS  ·  REVIEW AT ENROLLMENT AND MID-YEAR  ·  LINKED TO A6 &amp; D31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88308"/>
            <a:ext cx="6858000" cy="127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26408"/>
            <a:ext cx="6858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A5568"/>
                </a:solidFill>
                <a:latin typeface="Calibri"/>
              </a:rPr>
              <a:t>Underrepresentation is a structural challenge — not a preferences problem. Review each item at enrollment and again at mid-year. Escalate unresolved gaps to school leadership and OSP before Checkpoint C (Apr 5).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280408"/>
          <a:ext cx="6858000" cy="246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38912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Watch For</a:t>
                      </a:r>
                    </a:p>
                  </a:txBody>
                  <a:tcPr>
                    <a:solidFill>
                      <a:srgbClr val="B5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FFFFFF"/>
                          </a:solidFill>
                          <a:latin typeface="Calibri"/>
                        </a:rPr>
                        <a:t>What To Do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B5162B"/>
                          </a:solidFill>
                          <a:latin typeface="Calibri"/>
                        </a:rPr>
                        <a:t>IEP pull-out schedules or mandated services may conflict with pathway scheduling without anyone flagging it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66534"/>
                          </a:solidFill>
                          <a:latin typeface="Calibri"/>
                        </a:rPr>
                        <a:t>Cross-reference the interest survey with the master schedule before the cohort is finalized. Explore period swaps, modified pull-outs, or an alternate CCI section. Flag to AP before the cohort is locked.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B5162B"/>
                          </a:solidFill>
                          <a:latin typeface="Calibri"/>
                        </a:rPr>
                        <a:t>Multilingual families receive outreach materials in English only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66534"/>
                          </a:solidFill>
                          <a:latin typeface="Calibri"/>
                        </a:rPr>
                        <a:t>Translate all core materials (open house flyer, interest survey, orientation) into the top 3 home languages. Recruit bilingual student ambassadors. Request translation support from ENL or your network office.</a:t>
                      </a:r>
                    </a:p>
                  </a:txBody>
                  <a:tcPr>
                    <a:noFill/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B5162B"/>
                          </a:solidFill>
                          <a:latin typeface="Calibri"/>
                        </a:rPr>
                        <a:t>ECC partner prerequisites may create barriers for SWD and MLL students who qualify via other pathways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66534"/>
                          </a:solidFill>
                          <a:latin typeface="Calibri"/>
                        </a:rPr>
                        <a:t>Audit prerequisite lists annually. Identify what is a confirmed partner requirement vs. an internal assumption that can be challenged. Escalate structural barriers to your AP and OSP.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r>
                        <a:rPr sz="750" b="1">
                          <a:solidFill>
                            <a:srgbClr val="B5162B"/>
                          </a:solidFill>
                          <a:latin typeface="Calibri"/>
                        </a:rPr>
                        <a:t>SWD / MLL enrollment in FRNYC is below their share of the school population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750" b="0">
                          <a:solidFill>
                            <a:srgbClr val="166534"/>
                          </a:solidFill>
                          <a:latin typeface="Calibri"/>
                        </a:rPr>
                        <a:t>Set an explicit equity target before each cycle — if SWD is 20% of 9th grade, aim for 20% of the FRNYC cohort. Actively recruit early and escalate significant gaps to school leadership and OSP before October 1.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0" y="9656064"/>
            <a:ext cx="77724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7195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4A5568"/>
                </a:solidFill>
                <a:latin typeface="Calibri"/>
              </a:rPr>
              <a:t>FRNYC Recruitment &amp; Retention Playbook  ·  FutureReady NYC / NYCPS Office of Student Pathways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971956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55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