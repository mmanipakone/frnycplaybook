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429000"/>
            <a:ext cx="9144000" cy="3429000"/>
          </a:xfrm>
          <a:prstGeom prst="rect">
            <a:avLst/>
          </a:prstGeom>
          <a:solidFill>
            <a:srgbClr val="04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048000"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048000" y="0"/>
            <a:ext cx="3048000"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0" y="0"/>
            <a:ext cx="3048000" cy="7315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754880"/>
            <a:ext cx="7315200" cy="274320"/>
          </a:xfrm>
          <a:prstGeom prst="rect">
            <a:avLst/>
          </a:prstGeom>
          <a:noFill/>
        </p:spPr>
        <p:txBody>
          <a:bodyPr wrap="square">
            <a:spAutoFit/>
          </a:bodyPr>
          <a:lstStyle/>
          <a:p>
            <a:pPr algn="l"/>
            <a:r>
              <a:rPr sz="750" b="1" i="0">
                <a:solidFill>
                  <a:srgbClr val="F5C518"/>
                </a:solidFill>
                <a:latin typeface="Montserrat"/>
              </a:rPr>
              <a:t>FUTUREREADY NYC  ·  NYCPS OFFICE OF STUDENT PATHWAYS</a:t>
            </a:r>
          </a:p>
        </p:txBody>
      </p:sp>
      <p:sp>
        <p:nvSpPr>
          <p:cNvPr id="8" name="TextBox 7"/>
          <p:cNvSpPr txBox="1"/>
          <p:nvPr/>
        </p:nvSpPr>
        <p:spPr>
          <a:xfrm>
            <a:off x="548640" y="5029200"/>
            <a:ext cx="7315200" cy="502920"/>
          </a:xfrm>
          <a:prstGeom prst="rect">
            <a:avLst/>
          </a:prstGeom>
          <a:noFill/>
        </p:spPr>
        <p:txBody>
          <a:bodyPr wrap="square">
            <a:spAutoFit/>
          </a:bodyPr>
          <a:lstStyle/>
          <a:p>
            <a:pPr algn="l"/>
            <a:r>
              <a:rPr sz="4000" b="1" i="0">
                <a:solidFill>
                  <a:srgbClr val="FFFFFF"/>
                </a:solidFill>
                <a:latin typeface="Montserrat"/>
              </a:rPr>
              <a:t>RECRUITMENT</a:t>
            </a:r>
          </a:p>
        </p:txBody>
      </p:sp>
      <p:sp>
        <p:nvSpPr>
          <p:cNvPr id="9" name="TextBox 8"/>
          <p:cNvSpPr txBox="1"/>
          <p:nvPr/>
        </p:nvSpPr>
        <p:spPr>
          <a:xfrm>
            <a:off x="548640" y="5468112"/>
            <a:ext cx="7315200" cy="502920"/>
          </a:xfrm>
          <a:prstGeom prst="rect">
            <a:avLst/>
          </a:prstGeom>
          <a:noFill/>
        </p:spPr>
        <p:txBody>
          <a:bodyPr wrap="square">
            <a:spAutoFit/>
          </a:bodyPr>
          <a:lstStyle/>
          <a:p>
            <a:pPr algn="l"/>
            <a:r>
              <a:rPr sz="4000" b="1" i="0">
                <a:solidFill>
                  <a:srgbClr val="F5C518"/>
                </a:solidFill>
                <a:latin typeface="Montserrat"/>
              </a:rPr>
              <a:t>&amp; RETENTION</a:t>
            </a:r>
          </a:p>
        </p:txBody>
      </p:sp>
      <p:sp>
        <p:nvSpPr>
          <p:cNvPr id="10" name="TextBox 9"/>
          <p:cNvSpPr txBox="1"/>
          <p:nvPr/>
        </p:nvSpPr>
        <p:spPr>
          <a:xfrm>
            <a:off x="548640" y="5907024"/>
            <a:ext cx="7315200" cy="502920"/>
          </a:xfrm>
          <a:prstGeom prst="rect">
            <a:avLst/>
          </a:prstGeom>
          <a:noFill/>
        </p:spPr>
        <p:txBody>
          <a:bodyPr wrap="square">
            <a:spAutoFit/>
          </a:bodyPr>
          <a:lstStyle/>
          <a:p>
            <a:pPr algn="l"/>
            <a:r>
              <a:rPr sz="4000" b="1" i="0">
                <a:solidFill>
                  <a:srgbClr val="FFFFFF"/>
                </a:solidFill>
                <a:latin typeface="Montserrat"/>
              </a:rPr>
              <a:t>PLAYBOOK</a:t>
            </a:r>
          </a:p>
        </p:txBody>
      </p:sp>
      <p:sp>
        <p:nvSpPr>
          <p:cNvPr id="11" name="Rectangle 10"/>
          <p:cNvSpPr/>
          <p:nvPr/>
        </p:nvSpPr>
        <p:spPr>
          <a:xfrm>
            <a:off x="548640" y="5870448"/>
            <a:ext cx="457200" cy="4572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943600"/>
            <a:ext cx="7315200" cy="502920"/>
          </a:xfrm>
          <a:prstGeom prst="rect">
            <a:avLst/>
          </a:prstGeom>
          <a:noFill/>
        </p:spPr>
        <p:txBody>
          <a:bodyPr wrap="square">
            <a:spAutoFit/>
          </a:bodyPr>
          <a:lstStyle/>
          <a:p>
            <a:pPr algn="l"/>
            <a:r>
              <a:rPr sz="1000" b="0" i="0">
                <a:solidFill>
                  <a:srgbClr val="CCD6E0"/>
                </a:solidFill>
                <a:latin typeface="Calibri"/>
              </a:rPr>
              <a:t>A school-year action guide for FRNYC teams
Grade by grade  ·  Month by month  ·  Aligned to KIMs</a:t>
            </a:r>
          </a:p>
        </p:txBody>
      </p:sp>
      <p:sp>
        <p:nvSpPr>
          <p:cNvPr id="13" name="TextBox 12"/>
          <p:cNvSpPr txBox="1"/>
          <p:nvPr/>
        </p:nvSpPr>
        <p:spPr>
          <a:xfrm>
            <a:off x="548640" y="6492240"/>
            <a:ext cx="7315200" cy="228600"/>
          </a:xfrm>
          <a:prstGeom prst="rect">
            <a:avLst/>
          </a:prstGeom>
          <a:noFill/>
        </p:spPr>
        <p:txBody>
          <a:bodyPr wrap="square">
            <a:spAutoFit/>
          </a:bodyPr>
          <a:lstStyle/>
          <a:p>
            <a:pPr algn="l"/>
            <a:r>
              <a:rPr sz="650" b="1" i="0">
                <a:solidFill>
                  <a:srgbClr val="556677"/>
                </a:solidFill>
                <a:latin typeface="Montserrat"/>
              </a:rPr>
              <a:t>2026  ·  FUTUREREADY NYC  ·  VERSION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8000"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8000" y="0"/>
            <a:ext cx="3048000"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0" y="0"/>
            <a:ext cx="3048000" cy="7315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9728"/>
            <a:ext cx="7315200" cy="347472"/>
          </a:xfrm>
          <a:prstGeom prst="rect">
            <a:avLst/>
          </a:prstGeom>
          <a:noFill/>
        </p:spPr>
        <p:txBody>
          <a:bodyPr wrap="square">
            <a:spAutoFit/>
          </a:bodyPr>
          <a:lstStyle/>
          <a:p>
            <a:pPr algn="l"/>
            <a:r>
              <a:rPr sz="1400" b="1" i="0">
                <a:solidFill>
                  <a:srgbClr val="0F3460"/>
                </a:solidFill>
                <a:latin typeface="Montserrat"/>
              </a:rPr>
              <a:t>RECRUITMENT &amp; RETENTION PLAYBOOK</a:t>
            </a:r>
          </a:p>
        </p:txBody>
      </p:sp>
      <p:sp>
        <p:nvSpPr>
          <p:cNvPr id="6" name="Rectangle 5"/>
          <p:cNvSpPr/>
          <p:nvPr/>
        </p:nvSpPr>
        <p:spPr>
          <a:xfrm>
            <a:off x="365760" y="457200"/>
            <a:ext cx="347472"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548640"/>
            <a:ext cx="4069080" cy="182880"/>
          </a:xfrm>
          <a:prstGeom prst="rect">
            <a:avLst/>
          </a:prstGeom>
          <a:noFill/>
        </p:spPr>
        <p:txBody>
          <a:bodyPr wrap="square">
            <a:spAutoFit/>
          </a:bodyPr>
          <a:lstStyle/>
          <a:p>
            <a:pPr algn="l"/>
            <a:r>
              <a:rPr sz="700" b="1" i="0">
                <a:solidFill>
                  <a:srgbClr val="4A5568"/>
                </a:solidFill>
                <a:latin typeface="Montserrat"/>
              </a:rPr>
              <a:t>WHAT THIS PLAYBOOK IS FOR</a:t>
            </a:r>
          </a:p>
        </p:txBody>
      </p:sp>
      <p:sp>
        <p:nvSpPr>
          <p:cNvPr id="8" name="Rectangle 7"/>
          <p:cNvSpPr/>
          <p:nvPr/>
        </p:nvSpPr>
        <p:spPr>
          <a:xfrm>
            <a:off x="365760" y="731520"/>
            <a:ext cx="4069080" cy="9144"/>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777240"/>
            <a:ext cx="4069080" cy="822960"/>
          </a:xfrm>
          <a:prstGeom prst="rect">
            <a:avLst/>
          </a:prstGeom>
          <a:noFill/>
        </p:spPr>
        <p:txBody>
          <a:bodyPr wrap="square">
            <a:spAutoFit/>
          </a:bodyPr>
          <a:lstStyle/>
          <a:p>
            <a:pPr algn="l"/>
            <a:r>
              <a:rPr sz="850" b="0" i="0">
                <a:solidFill>
                  <a:srgbClr val="1A202C"/>
                </a:solidFill>
                <a:latin typeface="Calibri"/>
              </a:rPr>
              <a:t>This playbook guides FRNYC school teams through what to do — grade by grade, month by month — to build a full, equitable cohort and retain students through credential completion. Each activity is linked to its relevant KIM checkpoint so teams can see how their work connects to accountability. FRNYC places students in career pathways combining Work-Based Learning (WBL), college-credit coursework (ECC), and industry credentials. Enrollment officially begins in 10th grade; 8th–9th grade is for awareness and interest alignment.</a:t>
            </a:r>
          </a:p>
        </p:txBody>
      </p:sp>
      <p:sp>
        <p:nvSpPr>
          <p:cNvPr id="10" name="TextBox 9"/>
          <p:cNvSpPr txBox="1"/>
          <p:nvPr/>
        </p:nvSpPr>
        <p:spPr>
          <a:xfrm>
            <a:off x="4709160" y="548640"/>
            <a:ext cx="4069080" cy="182880"/>
          </a:xfrm>
          <a:prstGeom prst="rect">
            <a:avLst/>
          </a:prstGeom>
          <a:noFill/>
        </p:spPr>
        <p:txBody>
          <a:bodyPr wrap="square">
            <a:spAutoFit/>
          </a:bodyPr>
          <a:lstStyle/>
          <a:p>
            <a:pPr algn="l"/>
            <a:r>
              <a:rPr sz="700" b="1" i="0">
                <a:solidFill>
                  <a:srgbClr val="4A5568"/>
                </a:solidFill>
                <a:latin typeface="Montserrat"/>
              </a:rPr>
              <a:t>WHO THIS IS FOR</a:t>
            </a:r>
          </a:p>
        </p:txBody>
      </p:sp>
      <p:sp>
        <p:nvSpPr>
          <p:cNvPr id="11" name="Rectangle 10"/>
          <p:cNvSpPr/>
          <p:nvPr/>
        </p:nvSpPr>
        <p:spPr>
          <a:xfrm>
            <a:off x="4709160" y="731520"/>
            <a:ext cx="4069080" cy="9144"/>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09160" y="850392"/>
            <a:ext cx="73152"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64608" y="804672"/>
            <a:ext cx="1371600" cy="201168"/>
          </a:xfrm>
          <a:prstGeom prst="rect">
            <a:avLst/>
          </a:prstGeom>
          <a:noFill/>
        </p:spPr>
        <p:txBody>
          <a:bodyPr wrap="square">
            <a:spAutoFit/>
          </a:bodyPr>
          <a:lstStyle/>
          <a:p>
            <a:pPr algn="l"/>
            <a:r>
              <a:rPr sz="850" b="1" i="0">
                <a:solidFill>
                  <a:srgbClr val="0F3460"/>
                </a:solidFill>
                <a:latin typeface="Calibri"/>
              </a:rPr>
              <a:t>FRNYC Coordinators</a:t>
            </a:r>
          </a:p>
        </p:txBody>
      </p:sp>
      <p:sp>
        <p:nvSpPr>
          <p:cNvPr id="14" name="TextBox 13"/>
          <p:cNvSpPr txBox="1"/>
          <p:nvPr/>
        </p:nvSpPr>
        <p:spPr>
          <a:xfrm>
            <a:off x="4864608" y="960120"/>
            <a:ext cx="3657600" cy="182880"/>
          </a:xfrm>
          <a:prstGeom prst="rect">
            <a:avLst/>
          </a:prstGeom>
          <a:noFill/>
        </p:spPr>
        <p:txBody>
          <a:bodyPr wrap="square">
            <a:spAutoFit/>
          </a:bodyPr>
          <a:lstStyle/>
          <a:p>
            <a:pPr algn="l"/>
            <a:r>
              <a:rPr sz="800" b="0" i="0">
                <a:solidFill>
                  <a:srgbClr val="4A5568"/>
                </a:solidFill>
                <a:latin typeface="Calibri"/>
              </a:rPr>
              <a:t>manage the full cycle from awareness to completion</a:t>
            </a:r>
          </a:p>
        </p:txBody>
      </p:sp>
      <p:sp>
        <p:nvSpPr>
          <p:cNvPr id="15" name="Rectangle 14"/>
          <p:cNvSpPr/>
          <p:nvPr/>
        </p:nvSpPr>
        <p:spPr>
          <a:xfrm>
            <a:off x="4709160" y="1234440"/>
            <a:ext cx="73152"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64608" y="1188720"/>
            <a:ext cx="1371600" cy="201168"/>
          </a:xfrm>
          <a:prstGeom prst="rect">
            <a:avLst/>
          </a:prstGeom>
          <a:noFill/>
        </p:spPr>
        <p:txBody>
          <a:bodyPr wrap="square">
            <a:spAutoFit/>
          </a:bodyPr>
          <a:lstStyle/>
          <a:p>
            <a:pPr algn="l"/>
            <a:r>
              <a:rPr sz="850" b="1" i="0">
                <a:solidFill>
                  <a:srgbClr val="0F3460"/>
                </a:solidFill>
                <a:latin typeface="Calibri"/>
              </a:rPr>
              <a:t>School Counselors</a:t>
            </a:r>
          </a:p>
        </p:txBody>
      </p:sp>
      <p:sp>
        <p:nvSpPr>
          <p:cNvPr id="17" name="TextBox 16"/>
          <p:cNvSpPr txBox="1"/>
          <p:nvPr/>
        </p:nvSpPr>
        <p:spPr>
          <a:xfrm>
            <a:off x="4864608" y="1344168"/>
            <a:ext cx="3657600" cy="182880"/>
          </a:xfrm>
          <a:prstGeom prst="rect">
            <a:avLst/>
          </a:prstGeom>
          <a:noFill/>
        </p:spPr>
        <p:txBody>
          <a:bodyPr wrap="square">
            <a:spAutoFit/>
          </a:bodyPr>
          <a:lstStyle/>
          <a:p>
            <a:pPr algn="l"/>
            <a:r>
              <a:rPr sz="800" b="0" i="0">
                <a:solidFill>
                  <a:srgbClr val="4A5568"/>
                </a:solidFill>
                <a:latin typeface="Calibri"/>
              </a:rPr>
              <a:t>lead 1:1 advising, planning, and early intervention</a:t>
            </a:r>
          </a:p>
        </p:txBody>
      </p:sp>
      <p:sp>
        <p:nvSpPr>
          <p:cNvPr id="18" name="Rectangle 17"/>
          <p:cNvSpPr/>
          <p:nvPr/>
        </p:nvSpPr>
        <p:spPr>
          <a:xfrm>
            <a:off x="4709160" y="1618488"/>
            <a:ext cx="73152"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64608" y="1572768"/>
            <a:ext cx="1371600" cy="201168"/>
          </a:xfrm>
          <a:prstGeom prst="rect">
            <a:avLst/>
          </a:prstGeom>
          <a:noFill/>
        </p:spPr>
        <p:txBody>
          <a:bodyPr wrap="square">
            <a:spAutoFit/>
          </a:bodyPr>
          <a:lstStyle/>
          <a:p>
            <a:pPr algn="l"/>
            <a:r>
              <a:rPr sz="850" b="1" i="0">
                <a:solidFill>
                  <a:srgbClr val="0F3460"/>
                </a:solidFill>
                <a:latin typeface="Calibri"/>
              </a:rPr>
              <a:t>APs of Instruction</a:t>
            </a:r>
          </a:p>
        </p:txBody>
      </p:sp>
      <p:sp>
        <p:nvSpPr>
          <p:cNvPr id="20" name="TextBox 19"/>
          <p:cNvSpPr txBox="1"/>
          <p:nvPr/>
        </p:nvSpPr>
        <p:spPr>
          <a:xfrm>
            <a:off x="4864608" y="1728216"/>
            <a:ext cx="3657600" cy="182880"/>
          </a:xfrm>
          <a:prstGeom prst="rect">
            <a:avLst/>
          </a:prstGeom>
          <a:noFill/>
        </p:spPr>
        <p:txBody>
          <a:bodyPr wrap="square">
            <a:spAutoFit/>
          </a:bodyPr>
          <a:lstStyle/>
          <a:p>
            <a:pPr algn="l"/>
            <a:r>
              <a:rPr sz="800" b="0" i="0">
                <a:solidFill>
                  <a:srgbClr val="4A5568"/>
                </a:solidFill>
                <a:latin typeface="Calibri"/>
              </a:rPr>
              <a:t>schedule ECC supports; lead end-of-year debrief</a:t>
            </a:r>
          </a:p>
        </p:txBody>
      </p:sp>
      <p:sp>
        <p:nvSpPr>
          <p:cNvPr id="21" name="Rectangle 20"/>
          <p:cNvSpPr/>
          <p:nvPr/>
        </p:nvSpPr>
        <p:spPr>
          <a:xfrm>
            <a:off x="4709160" y="2002536"/>
            <a:ext cx="73152"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64608" y="1956816"/>
            <a:ext cx="1371600" cy="201168"/>
          </a:xfrm>
          <a:prstGeom prst="rect">
            <a:avLst/>
          </a:prstGeom>
          <a:noFill/>
        </p:spPr>
        <p:txBody>
          <a:bodyPr wrap="square">
            <a:spAutoFit/>
          </a:bodyPr>
          <a:lstStyle/>
          <a:p>
            <a:pPr algn="l"/>
            <a:r>
              <a:rPr sz="850" b="1" i="0">
                <a:solidFill>
                  <a:srgbClr val="0F3460"/>
                </a:solidFill>
                <a:latin typeface="Calibri"/>
              </a:rPr>
              <a:t>Pathway Teachers</a:t>
            </a:r>
          </a:p>
        </p:txBody>
      </p:sp>
      <p:sp>
        <p:nvSpPr>
          <p:cNvPr id="23" name="TextBox 22"/>
          <p:cNvSpPr txBox="1"/>
          <p:nvPr/>
        </p:nvSpPr>
        <p:spPr>
          <a:xfrm>
            <a:off x="4864608" y="2112264"/>
            <a:ext cx="3657600" cy="182880"/>
          </a:xfrm>
          <a:prstGeom prst="rect">
            <a:avLst/>
          </a:prstGeom>
          <a:noFill/>
        </p:spPr>
        <p:txBody>
          <a:bodyPr wrap="square">
            <a:spAutoFit/>
          </a:bodyPr>
          <a:lstStyle/>
          <a:p>
            <a:pPr algn="l"/>
            <a:r>
              <a:rPr sz="800" b="0" i="0">
                <a:solidFill>
                  <a:srgbClr val="4A5568"/>
                </a:solidFill>
                <a:latin typeface="Calibri"/>
              </a:rPr>
              <a:t>deliver career exploration and CCI; connect to WBL</a:t>
            </a:r>
          </a:p>
        </p:txBody>
      </p:sp>
      <p:sp>
        <p:nvSpPr>
          <p:cNvPr id="24" name="TextBox 23"/>
          <p:cNvSpPr txBox="1"/>
          <p:nvPr/>
        </p:nvSpPr>
        <p:spPr>
          <a:xfrm>
            <a:off x="365760" y="1691640"/>
            <a:ext cx="8412480" cy="182880"/>
          </a:xfrm>
          <a:prstGeom prst="rect">
            <a:avLst/>
          </a:prstGeom>
          <a:noFill/>
        </p:spPr>
        <p:txBody>
          <a:bodyPr wrap="square">
            <a:spAutoFit/>
          </a:bodyPr>
          <a:lstStyle/>
          <a:p>
            <a:pPr algn="l"/>
            <a:r>
              <a:rPr sz="700" b="1" i="0">
                <a:solidFill>
                  <a:srgbClr val="4A5568"/>
                </a:solidFill>
                <a:latin typeface="Montserrat"/>
              </a:rPr>
              <a:t>KIM CHECKPOINTS — SCHOOL YEAR OVERVIEW</a:t>
            </a:r>
          </a:p>
        </p:txBody>
      </p:sp>
      <p:sp>
        <p:nvSpPr>
          <p:cNvPr id="25" name="Rectangle 24"/>
          <p:cNvSpPr/>
          <p:nvPr/>
        </p:nvSpPr>
        <p:spPr>
          <a:xfrm>
            <a:off x="365760" y="1874520"/>
            <a:ext cx="8412480" cy="9144"/>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1892808"/>
            <a:ext cx="2103120" cy="7772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1892808"/>
            <a:ext cx="2103120" cy="4572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1965960"/>
            <a:ext cx="2011680" cy="182880"/>
          </a:xfrm>
          <a:prstGeom prst="rect">
            <a:avLst/>
          </a:prstGeom>
          <a:noFill/>
        </p:spPr>
        <p:txBody>
          <a:bodyPr wrap="square">
            <a:spAutoFit/>
          </a:bodyPr>
          <a:lstStyle/>
          <a:p>
            <a:pPr algn="l"/>
            <a:r>
              <a:rPr sz="650" b="1" i="0">
                <a:solidFill>
                  <a:srgbClr val="0369A1"/>
                </a:solidFill>
                <a:latin typeface="Montserrat"/>
              </a:rPr>
              <a:t>CHECKPOINT A</a:t>
            </a:r>
          </a:p>
        </p:txBody>
      </p:sp>
      <p:sp>
        <p:nvSpPr>
          <p:cNvPr id="29" name="TextBox 28"/>
          <p:cNvSpPr txBox="1"/>
          <p:nvPr/>
        </p:nvSpPr>
        <p:spPr>
          <a:xfrm>
            <a:off x="438912" y="2148840"/>
            <a:ext cx="2011680" cy="182880"/>
          </a:xfrm>
          <a:prstGeom prst="rect">
            <a:avLst/>
          </a:prstGeom>
          <a:noFill/>
        </p:spPr>
        <p:txBody>
          <a:bodyPr wrap="square">
            <a:spAutoFit/>
          </a:bodyPr>
          <a:lstStyle/>
          <a:p>
            <a:pPr algn="l"/>
            <a:r>
              <a:rPr sz="900" b="1" i="0">
                <a:solidFill>
                  <a:srgbClr val="0F3460"/>
                </a:solidFill>
                <a:latin typeface="Calibri"/>
              </a:rPr>
              <a:t>Oct 5, 2025</a:t>
            </a:r>
          </a:p>
        </p:txBody>
      </p:sp>
      <p:sp>
        <p:nvSpPr>
          <p:cNvPr id="30" name="TextBox 29"/>
          <p:cNvSpPr txBox="1"/>
          <p:nvPr/>
        </p:nvSpPr>
        <p:spPr>
          <a:xfrm>
            <a:off x="438912" y="2313432"/>
            <a:ext cx="1993392" cy="347472"/>
          </a:xfrm>
          <a:prstGeom prst="rect">
            <a:avLst/>
          </a:prstGeom>
          <a:noFill/>
        </p:spPr>
        <p:txBody>
          <a:bodyPr wrap="square">
            <a:spAutoFit/>
          </a:bodyPr>
          <a:lstStyle/>
          <a:p>
            <a:pPr algn="l"/>
            <a:r>
              <a:rPr sz="750" b="0" i="0">
                <a:solidFill>
                  <a:srgbClr val="4A5568"/>
                </a:solidFill>
                <a:latin typeface="Calibri"/>
              </a:rPr>
              <a:t>Cohort in STARS · Fall CCI enrolled
Equity &amp; support plans · WBL intermediary confirmed</a:t>
            </a:r>
          </a:p>
        </p:txBody>
      </p:sp>
      <p:sp>
        <p:nvSpPr>
          <p:cNvPr id="31" name="Rectangle 30"/>
          <p:cNvSpPr/>
          <p:nvPr/>
        </p:nvSpPr>
        <p:spPr>
          <a:xfrm>
            <a:off x="2468880" y="1892808"/>
            <a:ext cx="2103120" cy="7772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468880" y="1892808"/>
            <a:ext cx="2103120" cy="457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42032" y="1965960"/>
            <a:ext cx="2011680" cy="182880"/>
          </a:xfrm>
          <a:prstGeom prst="rect">
            <a:avLst/>
          </a:prstGeom>
          <a:noFill/>
        </p:spPr>
        <p:txBody>
          <a:bodyPr wrap="square">
            <a:spAutoFit/>
          </a:bodyPr>
          <a:lstStyle/>
          <a:p>
            <a:pPr algn="l"/>
            <a:r>
              <a:rPr sz="650" b="1" i="0">
                <a:solidFill>
                  <a:srgbClr val="6D28D9"/>
                </a:solidFill>
                <a:latin typeface="Montserrat"/>
              </a:rPr>
              <a:t>CHECKPOINT B</a:t>
            </a:r>
          </a:p>
        </p:txBody>
      </p:sp>
      <p:sp>
        <p:nvSpPr>
          <p:cNvPr id="34" name="TextBox 33"/>
          <p:cNvSpPr txBox="1"/>
          <p:nvPr/>
        </p:nvSpPr>
        <p:spPr>
          <a:xfrm>
            <a:off x="2542032" y="2148840"/>
            <a:ext cx="2011680" cy="182880"/>
          </a:xfrm>
          <a:prstGeom prst="rect">
            <a:avLst/>
          </a:prstGeom>
          <a:noFill/>
        </p:spPr>
        <p:txBody>
          <a:bodyPr wrap="square">
            <a:spAutoFit/>
          </a:bodyPr>
          <a:lstStyle/>
          <a:p>
            <a:pPr algn="l"/>
            <a:r>
              <a:rPr sz="900" b="1" i="0">
                <a:solidFill>
                  <a:srgbClr val="0F3460"/>
                </a:solidFill>
                <a:latin typeface="Calibri"/>
              </a:rPr>
              <a:t>Jan 5, 2026</a:t>
            </a:r>
          </a:p>
        </p:txBody>
      </p:sp>
      <p:sp>
        <p:nvSpPr>
          <p:cNvPr id="35" name="TextBox 34"/>
          <p:cNvSpPr txBox="1"/>
          <p:nvPr/>
        </p:nvSpPr>
        <p:spPr>
          <a:xfrm>
            <a:off x="2542032" y="2313432"/>
            <a:ext cx="1993392" cy="347472"/>
          </a:xfrm>
          <a:prstGeom prst="rect">
            <a:avLst/>
          </a:prstGeom>
          <a:noFill/>
        </p:spPr>
        <p:txBody>
          <a:bodyPr wrap="square">
            <a:spAutoFit/>
          </a:bodyPr>
          <a:lstStyle/>
          <a:p>
            <a:pPr algn="l"/>
            <a:r>
              <a:rPr sz="750" b="0" i="0">
                <a:solidFill>
                  <a:srgbClr val="4A5568"/>
                </a:solidFill>
                <a:latin typeface="Calibri"/>
              </a:rPr>
              <a:t>First 1:1 advising complete
First unpaid WBL captured · Spring ECC planning confirmations</a:t>
            </a:r>
          </a:p>
        </p:txBody>
      </p:sp>
      <p:sp>
        <p:nvSpPr>
          <p:cNvPr id="36" name="Rectangle 35"/>
          <p:cNvSpPr/>
          <p:nvPr/>
        </p:nvSpPr>
        <p:spPr>
          <a:xfrm>
            <a:off x="4572000" y="1892808"/>
            <a:ext cx="2103120" cy="7772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0" y="1892808"/>
            <a:ext cx="2103120" cy="457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45152" y="1965960"/>
            <a:ext cx="2011680" cy="182880"/>
          </a:xfrm>
          <a:prstGeom prst="rect">
            <a:avLst/>
          </a:prstGeom>
          <a:noFill/>
        </p:spPr>
        <p:txBody>
          <a:bodyPr wrap="square">
            <a:spAutoFit/>
          </a:bodyPr>
          <a:lstStyle/>
          <a:p>
            <a:pPr algn="l"/>
            <a:r>
              <a:rPr sz="650" b="1" i="0">
                <a:solidFill>
                  <a:srgbClr val="0F766E"/>
                </a:solidFill>
                <a:latin typeface="Montserrat"/>
              </a:rPr>
              <a:t>CHECKPOINT C</a:t>
            </a:r>
          </a:p>
        </p:txBody>
      </p:sp>
      <p:sp>
        <p:nvSpPr>
          <p:cNvPr id="39" name="TextBox 38"/>
          <p:cNvSpPr txBox="1"/>
          <p:nvPr/>
        </p:nvSpPr>
        <p:spPr>
          <a:xfrm>
            <a:off x="4645152" y="2148840"/>
            <a:ext cx="2011680" cy="182880"/>
          </a:xfrm>
          <a:prstGeom prst="rect">
            <a:avLst/>
          </a:prstGeom>
          <a:noFill/>
        </p:spPr>
        <p:txBody>
          <a:bodyPr wrap="square">
            <a:spAutoFit/>
          </a:bodyPr>
          <a:lstStyle/>
          <a:p>
            <a:pPr algn="l"/>
            <a:r>
              <a:rPr sz="900" b="1" i="0">
                <a:solidFill>
                  <a:srgbClr val="0F3460"/>
                </a:solidFill>
                <a:latin typeface="Calibri"/>
              </a:rPr>
              <a:t>Apr 5, 2026</a:t>
            </a:r>
          </a:p>
        </p:txBody>
      </p:sp>
      <p:sp>
        <p:nvSpPr>
          <p:cNvPr id="40" name="TextBox 39"/>
          <p:cNvSpPr txBox="1"/>
          <p:nvPr/>
        </p:nvSpPr>
        <p:spPr>
          <a:xfrm>
            <a:off x="4645152" y="2313432"/>
            <a:ext cx="1993392" cy="347472"/>
          </a:xfrm>
          <a:prstGeom prst="rect">
            <a:avLst/>
          </a:prstGeom>
          <a:noFill/>
        </p:spPr>
        <p:txBody>
          <a:bodyPr wrap="square">
            <a:spAutoFit/>
          </a:bodyPr>
          <a:lstStyle/>
          <a:p>
            <a:pPr algn="l"/>
            <a:r>
              <a:rPr sz="750" b="0" i="0">
                <a:solidFill>
                  <a:srgbClr val="4A5568"/>
                </a:solidFill>
                <a:latin typeface="Calibri"/>
              </a:rPr>
              <a:t>11th–12th ECC enrolled · 9th career exploration enrolled
Seniors: paid WBL accepted/confirmed</a:t>
            </a:r>
          </a:p>
        </p:txBody>
      </p:sp>
      <p:sp>
        <p:nvSpPr>
          <p:cNvPr id="41" name="Rectangle 40"/>
          <p:cNvSpPr/>
          <p:nvPr/>
        </p:nvSpPr>
        <p:spPr>
          <a:xfrm>
            <a:off x="6675120" y="1892808"/>
            <a:ext cx="2103120" cy="7772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75120" y="1892808"/>
            <a:ext cx="2103120" cy="4572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48272" y="1965960"/>
            <a:ext cx="2011680" cy="182880"/>
          </a:xfrm>
          <a:prstGeom prst="rect">
            <a:avLst/>
          </a:prstGeom>
          <a:noFill/>
        </p:spPr>
        <p:txBody>
          <a:bodyPr wrap="square">
            <a:spAutoFit/>
          </a:bodyPr>
          <a:lstStyle/>
          <a:p>
            <a:pPr algn="l"/>
            <a:r>
              <a:rPr sz="650" b="1" i="0">
                <a:solidFill>
                  <a:srgbClr val="9A3412"/>
                </a:solidFill>
                <a:latin typeface="Montserrat"/>
              </a:rPr>
              <a:t>CHECKPOINT D</a:t>
            </a:r>
          </a:p>
        </p:txBody>
      </p:sp>
      <p:sp>
        <p:nvSpPr>
          <p:cNvPr id="44" name="TextBox 43"/>
          <p:cNvSpPr txBox="1"/>
          <p:nvPr/>
        </p:nvSpPr>
        <p:spPr>
          <a:xfrm>
            <a:off x="6748272" y="2148840"/>
            <a:ext cx="2011680" cy="182880"/>
          </a:xfrm>
          <a:prstGeom prst="rect">
            <a:avLst/>
          </a:prstGeom>
          <a:noFill/>
        </p:spPr>
        <p:txBody>
          <a:bodyPr wrap="square">
            <a:spAutoFit/>
          </a:bodyPr>
          <a:lstStyle/>
          <a:p>
            <a:pPr algn="l"/>
            <a:r>
              <a:rPr sz="900" b="1" i="0">
                <a:solidFill>
                  <a:srgbClr val="0F3460"/>
                </a:solidFill>
                <a:latin typeface="Calibri"/>
              </a:rPr>
              <a:t>Jul 5, 2026</a:t>
            </a:r>
          </a:p>
        </p:txBody>
      </p:sp>
      <p:sp>
        <p:nvSpPr>
          <p:cNvPr id="45" name="TextBox 44"/>
          <p:cNvSpPr txBox="1"/>
          <p:nvPr/>
        </p:nvSpPr>
        <p:spPr>
          <a:xfrm>
            <a:off x="6748272" y="2313432"/>
            <a:ext cx="1993392" cy="347472"/>
          </a:xfrm>
          <a:prstGeom prst="rect">
            <a:avLst/>
          </a:prstGeom>
          <a:noFill/>
        </p:spPr>
        <p:txBody>
          <a:bodyPr wrap="square">
            <a:spAutoFit/>
          </a:bodyPr>
          <a:lstStyle/>
          <a:p>
            <a:pPr algn="l"/>
            <a:r>
              <a:rPr sz="750" b="0" i="0">
                <a:solidFill>
                  <a:srgbClr val="4A5568"/>
                </a:solidFill>
                <a:latin typeface="Calibri"/>
              </a:rPr>
              <a:t>All completions locked · 2nd 1:1 done
Career plans filed · Year-end reflection &amp; next-SY planning</a:t>
            </a:r>
          </a:p>
        </p:txBody>
      </p:sp>
      <p:sp>
        <p:nvSpPr>
          <p:cNvPr id="46" name="TextBox 45"/>
          <p:cNvSpPr txBox="1"/>
          <p:nvPr/>
        </p:nvSpPr>
        <p:spPr>
          <a:xfrm>
            <a:off x="365760" y="2971800"/>
            <a:ext cx="8412480" cy="182880"/>
          </a:xfrm>
          <a:prstGeom prst="rect">
            <a:avLst/>
          </a:prstGeom>
          <a:noFill/>
        </p:spPr>
        <p:txBody>
          <a:bodyPr wrap="square">
            <a:spAutoFit/>
          </a:bodyPr>
          <a:lstStyle/>
          <a:p>
            <a:pPr algn="l"/>
            <a:r>
              <a:rPr sz="700" b="1" i="0">
                <a:solidFill>
                  <a:srgbClr val="4A5568"/>
                </a:solidFill>
                <a:latin typeface="Montserrat"/>
              </a:rPr>
              <a:t>WHAT SUCCESS LOOKS LIKE IN SCHOOLS — 5 CORE PRINCIPLES OF RECRUITMENT</a:t>
            </a:r>
          </a:p>
        </p:txBody>
      </p:sp>
      <p:sp>
        <p:nvSpPr>
          <p:cNvPr id="47" name="Rectangle 46"/>
          <p:cNvSpPr/>
          <p:nvPr/>
        </p:nvSpPr>
        <p:spPr>
          <a:xfrm>
            <a:off x="365760" y="3154680"/>
            <a:ext cx="8412480" cy="9144"/>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5760" y="3200400"/>
            <a:ext cx="45720" cy="96012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11480" y="3200400"/>
            <a:ext cx="2011680" cy="9601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 y="3273552"/>
            <a:ext cx="1892808" cy="182880"/>
          </a:xfrm>
          <a:prstGeom prst="rect">
            <a:avLst/>
          </a:prstGeom>
          <a:noFill/>
        </p:spPr>
        <p:txBody>
          <a:bodyPr wrap="square">
            <a:spAutoFit/>
          </a:bodyPr>
          <a:lstStyle/>
          <a:p>
            <a:pPr algn="l"/>
            <a:r>
              <a:rPr sz="700" b="1" i="0">
                <a:solidFill>
                  <a:srgbClr val="0369A1"/>
                </a:solidFill>
                <a:latin typeface="Montserrat"/>
              </a:rPr>
              <a:t>1. TIMING</a:t>
            </a:r>
          </a:p>
        </p:txBody>
      </p:sp>
      <p:sp>
        <p:nvSpPr>
          <p:cNvPr id="51" name="TextBox 50"/>
          <p:cNvSpPr txBox="1"/>
          <p:nvPr/>
        </p:nvSpPr>
        <p:spPr>
          <a:xfrm>
            <a:off x="493776" y="3456432"/>
            <a:ext cx="1892808" cy="667512"/>
          </a:xfrm>
          <a:prstGeom prst="rect">
            <a:avLst/>
          </a:prstGeom>
          <a:noFill/>
        </p:spPr>
        <p:txBody>
          <a:bodyPr wrap="square">
            <a:spAutoFit/>
          </a:bodyPr>
          <a:lstStyle/>
          <a:p>
            <a:pPr algn="l"/>
            <a:r>
              <a:rPr sz="800" b="0" i="0">
                <a:solidFill>
                  <a:srgbClr val="4A5568"/>
                </a:solidFill>
                <a:latin typeface="Calibri"/>
              </a:rPr>
              <a:t>Recruitment is year-round, starting before students enter high school. Programs that delay until 10th grade struggle. Strong programs begin in 8th grade.</a:t>
            </a:r>
          </a:p>
        </p:txBody>
      </p:sp>
      <p:sp>
        <p:nvSpPr>
          <p:cNvPr id="52" name="Rectangle 51"/>
          <p:cNvSpPr/>
          <p:nvPr/>
        </p:nvSpPr>
        <p:spPr>
          <a:xfrm>
            <a:off x="2514600" y="3200400"/>
            <a:ext cx="45720" cy="9601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560320" y="3200400"/>
            <a:ext cx="2011680" cy="9601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642616" y="3273552"/>
            <a:ext cx="1892808" cy="182880"/>
          </a:xfrm>
          <a:prstGeom prst="rect">
            <a:avLst/>
          </a:prstGeom>
          <a:noFill/>
        </p:spPr>
        <p:txBody>
          <a:bodyPr wrap="square">
            <a:spAutoFit/>
          </a:bodyPr>
          <a:lstStyle/>
          <a:p>
            <a:pPr algn="l"/>
            <a:r>
              <a:rPr sz="700" b="1" i="0">
                <a:solidFill>
                  <a:srgbClr val="6D28D9"/>
                </a:solidFill>
                <a:latin typeface="Montserrat"/>
              </a:rPr>
              <a:t>2. INTEGRATION</a:t>
            </a:r>
          </a:p>
        </p:txBody>
      </p:sp>
      <p:sp>
        <p:nvSpPr>
          <p:cNvPr id="55" name="TextBox 54"/>
          <p:cNvSpPr txBox="1"/>
          <p:nvPr/>
        </p:nvSpPr>
        <p:spPr>
          <a:xfrm>
            <a:off x="2642616" y="3456432"/>
            <a:ext cx="1892808" cy="667512"/>
          </a:xfrm>
          <a:prstGeom prst="rect">
            <a:avLst/>
          </a:prstGeom>
          <a:noFill/>
        </p:spPr>
        <p:txBody>
          <a:bodyPr wrap="square">
            <a:spAutoFit/>
          </a:bodyPr>
          <a:lstStyle/>
          <a:p>
            <a:pPr algn="l"/>
            <a:r>
              <a:rPr sz="800" b="0" i="0">
                <a:solidFill>
                  <a:srgbClr val="4A5568"/>
                </a:solidFill>
                <a:latin typeface="Calibri"/>
              </a:rPr>
              <a:t>Programs embedded in advisory, courses, and school culture see stronger enrollment and persistence than those that operate as separate add-ons.</a:t>
            </a:r>
          </a:p>
        </p:txBody>
      </p:sp>
      <p:sp>
        <p:nvSpPr>
          <p:cNvPr id="56" name="Rectangle 55"/>
          <p:cNvSpPr/>
          <p:nvPr/>
        </p:nvSpPr>
        <p:spPr>
          <a:xfrm>
            <a:off x="4663440" y="3200400"/>
            <a:ext cx="45720" cy="9601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09160" y="3200400"/>
            <a:ext cx="2011680" cy="9601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91456" y="3273552"/>
            <a:ext cx="1892808" cy="182880"/>
          </a:xfrm>
          <a:prstGeom prst="rect">
            <a:avLst/>
          </a:prstGeom>
          <a:noFill/>
        </p:spPr>
        <p:txBody>
          <a:bodyPr wrap="square">
            <a:spAutoFit/>
          </a:bodyPr>
          <a:lstStyle/>
          <a:p>
            <a:pPr algn="l"/>
            <a:r>
              <a:rPr sz="700" b="1" i="0">
                <a:solidFill>
                  <a:srgbClr val="0F766E"/>
                </a:solidFill>
                <a:latin typeface="Montserrat"/>
              </a:rPr>
              <a:t>3. SOCIAL PROOF</a:t>
            </a:r>
          </a:p>
        </p:txBody>
      </p:sp>
      <p:sp>
        <p:nvSpPr>
          <p:cNvPr id="59" name="TextBox 58"/>
          <p:cNvSpPr txBox="1"/>
          <p:nvPr/>
        </p:nvSpPr>
        <p:spPr>
          <a:xfrm>
            <a:off x="4791456" y="3456432"/>
            <a:ext cx="1892808" cy="667512"/>
          </a:xfrm>
          <a:prstGeom prst="rect">
            <a:avLst/>
          </a:prstGeom>
          <a:noFill/>
        </p:spPr>
        <p:txBody>
          <a:bodyPr wrap="square">
            <a:spAutoFit/>
          </a:bodyPr>
          <a:lstStyle/>
          <a:p>
            <a:pPr algn="l"/>
            <a:r>
              <a:rPr sz="800" b="0" i="0">
                <a:solidFill>
                  <a:srgbClr val="4A5568"/>
                </a:solidFill>
                <a:latin typeface="Calibri"/>
              </a:rPr>
              <a:t>Students are most influenced by other students. Peer-to-peer communication builds trust, makes pathways feel real, and increases enrollment.</a:t>
            </a:r>
          </a:p>
        </p:txBody>
      </p:sp>
      <p:sp>
        <p:nvSpPr>
          <p:cNvPr id="60" name="Rectangle 59"/>
          <p:cNvSpPr/>
          <p:nvPr/>
        </p:nvSpPr>
        <p:spPr>
          <a:xfrm>
            <a:off x="6812280" y="3200400"/>
            <a:ext cx="45720" cy="96012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858000" y="3200400"/>
            <a:ext cx="2011680" cy="9601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940296" y="3273552"/>
            <a:ext cx="1892808" cy="182880"/>
          </a:xfrm>
          <a:prstGeom prst="rect">
            <a:avLst/>
          </a:prstGeom>
          <a:noFill/>
        </p:spPr>
        <p:txBody>
          <a:bodyPr wrap="square">
            <a:spAutoFit/>
          </a:bodyPr>
          <a:lstStyle/>
          <a:p>
            <a:pPr algn="l"/>
            <a:r>
              <a:rPr sz="700" b="1" i="0">
                <a:solidFill>
                  <a:srgbClr val="166534"/>
                </a:solidFill>
                <a:latin typeface="Montserrat"/>
              </a:rPr>
              <a:t>4. RELEVANCE</a:t>
            </a:r>
          </a:p>
        </p:txBody>
      </p:sp>
      <p:sp>
        <p:nvSpPr>
          <p:cNvPr id="63" name="TextBox 62"/>
          <p:cNvSpPr txBox="1"/>
          <p:nvPr/>
        </p:nvSpPr>
        <p:spPr>
          <a:xfrm>
            <a:off x="6940296" y="3456432"/>
            <a:ext cx="1892808" cy="667512"/>
          </a:xfrm>
          <a:prstGeom prst="rect">
            <a:avLst/>
          </a:prstGeom>
          <a:noFill/>
        </p:spPr>
        <p:txBody>
          <a:bodyPr wrap="square">
            <a:spAutoFit/>
          </a:bodyPr>
          <a:lstStyle/>
          <a:p>
            <a:pPr algn="l"/>
            <a:r>
              <a:rPr sz="800" b="0" i="0">
                <a:solidFill>
                  <a:srgbClr val="4A5568"/>
                </a:solidFill>
                <a:latin typeface="Calibri"/>
              </a:rPr>
              <a:t>Students enroll and stay when they understand what they'll do and gain. Lead with concrete outcomes — not abstract language like 'career readiness.'</a:t>
            </a:r>
          </a:p>
        </p:txBody>
      </p:sp>
      <p:sp>
        <p:nvSpPr>
          <p:cNvPr id="64" name="Rectangle 63"/>
          <p:cNvSpPr/>
          <p:nvPr/>
        </p:nvSpPr>
        <p:spPr>
          <a:xfrm>
            <a:off x="365760" y="4224528"/>
            <a:ext cx="45720" cy="658368"/>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11480" y="4224528"/>
            <a:ext cx="8366760"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30352" y="4288536"/>
            <a:ext cx="1828800" cy="182880"/>
          </a:xfrm>
          <a:prstGeom prst="rect">
            <a:avLst/>
          </a:prstGeom>
          <a:noFill/>
        </p:spPr>
        <p:txBody>
          <a:bodyPr wrap="square">
            <a:spAutoFit/>
          </a:bodyPr>
          <a:lstStyle/>
          <a:p>
            <a:pPr algn="l"/>
            <a:r>
              <a:rPr sz="700" b="1" i="0">
                <a:solidFill>
                  <a:srgbClr val="B5162B"/>
                </a:solidFill>
                <a:latin typeface="Montserrat"/>
              </a:rPr>
              <a:t>5. EQUITY</a:t>
            </a:r>
          </a:p>
        </p:txBody>
      </p:sp>
      <p:sp>
        <p:nvSpPr>
          <p:cNvPr id="67" name="TextBox 66"/>
          <p:cNvSpPr txBox="1"/>
          <p:nvPr/>
        </p:nvSpPr>
        <p:spPr>
          <a:xfrm>
            <a:off x="530352" y="4471416"/>
            <a:ext cx="8229600" cy="384048"/>
          </a:xfrm>
          <a:prstGeom prst="rect">
            <a:avLst/>
          </a:prstGeom>
          <a:noFill/>
        </p:spPr>
        <p:txBody>
          <a:bodyPr wrap="square">
            <a:spAutoFit/>
          </a:bodyPr>
          <a:lstStyle/>
          <a:p>
            <a:pPr algn="l"/>
            <a:r>
              <a:rPr sz="800" b="0" i="0">
                <a:solidFill>
                  <a:srgbClr val="4A5568"/>
                </a:solidFill>
                <a:latin typeface="Calibri"/>
              </a:rPr>
              <a:t>Students with disabilities and multilingual learners are often underrepresented due to structural barriers — not lack of interest. Strong programs track representation, identify barriers, and address them before they become attrition. See the Equity Checklist on the final page. Linked to KIMs A6 and D31.</a:t>
            </a:r>
          </a:p>
        </p:txBody>
      </p:sp>
      <p:sp>
        <p:nvSpPr>
          <p:cNvPr id="68" name="Rectangle 67"/>
          <p:cNvSpPr/>
          <p:nvPr/>
        </p:nvSpPr>
        <p:spPr>
          <a:xfrm>
            <a:off x="0" y="6537960"/>
            <a:ext cx="9144000" cy="3200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95360" y="6583680"/>
            <a:ext cx="365760" cy="320040"/>
          </a:xfrm>
          <a:prstGeom prst="rect">
            <a:avLst/>
          </a:prstGeom>
          <a:noFill/>
        </p:spPr>
        <p:txBody>
          <a:bodyPr wrap="square">
            <a:spAutoFit/>
          </a:bodyPr>
          <a:lstStyle/>
          <a:p>
            <a:pPr algn="r"/>
            <a:r>
              <a:rPr sz="800" b="1" i="0">
                <a:solidFill>
                  <a:srgbClr val="4A5568"/>
                </a:solidFill>
                <a:latin typeface="Montserrat"/>
              </a:rPr>
              <a:t>2</a:t>
            </a:r>
          </a:p>
        </p:txBody>
      </p:sp>
      <p:sp>
        <p:nvSpPr>
          <p:cNvPr id="70" name="TextBox 69"/>
          <p:cNvSpPr txBox="1"/>
          <p:nvPr/>
        </p:nvSpPr>
        <p:spPr>
          <a:xfrm>
            <a:off x="365760" y="6601968"/>
            <a:ext cx="5486400" cy="320040"/>
          </a:xfrm>
          <a:prstGeom prst="rect">
            <a:avLst/>
          </a:prstGeom>
          <a:noFill/>
        </p:spPr>
        <p:txBody>
          <a:bodyPr wrap="square">
            <a:spAutoFit/>
          </a:bodyPr>
          <a:lstStyle/>
          <a:p>
            <a:pPr algn="l"/>
            <a:r>
              <a:rPr sz="700" b="0" i="0">
                <a:solidFill>
                  <a:srgbClr val="4A5568"/>
                </a:solidFill>
                <a:latin typeface="Calibri"/>
              </a:rPr>
              <a:t>FutureReady NYC  ·  NYCPS Office of Student Pathways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8000"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8000" y="0"/>
            <a:ext cx="3048000"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0" y="0"/>
            <a:ext cx="3048000" cy="7315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73152"/>
            <a:ext cx="9144000" cy="45720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6304"/>
            <a:ext cx="7315200" cy="457200"/>
          </a:xfrm>
          <a:prstGeom prst="rect">
            <a:avLst/>
          </a:prstGeom>
          <a:noFill/>
        </p:spPr>
        <p:txBody>
          <a:bodyPr wrap="square">
            <a:spAutoFit/>
          </a:bodyPr>
          <a:lstStyle/>
          <a:p>
            <a:pPr algn="l"/>
            <a:r>
              <a:rPr sz="750" b="1" i="0">
                <a:solidFill>
                  <a:srgbClr val="0F3460"/>
                </a:solidFill>
                <a:latin typeface="Montserrat"/>
              </a:rPr>
              <a:t>8TH GRADE — AWARENESS &amp; OUTREACH</a:t>
            </a:r>
          </a:p>
        </p:txBody>
      </p:sp>
      <p:sp>
        <p:nvSpPr>
          <p:cNvPr id="7" name="Rectangle 6"/>
          <p:cNvSpPr/>
          <p:nvPr/>
        </p:nvSpPr>
        <p:spPr>
          <a:xfrm>
            <a:off x="320040" y="566928"/>
            <a:ext cx="8503920" cy="822960"/>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30936"/>
            <a:ext cx="5486400" cy="164592"/>
          </a:xfrm>
          <a:prstGeom prst="rect">
            <a:avLst/>
          </a:prstGeom>
          <a:noFill/>
        </p:spPr>
        <p:txBody>
          <a:bodyPr wrap="square">
            <a:spAutoFit/>
          </a:bodyPr>
          <a:lstStyle/>
          <a:p>
            <a:pPr algn="l"/>
            <a:r>
              <a:rPr sz="650" b="1" i="0">
                <a:solidFill>
                  <a:srgbClr val="FFFFFF"/>
                </a:solidFill>
                <a:latin typeface="Montserrat"/>
              </a:rPr>
              <a:t>PRE-KIM AWARENESS &amp; OUTREACH</a:t>
            </a:r>
          </a:p>
        </p:txBody>
      </p:sp>
      <p:sp>
        <p:nvSpPr>
          <p:cNvPr id="9" name="TextBox 8"/>
          <p:cNvSpPr txBox="1"/>
          <p:nvPr/>
        </p:nvSpPr>
        <p:spPr>
          <a:xfrm>
            <a:off x="457200" y="768096"/>
            <a:ext cx="5486400" cy="320040"/>
          </a:xfrm>
          <a:prstGeom prst="rect">
            <a:avLst/>
          </a:prstGeom>
          <a:noFill/>
        </p:spPr>
        <p:txBody>
          <a:bodyPr wrap="square">
            <a:spAutoFit/>
          </a:bodyPr>
          <a:lstStyle/>
          <a:p>
            <a:pPr algn="l"/>
            <a:r>
              <a:rPr sz="1800" b="1" i="0">
                <a:solidFill>
                  <a:srgbClr val="FFFFFF"/>
                </a:solidFill>
                <a:latin typeface="Montserrat"/>
              </a:rPr>
              <a:t>8TH GRADE</a:t>
            </a:r>
          </a:p>
        </p:txBody>
      </p:sp>
      <p:sp>
        <p:nvSpPr>
          <p:cNvPr id="10" name="TextBox 9"/>
          <p:cNvSpPr txBox="1"/>
          <p:nvPr/>
        </p:nvSpPr>
        <p:spPr>
          <a:xfrm>
            <a:off x="457200" y="1078992"/>
            <a:ext cx="6858000" cy="292608"/>
          </a:xfrm>
          <a:prstGeom prst="rect">
            <a:avLst/>
          </a:prstGeom>
          <a:noFill/>
        </p:spPr>
        <p:txBody>
          <a:bodyPr wrap="square">
            <a:spAutoFit/>
          </a:bodyPr>
          <a:lstStyle/>
          <a:p>
            <a:pPr algn="l"/>
            <a:r>
              <a:rPr sz="800" b="0" i="1">
                <a:solidFill>
                  <a:srgbClr val="FFFFFF"/>
                </a:solidFill>
                <a:latin typeface="Calibri"/>
              </a:rPr>
              <a:t>Goal: 8th graders and families know your school is a FRNYC school and are interested enough to choose it.</a:t>
            </a:r>
          </a:p>
        </p:txBody>
      </p:sp>
      <p:sp>
        <p:nvSpPr>
          <p:cNvPr id="11" name="TextBox 10"/>
          <p:cNvSpPr txBox="1"/>
          <p:nvPr/>
        </p:nvSpPr>
        <p:spPr>
          <a:xfrm>
            <a:off x="7863840" y="585216"/>
            <a:ext cx="1097280" cy="777240"/>
          </a:xfrm>
          <a:prstGeom prst="rect">
            <a:avLst/>
          </a:prstGeom>
          <a:noFill/>
        </p:spPr>
        <p:txBody>
          <a:bodyPr wrap="square">
            <a:spAutoFit/>
          </a:bodyPr>
          <a:lstStyle/>
          <a:p>
            <a:pPr algn="r"/>
            <a:r>
              <a:rPr sz="5200" b="1" i="0">
                <a:solidFill>
                  <a:srgbClr val="FFFFFF"/>
                </a:solidFill>
                <a:latin typeface="Montserrat"/>
              </a:rPr>
              <a:t>8</a:t>
            </a:r>
          </a:p>
        </p:txBody>
      </p:sp>
      <p:sp>
        <p:nvSpPr>
          <p:cNvPr id="12" name="Rectangle 11"/>
          <p:cNvSpPr/>
          <p:nvPr/>
        </p:nvSpPr>
        <p:spPr>
          <a:xfrm>
            <a:off x="320040"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 y="1499616"/>
            <a:ext cx="777240" cy="201168"/>
          </a:xfrm>
          <a:prstGeom prst="rect">
            <a:avLst/>
          </a:prstGeom>
          <a:noFill/>
        </p:spPr>
        <p:txBody>
          <a:bodyPr wrap="square">
            <a:spAutoFit/>
          </a:bodyPr>
          <a:lstStyle/>
          <a:p>
            <a:pPr algn="l"/>
            <a:r>
              <a:rPr sz="650" b="1" i="0">
                <a:solidFill>
                  <a:srgbClr val="FFFFFF"/>
                </a:solidFill>
                <a:latin typeface="Montserrat"/>
              </a:rPr>
              <a:t>WHEN</a:t>
            </a:r>
          </a:p>
        </p:txBody>
      </p:sp>
      <p:sp>
        <p:nvSpPr>
          <p:cNvPr id="14" name="Rectangle 13"/>
          <p:cNvSpPr/>
          <p:nvPr/>
        </p:nvSpPr>
        <p:spPr>
          <a:xfrm>
            <a:off x="1170432" y="1463040"/>
            <a:ext cx="1530705"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25296" y="1499616"/>
            <a:ext cx="1457553" cy="201168"/>
          </a:xfrm>
          <a:prstGeom prst="rect">
            <a:avLst/>
          </a:prstGeom>
          <a:noFill/>
        </p:spPr>
        <p:txBody>
          <a:bodyPr wrap="square">
            <a:spAutoFit/>
          </a:bodyPr>
          <a:lstStyle/>
          <a:p>
            <a:pPr algn="l"/>
            <a:r>
              <a:rPr sz="650" b="1" i="0">
                <a:solidFill>
                  <a:srgbClr val="FFFFFF"/>
                </a:solidFill>
                <a:latin typeface="Montserrat"/>
              </a:rPr>
              <a:t>ACTIVITY</a:t>
            </a:r>
          </a:p>
        </p:txBody>
      </p:sp>
      <p:sp>
        <p:nvSpPr>
          <p:cNvPr id="16" name="Rectangle 15"/>
          <p:cNvSpPr/>
          <p:nvPr/>
        </p:nvSpPr>
        <p:spPr>
          <a:xfrm>
            <a:off x="2701137" y="1463040"/>
            <a:ext cx="1955901"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56001" y="1499616"/>
            <a:ext cx="1882749" cy="201168"/>
          </a:xfrm>
          <a:prstGeom prst="rect">
            <a:avLst/>
          </a:prstGeom>
          <a:noFill/>
        </p:spPr>
        <p:txBody>
          <a:bodyPr wrap="square">
            <a:spAutoFit/>
          </a:bodyPr>
          <a:lstStyle/>
          <a:p>
            <a:pPr algn="l"/>
            <a:r>
              <a:rPr sz="650" b="1" i="0">
                <a:solidFill>
                  <a:srgbClr val="FFFFFF"/>
                </a:solidFill>
                <a:latin typeface="Montserrat"/>
              </a:rPr>
              <a:t>PURPOSE &amp; SUCCESS</a:t>
            </a:r>
          </a:p>
        </p:txBody>
      </p:sp>
      <p:sp>
        <p:nvSpPr>
          <p:cNvPr id="18" name="Rectangle 17"/>
          <p:cNvSpPr/>
          <p:nvPr/>
        </p:nvSpPr>
        <p:spPr>
          <a:xfrm>
            <a:off x="4657039"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11903" y="1499616"/>
            <a:ext cx="777240" cy="201168"/>
          </a:xfrm>
          <a:prstGeom prst="rect">
            <a:avLst/>
          </a:prstGeom>
          <a:noFill/>
        </p:spPr>
        <p:txBody>
          <a:bodyPr wrap="square">
            <a:spAutoFit/>
          </a:bodyPr>
          <a:lstStyle/>
          <a:p>
            <a:pPr algn="l"/>
            <a:r>
              <a:rPr sz="650" b="1" i="0">
                <a:solidFill>
                  <a:srgbClr val="FFFFFF"/>
                </a:solidFill>
                <a:latin typeface="Montserrat"/>
              </a:rPr>
              <a:t>AUDIENCE</a:t>
            </a:r>
          </a:p>
        </p:txBody>
      </p:sp>
      <p:sp>
        <p:nvSpPr>
          <p:cNvPr id="20" name="Rectangle 19"/>
          <p:cNvSpPr/>
          <p:nvPr/>
        </p:nvSpPr>
        <p:spPr>
          <a:xfrm>
            <a:off x="5507431" y="1463040"/>
            <a:ext cx="1020470"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62295" y="1499616"/>
            <a:ext cx="947318" cy="201168"/>
          </a:xfrm>
          <a:prstGeom prst="rect">
            <a:avLst/>
          </a:prstGeom>
          <a:noFill/>
        </p:spPr>
        <p:txBody>
          <a:bodyPr wrap="square">
            <a:spAutoFit/>
          </a:bodyPr>
          <a:lstStyle/>
          <a:p>
            <a:pPr algn="l"/>
            <a:r>
              <a:rPr sz="650" b="1" i="0">
                <a:solidFill>
                  <a:srgbClr val="FFFFFF"/>
                </a:solidFill>
                <a:latin typeface="Montserrat"/>
              </a:rPr>
              <a:t>POINT PERSON</a:t>
            </a:r>
          </a:p>
        </p:txBody>
      </p:sp>
      <p:sp>
        <p:nvSpPr>
          <p:cNvPr id="22" name="Rectangle 21"/>
          <p:cNvSpPr/>
          <p:nvPr/>
        </p:nvSpPr>
        <p:spPr>
          <a:xfrm>
            <a:off x="6527901"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2765" y="1499616"/>
            <a:ext cx="777240" cy="201168"/>
          </a:xfrm>
          <a:prstGeom prst="rect">
            <a:avLst/>
          </a:prstGeom>
          <a:noFill/>
        </p:spPr>
        <p:txBody>
          <a:bodyPr wrap="square">
            <a:spAutoFit/>
          </a:bodyPr>
          <a:lstStyle/>
          <a:p>
            <a:pPr algn="l"/>
            <a:r>
              <a:rPr sz="650" b="1" i="0">
                <a:solidFill>
                  <a:srgbClr val="FFFFFF"/>
                </a:solidFill>
                <a:latin typeface="Montserrat"/>
              </a:rPr>
              <a:t>CATEGORY</a:t>
            </a:r>
          </a:p>
        </p:txBody>
      </p:sp>
      <p:sp>
        <p:nvSpPr>
          <p:cNvPr id="24" name="Rectangle 23"/>
          <p:cNvSpPr/>
          <p:nvPr/>
        </p:nvSpPr>
        <p:spPr>
          <a:xfrm>
            <a:off x="7378293" y="1463040"/>
            <a:ext cx="1445666"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33157" y="1499616"/>
            <a:ext cx="1372514" cy="201168"/>
          </a:xfrm>
          <a:prstGeom prst="rect">
            <a:avLst/>
          </a:prstGeom>
          <a:noFill/>
        </p:spPr>
        <p:txBody>
          <a:bodyPr wrap="square">
            <a:spAutoFit/>
          </a:bodyPr>
          <a:lstStyle/>
          <a:p>
            <a:pPr algn="l"/>
            <a:r>
              <a:rPr sz="650" b="1" i="0">
                <a:solidFill>
                  <a:srgbClr val="FFFFFF"/>
                </a:solidFill>
                <a:latin typeface="Montserrat"/>
              </a:rPr>
              <a:t>KIM</a:t>
            </a:r>
          </a:p>
        </p:txBody>
      </p:sp>
      <p:sp>
        <p:nvSpPr>
          <p:cNvPr id="26" name="Rectangle 25"/>
          <p:cNvSpPr/>
          <p:nvPr/>
        </p:nvSpPr>
        <p:spPr>
          <a:xfrm>
            <a:off x="320040" y="1664208"/>
            <a:ext cx="850392" cy="65836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4" y="1700784"/>
            <a:ext cx="758952" cy="612648"/>
          </a:xfrm>
          <a:prstGeom prst="rect">
            <a:avLst/>
          </a:prstGeom>
          <a:noFill/>
        </p:spPr>
        <p:txBody>
          <a:bodyPr wrap="square">
            <a:spAutoFit/>
          </a:bodyPr>
          <a:lstStyle/>
          <a:p>
            <a:pPr algn="l"/>
            <a:r>
              <a:rPr sz="650" b="1" i="0">
                <a:solidFill>
                  <a:srgbClr val="FFFFFF"/>
                </a:solidFill>
                <a:latin typeface="Montserrat"/>
              </a:rPr>
              <a:t>Sept–Oct</a:t>
            </a:r>
          </a:p>
        </p:txBody>
      </p:sp>
      <p:sp>
        <p:nvSpPr>
          <p:cNvPr id="28" name="Rectangle 27"/>
          <p:cNvSpPr/>
          <p:nvPr/>
        </p:nvSpPr>
        <p:spPr>
          <a:xfrm>
            <a:off x="1170432" y="1664208"/>
            <a:ext cx="1530705"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25296" y="1700784"/>
            <a:ext cx="1439265" cy="612648"/>
          </a:xfrm>
          <a:prstGeom prst="rect">
            <a:avLst/>
          </a:prstGeom>
          <a:noFill/>
        </p:spPr>
        <p:txBody>
          <a:bodyPr wrap="square">
            <a:spAutoFit/>
          </a:bodyPr>
          <a:lstStyle/>
          <a:p>
            <a:pPr algn="l"/>
            <a:r>
              <a:rPr sz="750" b="1" i="0">
                <a:solidFill>
                  <a:srgbClr val="0F3460"/>
                </a:solidFill>
                <a:latin typeface="Calibri"/>
              </a:rPr>
              <a:t>Promote FRNYC on all school materials</a:t>
            </a:r>
          </a:p>
        </p:txBody>
      </p:sp>
      <p:sp>
        <p:nvSpPr>
          <p:cNvPr id="30" name="Rectangle 29"/>
          <p:cNvSpPr/>
          <p:nvPr/>
        </p:nvSpPr>
        <p:spPr>
          <a:xfrm>
            <a:off x="2701137" y="1664208"/>
            <a:ext cx="195590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56001" y="1700784"/>
            <a:ext cx="1864461" cy="612648"/>
          </a:xfrm>
          <a:prstGeom prst="rect">
            <a:avLst/>
          </a:prstGeom>
          <a:noFill/>
        </p:spPr>
        <p:txBody>
          <a:bodyPr wrap="square">
            <a:spAutoFit/>
          </a:bodyPr>
          <a:lstStyle/>
          <a:p>
            <a:pPr algn="l"/>
            <a:r>
              <a:rPr sz="700" b="0" i="0">
                <a:solidFill>
                  <a:srgbClr val="4A5568"/>
                </a:solidFill>
                <a:latin typeface="Calibri"/>
              </a:rPr>
              <a:t>Add FRNYC branding to website, flyers, social posts. Lead with outcomes: ECC credits, WBL, credentials.
Success: Visitors know you're a FRNYC school before they arrive.</a:t>
            </a:r>
          </a:p>
        </p:txBody>
      </p:sp>
      <p:sp>
        <p:nvSpPr>
          <p:cNvPr id="32" name="Rectangle 31"/>
          <p:cNvSpPr/>
          <p:nvPr/>
        </p:nvSpPr>
        <p:spPr>
          <a:xfrm>
            <a:off x="4657039" y="1664208"/>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11903" y="1700784"/>
            <a:ext cx="758952" cy="612648"/>
          </a:xfrm>
          <a:prstGeom prst="rect">
            <a:avLst/>
          </a:prstGeom>
          <a:noFill/>
        </p:spPr>
        <p:txBody>
          <a:bodyPr wrap="square">
            <a:spAutoFit/>
          </a:bodyPr>
          <a:lstStyle/>
          <a:p>
            <a:pPr algn="l"/>
            <a:r>
              <a:rPr sz="700" b="0" i="0">
                <a:solidFill>
                  <a:srgbClr val="4A5568"/>
                </a:solidFill>
                <a:latin typeface="Calibri"/>
              </a:rPr>
              <a:t>Prospective families</a:t>
            </a:r>
          </a:p>
        </p:txBody>
      </p:sp>
      <p:sp>
        <p:nvSpPr>
          <p:cNvPr id="34" name="Rectangle 33"/>
          <p:cNvSpPr/>
          <p:nvPr/>
        </p:nvSpPr>
        <p:spPr>
          <a:xfrm>
            <a:off x="5507431" y="1664208"/>
            <a:ext cx="102047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62295" y="1700784"/>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36" name="Rectangle 35"/>
          <p:cNvSpPr/>
          <p:nvPr/>
        </p:nvSpPr>
        <p:spPr>
          <a:xfrm>
            <a:off x="6527901" y="1664208"/>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2765" y="1700784"/>
            <a:ext cx="758952" cy="612648"/>
          </a:xfrm>
          <a:prstGeom prst="rect">
            <a:avLst/>
          </a:prstGeom>
          <a:noFill/>
        </p:spPr>
        <p:txBody>
          <a:bodyPr wrap="square">
            <a:spAutoFit/>
          </a:bodyPr>
          <a:lstStyle/>
          <a:p>
            <a:pPr algn="l"/>
            <a:r>
              <a:rPr sz="700" b="0" i="0">
                <a:solidFill>
                  <a:srgbClr val="B5162B"/>
                </a:solidFill>
                <a:latin typeface="Calibri"/>
              </a:rPr>
              <a:t>Recruitment</a:t>
            </a:r>
          </a:p>
        </p:txBody>
      </p:sp>
      <p:sp>
        <p:nvSpPr>
          <p:cNvPr id="38" name="Rectangle 37"/>
          <p:cNvSpPr/>
          <p:nvPr/>
        </p:nvSpPr>
        <p:spPr>
          <a:xfrm>
            <a:off x="7378293" y="1664208"/>
            <a:ext cx="144566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33157" y="1700784"/>
            <a:ext cx="1354226" cy="612648"/>
          </a:xfrm>
          <a:prstGeom prst="rect">
            <a:avLst/>
          </a:prstGeom>
          <a:noFill/>
        </p:spPr>
        <p:txBody>
          <a:bodyPr wrap="square">
            <a:spAutoFit/>
          </a:bodyPr>
          <a:lstStyle/>
          <a:p>
            <a:pPr algn="l"/>
            <a:r>
              <a:rPr sz="700" b="0" i="0">
                <a:solidFill>
                  <a:srgbClr val="4A5568"/>
                </a:solidFill>
                <a:latin typeface="Calibri"/>
              </a:rPr>
              <a:t>No direct KIM
Supports A6</a:t>
            </a:r>
          </a:p>
        </p:txBody>
      </p:sp>
      <p:sp>
        <p:nvSpPr>
          <p:cNvPr id="40" name="Rectangle 39"/>
          <p:cNvSpPr/>
          <p:nvPr/>
        </p:nvSpPr>
        <p:spPr>
          <a:xfrm>
            <a:off x="320040" y="2322576"/>
            <a:ext cx="850392" cy="65836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 y="2359152"/>
            <a:ext cx="758952" cy="612648"/>
          </a:xfrm>
          <a:prstGeom prst="rect">
            <a:avLst/>
          </a:prstGeom>
          <a:noFill/>
        </p:spPr>
        <p:txBody>
          <a:bodyPr wrap="square">
            <a:spAutoFit/>
          </a:bodyPr>
          <a:lstStyle/>
          <a:p>
            <a:pPr algn="l"/>
            <a:r>
              <a:rPr sz="650" b="1" i="0">
                <a:solidFill>
                  <a:srgbClr val="FFFFFF"/>
                </a:solidFill>
                <a:latin typeface="Montserrat"/>
              </a:rPr>
              <a:t>Oct–Feb</a:t>
            </a:r>
          </a:p>
        </p:txBody>
      </p:sp>
      <p:sp>
        <p:nvSpPr>
          <p:cNvPr id="42" name="Rectangle 41"/>
          <p:cNvSpPr/>
          <p:nvPr/>
        </p:nvSpPr>
        <p:spPr>
          <a:xfrm>
            <a:off x="1170432" y="2322576"/>
            <a:ext cx="1530705"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25296" y="2359152"/>
            <a:ext cx="1439265" cy="612648"/>
          </a:xfrm>
          <a:prstGeom prst="rect">
            <a:avLst/>
          </a:prstGeom>
          <a:noFill/>
        </p:spPr>
        <p:txBody>
          <a:bodyPr wrap="square">
            <a:spAutoFit/>
          </a:bodyPr>
          <a:lstStyle/>
          <a:p>
            <a:pPr algn="l"/>
            <a:r>
              <a:rPr sz="750" b="1" i="0">
                <a:solidFill>
                  <a:srgbClr val="0F3460"/>
                </a:solidFill>
                <a:latin typeface="Calibri"/>
              </a:rPr>
              <a:t>Ambassador-led open house</a:t>
            </a:r>
          </a:p>
        </p:txBody>
      </p:sp>
      <p:sp>
        <p:nvSpPr>
          <p:cNvPr id="44" name="Rectangle 43"/>
          <p:cNvSpPr/>
          <p:nvPr/>
        </p:nvSpPr>
        <p:spPr>
          <a:xfrm>
            <a:off x="2701137" y="2322576"/>
            <a:ext cx="1955901"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56001" y="2359152"/>
            <a:ext cx="1864461" cy="612648"/>
          </a:xfrm>
          <a:prstGeom prst="rect">
            <a:avLst/>
          </a:prstGeom>
          <a:noFill/>
        </p:spPr>
        <p:txBody>
          <a:bodyPr wrap="square">
            <a:spAutoFit/>
          </a:bodyPr>
          <a:lstStyle/>
          <a:p>
            <a:pPr algn="l"/>
            <a:r>
              <a:rPr sz="700" b="0" i="0">
                <a:solidFill>
                  <a:srgbClr val="4A5568"/>
                </a:solidFill>
                <a:latin typeface="Calibri"/>
              </a:rPr>
              <a:t>Brief 2–3 FRNYC students; assign to small groups. Each shares one concrete outcome they earned.
Success: 8th graders hear a real outcome from a current student.</a:t>
            </a:r>
          </a:p>
        </p:txBody>
      </p:sp>
      <p:sp>
        <p:nvSpPr>
          <p:cNvPr id="46" name="Rectangle 45"/>
          <p:cNvSpPr/>
          <p:nvPr/>
        </p:nvSpPr>
        <p:spPr>
          <a:xfrm>
            <a:off x="4657039" y="2322576"/>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11903" y="2359152"/>
            <a:ext cx="758952" cy="612648"/>
          </a:xfrm>
          <a:prstGeom prst="rect">
            <a:avLst/>
          </a:prstGeom>
          <a:noFill/>
        </p:spPr>
        <p:txBody>
          <a:bodyPr wrap="square">
            <a:spAutoFit/>
          </a:bodyPr>
          <a:lstStyle/>
          <a:p>
            <a:pPr algn="l"/>
            <a:r>
              <a:rPr sz="700" b="0" i="0">
                <a:solidFill>
                  <a:srgbClr val="4A5568"/>
                </a:solidFill>
                <a:latin typeface="Calibri"/>
              </a:rPr>
              <a:t>Prospective students (8th)</a:t>
            </a:r>
          </a:p>
        </p:txBody>
      </p:sp>
      <p:sp>
        <p:nvSpPr>
          <p:cNvPr id="48" name="Rectangle 47"/>
          <p:cNvSpPr/>
          <p:nvPr/>
        </p:nvSpPr>
        <p:spPr>
          <a:xfrm>
            <a:off x="5507431" y="2322576"/>
            <a:ext cx="1020470"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62295" y="2359152"/>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50" name="Rectangle 49"/>
          <p:cNvSpPr/>
          <p:nvPr/>
        </p:nvSpPr>
        <p:spPr>
          <a:xfrm>
            <a:off x="6527901" y="2322576"/>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2765" y="2359152"/>
            <a:ext cx="758952" cy="612648"/>
          </a:xfrm>
          <a:prstGeom prst="rect">
            <a:avLst/>
          </a:prstGeom>
          <a:noFill/>
        </p:spPr>
        <p:txBody>
          <a:bodyPr wrap="square">
            <a:spAutoFit/>
          </a:bodyPr>
          <a:lstStyle/>
          <a:p>
            <a:pPr algn="l"/>
            <a:r>
              <a:rPr sz="700" b="0" i="0">
                <a:solidFill>
                  <a:srgbClr val="B5162B"/>
                </a:solidFill>
                <a:latin typeface="Calibri"/>
              </a:rPr>
              <a:t>Recruitment</a:t>
            </a:r>
          </a:p>
        </p:txBody>
      </p:sp>
      <p:sp>
        <p:nvSpPr>
          <p:cNvPr id="52" name="Rectangle 51"/>
          <p:cNvSpPr/>
          <p:nvPr/>
        </p:nvSpPr>
        <p:spPr>
          <a:xfrm>
            <a:off x="7378293" y="2322576"/>
            <a:ext cx="1445666"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33157" y="2359152"/>
            <a:ext cx="1354226" cy="612648"/>
          </a:xfrm>
          <a:prstGeom prst="rect">
            <a:avLst/>
          </a:prstGeom>
          <a:noFill/>
        </p:spPr>
        <p:txBody>
          <a:bodyPr wrap="square">
            <a:spAutoFit/>
          </a:bodyPr>
          <a:lstStyle/>
          <a:p>
            <a:pPr algn="l"/>
            <a:r>
              <a:rPr sz="700" b="0" i="0">
                <a:solidFill>
                  <a:srgbClr val="4A5568"/>
                </a:solidFill>
                <a:latin typeface="Calibri"/>
              </a:rPr>
              <a:t>No direct KIM
Pipeline to A3</a:t>
            </a:r>
          </a:p>
        </p:txBody>
      </p:sp>
      <p:sp>
        <p:nvSpPr>
          <p:cNvPr id="54" name="Rectangle 53"/>
          <p:cNvSpPr/>
          <p:nvPr/>
        </p:nvSpPr>
        <p:spPr>
          <a:xfrm>
            <a:off x="320040" y="2980944"/>
            <a:ext cx="850392" cy="658368"/>
          </a:xfrm>
          <a:prstGeom prst="rect">
            <a:avLst/>
          </a:prstGeom>
          <a:solidFill>
            <a:srgbClr val="036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74904" y="3017520"/>
            <a:ext cx="758952" cy="612648"/>
          </a:xfrm>
          <a:prstGeom prst="rect">
            <a:avLst/>
          </a:prstGeom>
          <a:noFill/>
        </p:spPr>
        <p:txBody>
          <a:bodyPr wrap="square">
            <a:spAutoFit/>
          </a:bodyPr>
          <a:lstStyle/>
          <a:p>
            <a:pPr algn="l"/>
            <a:r>
              <a:rPr sz="650" b="1" i="0">
                <a:solidFill>
                  <a:srgbClr val="FFFFFF"/>
                </a:solidFill>
                <a:latin typeface="Montserrat"/>
              </a:rPr>
              <a:t>Oct–Feb</a:t>
            </a:r>
          </a:p>
        </p:txBody>
      </p:sp>
      <p:sp>
        <p:nvSpPr>
          <p:cNvPr id="56" name="Rectangle 55"/>
          <p:cNvSpPr/>
          <p:nvPr/>
        </p:nvSpPr>
        <p:spPr>
          <a:xfrm>
            <a:off x="1170432" y="2980944"/>
            <a:ext cx="1530705"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25296" y="3017520"/>
            <a:ext cx="1439265" cy="612648"/>
          </a:xfrm>
          <a:prstGeom prst="rect">
            <a:avLst/>
          </a:prstGeom>
          <a:noFill/>
        </p:spPr>
        <p:txBody>
          <a:bodyPr wrap="square">
            <a:spAutoFit/>
          </a:bodyPr>
          <a:lstStyle/>
          <a:p>
            <a:pPr algn="l"/>
            <a:r>
              <a:rPr sz="750" b="1" i="0">
                <a:solidFill>
                  <a:srgbClr val="0F3460"/>
                </a:solidFill>
                <a:latin typeface="Calibri"/>
              </a:rPr>
              <a:t>Feeder school outreach + invite to FRNYC event</a:t>
            </a:r>
          </a:p>
        </p:txBody>
      </p:sp>
      <p:sp>
        <p:nvSpPr>
          <p:cNvPr id="58" name="Rectangle 57"/>
          <p:cNvSpPr/>
          <p:nvPr/>
        </p:nvSpPr>
        <p:spPr>
          <a:xfrm>
            <a:off x="2701137" y="2980944"/>
            <a:ext cx="195590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56001" y="3017520"/>
            <a:ext cx="1864461" cy="612648"/>
          </a:xfrm>
          <a:prstGeom prst="rect">
            <a:avLst/>
          </a:prstGeom>
          <a:noFill/>
        </p:spPr>
        <p:txBody>
          <a:bodyPr wrap="square">
            <a:spAutoFit/>
          </a:bodyPr>
          <a:lstStyle/>
          <a:p>
            <a:pPr algn="l"/>
            <a:r>
              <a:rPr sz="700" b="0" i="0">
                <a:solidFill>
                  <a:srgbClr val="4A5568"/>
                </a:solidFill>
                <a:latin typeface="Calibri"/>
              </a:rPr>
              <a:t>Contact 3–5 feeder school counselors; offer tour or ambassador visit. Invite 8th graders to showcase — no application required.
Success: 2+ feeder visits done; students see FRNYC in action.</a:t>
            </a:r>
          </a:p>
        </p:txBody>
      </p:sp>
      <p:sp>
        <p:nvSpPr>
          <p:cNvPr id="60" name="Rectangle 59"/>
          <p:cNvSpPr/>
          <p:nvPr/>
        </p:nvSpPr>
        <p:spPr>
          <a:xfrm>
            <a:off x="4657039" y="2980944"/>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11903" y="3017520"/>
            <a:ext cx="758952" cy="612648"/>
          </a:xfrm>
          <a:prstGeom prst="rect">
            <a:avLst/>
          </a:prstGeom>
          <a:noFill/>
        </p:spPr>
        <p:txBody>
          <a:bodyPr wrap="square">
            <a:spAutoFit/>
          </a:bodyPr>
          <a:lstStyle/>
          <a:p>
            <a:pPr algn="l"/>
            <a:r>
              <a:rPr sz="700" b="0" i="0">
                <a:solidFill>
                  <a:srgbClr val="4A5568"/>
                </a:solidFill>
                <a:latin typeface="Calibri"/>
              </a:rPr>
              <a:t>Prospective students &amp; families</a:t>
            </a:r>
          </a:p>
        </p:txBody>
      </p:sp>
      <p:sp>
        <p:nvSpPr>
          <p:cNvPr id="62" name="Rectangle 61"/>
          <p:cNvSpPr/>
          <p:nvPr/>
        </p:nvSpPr>
        <p:spPr>
          <a:xfrm>
            <a:off x="5507431" y="2980944"/>
            <a:ext cx="102047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562295" y="3017520"/>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64" name="Rectangle 63"/>
          <p:cNvSpPr/>
          <p:nvPr/>
        </p:nvSpPr>
        <p:spPr>
          <a:xfrm>
            <a:off x="6527901" y="2980944"/>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82765" y="3017520"/>
            <a:ext cx="758952" cy="612648"/>
          </a:xfrm>
          <a:prstGeom prst="rect">
            <a:avLst/>
          </a:prstGeom>
          <a:noFill/>
        </p:spPr>
        <p:txBody>
          <a:bodyPr wrap="square">
            <a:spAutoFit/>
          </a:bodyPr>
          <a:lstStyle/>
          <a:p>
            <a:pPr algn="l"/>
            <a:r>
              <a:rPr sz="700" b="0" i="0">
                <a:solidFill>
                  <a:srgbClr val="B5162B"/>
                </a:solidFill>
                <a:latin typeface="Calibri"/>
              </a:rPr>
              <a:t>Recruitment</a:t>
            </a:r>
          </a:p>
        </p:txBody>
      </p:sp>
      <p:sp>
        <p:nvSpPr>
          <p:cNvPr id="66" name="Rectangle 65"/>
          <p:cNvSpPr/>
          <p:nvPr/>
        </p:nvSpPr>
        <p:spPr>
          <a:xfrm>
            <a:off x="7378293" y="2980944"/>
            <a:ext cx="144566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3157" y="3017520"/>
            <a:ext cx="1354226" cy="612648"/>
          </a:xfrm>
          <a:prstGeom prst="rect">
            <a:avLst/>
          </a:prstGeom>
          <a:noFill/>
        </p:spPr>
        <p:txBody>
          <a:bodyPr wrap="square">
            <a:spAutoFit/>
          </a:bodyPr>
          <a:lstStyle/>
          <a:p>
            <a:pPr algn="l"/>
            <a:r>
              <a:rPr sz="700" b="0" i="0">
                <a:solidFill>
                  <a:srgbClr val="4A5568"/>
                </a:solidFill>
                <a:latin typeface="Calibri"/>
              </a:rPr>
              <a:t>No direct KIM
Supports A6</a:t>
            </a:r>
          </a:p>
        </p:txBody>
      </p:sp>
      <p:sp>
        <p:nvSpPr>
          <p:cNvPr id="68" name="Rectangle 67"/>
          <p:cNvSpPr/>
          <p:nvPr/>
        </p:nvSpPr>
        <p:spPr>
          <a:xfrm>
            <a:off x="320040" y="3730752"/>
            <a:ext cx="8503920" cy="347472"/>
          </a:xfrm>
          <a:prstGeom prst="rect">
            <a:avLst/>
          </a:prstGeom>
          <a:solidFill>
            <a:srgbClr val="FEFCE8"/>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3785616"/>
            <a:ext cx="8229600" cy="256032"/>
          </a:xfrm>
          <a:prstGeom prst="rect">
            <a:avLst/>
          </a:prstGeom>
          <a:noFill/>
        </p:spPr>
        <p:txBody>
          <a:bodyPr wrap="square">
            <a:spAutoFit/>
          </a:bodyPr>
          <a:lstStyle/>
          <a:p>
            <a:pPr algn="l"/>
            <a:r>
              <a:rPr sz="750" b="0" i="0">
                <a:solidFill>
                  <a:srgbClr val="78350F"/>
                </a:solidFill>
                <a:latin typeface="Calibri"/>
              </a:rPr>
              <a:t>Year 0 tip: Start with your own students first. Identify 2–3 excited 10th or 11th graders and prepare them as ambassadors before any external outreach. Each one shares: one outcome earned, one thing learned, and why they chose this pathway.</a:t>
            </a:r>
          </a:p>
        </p:txBody>
      </p:sp>
      <p:sp>
        <p:nvSpPr>
          <p:cNvPr id="70" name="Rectangle 69"/>
          <p:cNvSpPr/>
          <p:nvPr/>
        </p:nvSpPr>
        <p:spPr>
          <a:xfrm>
            <a:off x="320040" y="4169664"/>
            <a:ext cx="8503920" cy="54864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1480" y="4215384"/>
            <a:ext cx="2743200" cy="164592"/>
          </a:xfrm>
          <a:prstGeom prst="rect">
            <a:avLst/>
          </a:prstGeom>
          <a:noFill/>
        </p:spPr>
        <p:txBody>
          <a:bodyPr wrap="square">
            <a:spAutoFit/>
          </a:bodyPr>
          <a:lstStyle/>
          <a:p>
            <a:pPr algn="l"/>
            <a:r>
              <a:rPr sz="650" b="1" i="0">
                <a:solidFill>
                  <a:srgbClr val="0F3460"/>
                </a:solidFill>
                <a:latin typeface="Montserrat"/>
              </a:rPr>
              <a:t>KIM REFERENCE</a:t>
            </a:r>
          </a:p>
        </p:txBody>
      </p:sp>
      <p:sp>
        <p:nvSpPr>
          <p:cNvPr id="72" name="Rectangle 71"/>
          <p:cNvSpPr/>
          <p:nvPr/>
        </p:nvSpPr>
        <p:spPr>
          <a:xfrm>
            <a:off x="411480" y="4370832"/>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48056" y="4379976"/>
            <a:ext cx="310896" cy="146304"/>
          </a:xfrm>
          <a:prstGeom prst="rect">
            <a:avLst/>
          </a:prstGeom>
          <a:noFill/>
        </p:spPr>
        <p:txBody>
          <a:bodyPr wrap="square">
            <a:spAutoFit/>
          </a:bodyPr>
          <a:lstStyle/>
          <a:p>
            <a:pPr algn="l"/>
            <a:r>
              <a:rPr sz="600" b="1" i="0">
                <a:solidFill>
                  <a:srgbClr val="FFFFFF"/>
                </a:solidFill>
                <a:latin typeface="Montserrat"/>
              </a:rPr>
              <a:t>A6</a:t>
            </a:r>
          </a:p>
        </p:txBody>
      </p:sp>
      <p:sp>
        <p:nvSpPr>
          <p:cNvPr id="74" name="TextBox 73"/>
          <p:cNvSpPr txBox="1"/>
          <p:nvPr/>
        </p:nvSpPr>
        <p:spPr>
          <a:xfrm>
            <a:off x="813816" y="4379976"/>
            <a:ext cx="1463040" cy="256032"/>
          </a:xfrm>
          <a:prstGeom prst="rect">
            <a:avLst/>
          </a:prstGeom>
          <a:noFill/>
        </p:spPr>
        <p:txBody>
          <a:bodyPr wrap="square">
            <a:spAutoFit/>
          </a:bodyPr>
          <a:lstStyle/>
          <a:p>
            <a:pPr algn="l"/>
            <a:r>
              <a:rPr sz="650" b="0" i="0">
                <a:solidFill>
                  <a:srgbClr val="4A5568"/>
                </a:solidFill>
                <a:latin typeface="Calibri"/>
              </a:rPr>
              <a:t>Plan to equitably recruit &amp; support underserved groups — nearest KIM anchor for 8th-grade outreach</a:t>
            </a:r>
          </a:p>
        </p:txBody>
      </p:sp>
      <p:sp>
        <p:nvSpPr>
          <p:cNvPr id="75" name="Rectangle 74"/>
          <p:cNvSpPr/>
          <p:nvPr/>
        </p:nvSpPr>
        <p:spPr>
          <a:xfrm>
            <a:off x="2468880" y="4370832"/>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505456" y="4379976"/>
            <a:ext cx="310896" cy="146304"/>
          </a:xfrm>
          <a:prstGeom prst="rect">
            <a:avLst/>
          </a:prstGeom>
          <a:noFill/>
        </p:spPr>
        <p:txBody>
          <a:bodyPr wrap="square">
            <a:spAutoFit/>
          </a:bodyPr>
          <a:lstStyle/>
          <a:p>
            <a:pPr algn="l"/>
            <a:r>
              <a:rPr sz="600" b="1" i="0">
                <a:solidFill>
                  <a:srgbClr val="FFFFFF"/>
                </a:solidFill>
                <a:latin typeface="Montserrat"/>
              </a:rPr>
              <a:t>A3</a:t>
            </a:r>
          </a:p>
        </p:txBody>
      </p:sp>
      <p:sp>
        <p:nvSpPr>
          <p:cNvPr id="77" name="TextBox 76"/>
          <p:cNvSpPr txBox="1"/>
          <p:nvPr/>
        </p:nvSpPr>
        <p:spPr>
          <a:xfrm>
            <a:off x="2871216" y="4379976"/>
            <a:ext cx="1463040" cy="256032"/>
          </a:xfrm>
          <a:prstGeom prst="rect">
            <a:avLst/>
          </a:prstGeom>
          <a:noFill/>
        </p:spPr>
        <p:txBody>
          <a:bodyPr wrap="square">
            <a:spAutoFit/>
          </a:bodyPr>
          <a:lstStyle/>
          <a:p>
            <a:pPr algn="l"/>
            <a:r>
              <a:rPr sz="650" b="0" i="0">
                <a:solidFill>
                  <a:srgbClr val="4A5568"/>
                </a:solidFill>
                <a:latin typeface="Calibri"/>
              </a:rPr>
              <a:t>10th–12th graders in STARS — downstream outcome these activities build toward</a:t>
            </a:r>
          </a:p>
        </p:txBody>
      </p:sp>
      <p:sp>
        <p:nvSpPr>
          <p:cNvPr id="78" name="Rectangle 77"/>
          <p:cNvSpPr/>
          <p:nvPr/>
        </p:nvSpPr>
        <p:spPr>
          <a:xfrm>
            <a:off x="0" y="6537960"/>
            <a:ext cx="9144000" cy="3200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595360" y="6583680"/>
            <a:ext cx="365760" cy="320040"/>
          </a:xfrm>
          <a:prstGeom prst="rect">
            <a:avLst/>
          </a:prstGeom>
          <a:noFill/>
        </p:spPr>
        <p:txBody>
          <a:bodyPr wrap="square">
            <a:spAutoFit/>
          </a:bodyPr>
          <a:lstStyle/>
          <a:p>
            <a:pPr algn="r"/>
            <a:r>
              <a:rPr sz="800" b="1" i="0">
                <a:solidFill>
                  <a:srgbClr val="4A5568"/>
                </a:solidFill>
                <a:latin typeface="Montserrat"/>
              </a:rPr>
              <a:t>3</a:t>
            </a:r>
          </a:p>
        </p:txBody>
      </p:sp>
      <p:sp>
        <p:nvSpPr>
          <p:cNvPr id="80" name="TextBox 79"/>
          <p:cNvSpPr txBox="1"/>
          <p:nvPr/>
        </p:nvSpPr>
        <p:spPr>
          <a:xfrm>
            <a:off x="365760" y="6601968"/>
            <a:ext cx="5486400" cy="320040"/>
          </a:xfrm>
          <a:prstGeom prst="rect">
            <a:avLst/>
          </a:prstGeom>
          <a:noFill/>
        </p:spPr>
        <p:txBody>
          <a:bodyPr wrap="square">
            <a:spAutoFit/>
          </a:bodyPr>
          <a:lstStyle/>
          <a:p>
            <a:pPr algn="l"/>
            <a:r>
              <a:rPr sz="700" b="0" i="0">
                <a:solidFill>
                  <a:srgbClr val="4A5568"/>
                </a:solidFill>
                <a:latin typeface="Calibri"/>
              </a:rPr>
              <a:t>FutureReady NYC  ·  NYCPS Office of Student Pathways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8000"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8000" y="0"/>
            <a:ext cx="3048000"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0" y="0"/>
            <a:ext cx="3048000" cy="7315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73152"/>
            <a:ext cx="9144000" cy="45720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6304"/>
            <a:ext cx="7315200" cy="457200"/>
          </a:xfrm>
          <a:prstGeom prst="rect">
            <a:avLst/>
          </a:prstGeom>
          <a:noFill/>
        </p:spPr>
        <p:txBody>
          <a:bodyPr wrap="square">
            <a:spAutoFit/>
          </a:bodyPr>
          <a:lstStyle/>
          <a:p>
            <a:pPr algn="l"/>
            <a:r>
              <a:rPr sz="750" b="1" i="0">
                <a:solidFill>
                  <a:srgbClr val="0F3460"/>
                </a:solidFill>
                <a:latin typeface="Montserrat"/>
              </a:rPr>
              <a:t>9TH GRADE — EXPLORATION &amp; COHORT CONVERSION</a:t>
            </a:r>
          </a:p>
        </p:txBody>
      </p:sp>
      <p:sp>
        <p:nvSpPr>
          <p:cNvPr id="7" name="Rectangle 6"/>
          <p:cNvSpPr/>
          <p:nvPr/>
        </p:nvSpPr>
        <p:spPr>
          <a:xfrm>
            <a:off x="320040" y="566928"/>
            <a:ext cx="8503920" cy="8229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30936"/>
            <a:ext cx="5486400" cy="164592"/>
          </a:xfrm>
          <a:prstGeom prst="rect">
            <a:avLst/>
          </a:prstGeom>
          <a:noFill/>
        </p:spPr>
        <p:txBody>
          <a:bodyPr wrap="square">
            <a:spAutoFit/>
          </a:bodyPr>
          <a:lstStyle/>
          <a:p>
            <a:pPr algn="l"/>
            <a:r>
              <a:rPr sz="650" b="1" i="0">
                <a:solidFill>
                  <a:srgbClr val="FFFFFF"/>
                </a:solidFill>
                <a:latin typeface="Montserrat"/>
              </a:rPr>
              <a:t>EXPLORATION &amp; INTEREST ALIGNMENT → COHORT CONVERSION</a:t>
            </a:r>
          </a:p>
        </p:txBody>
      </p:sp>
      <p:sp>
        <p:nvSpPr>
          <p:cNvPr id="9" name="TextBox 8"/>
          <p:cNvSpPr txBox="1"/>
          <p:nvPr/>
        </p:nvSpPr>
        <p:spPr>
          <a:xfrm>
            <a:off x="457200" y="768096"/>
            <a:ext cx="5486400" cy="320040"/>
          </a:xfrm>
          <a:prstGeom prst="rect">
            <a:avLst/>
          </a:prstGeom>
          <a:noFill/>
        </p:spPr>
        <p:txBody>
          <a:bodyPr wrap="square">
            <a:spAutoFit/>
          </a:bodyPr>
          <a:lstStyle/>
          <a:p>
            <a:pPr algn="l"/>
            <a:r>
              <a:rPr sz="1800" b="1" i="0">
                <a:solidFill>
                  <a:srgbClr val="FFFFFF"/>
                </a:solidFill>
                <a:latin typeface="Montserrat"/>
              </a:rPr>
              <a:t>9TH GRADE</a:t>
            </a:r>
          </a:p>
        </p:txBody>
      </p:sp>
      <p:sp>
        <p:nvSpPr>
          <p:cNvPr id="10" name="TextBox 9"/>
          <p:cNvSpPr txBox="1"/>
          <p:nvPr/>
        </p:nvSpPr>
        <p:spPr>
          <a:xfrm>
            <a:off x="457200" y="1078992"/>
            <a:ext cx="6858000" cy="292608"/>
          </a:xfrm>
          <a:prstGeom prst="rect">
            <a:avLst/>
          </a:prstGeom>
          <a:noFill/>
        </p:spPr>
        <p:txBody>
          <a:bodyPr wrap="square">
            <a:spAutoFit/>
          </a:bodyPr>
          <a:lstStyle/>
          <a:p>
            <a:pPr algn="l"/>
            <a:r>
              <a:rPr sz="800" b="0" i="1">
                <a:solidFill>
                  <a:srgbClr val="FFFFFF"/>
                </a:solidFill>
                <a:latin typeface="Calibri"/>
              </a:rPr>
              <a:t>Goal: Every 9th grader explores career options and can say whether FRNYC fits. Cohort confirmed before year-end. KIM chain: C20 → D32 → D34 → D30.</a:t>
            </a:r>
          </a:p>
        </p:txBody>
      </p:sp>
      <p:sp>
        <p:nvSpPr>
          <p:cNvPr id="11" name="TextBox 10"/>
          <p:cNvSpPr txBox="1"/>
          <p:nvPr/>
        </p:nvSpPr>
        <p:spPr>
          <a:xfrm>
            <a:off x="7863840" y="585216"/>
            <a:ext cx="1097280" cy="777240"/>
          </a:xfrm>
          <a:prstGeom prst="rect">
            <a:avLst/>
          </a:prstGeom>
          <a:noFill/>
        </p:spPr>
        <p:txBody>
          <a:bodyPr wrap="square">
            <a:spAutoFit/>
          </a:bodyPr>
          <a:lstStyle/>
          <a:p>
            <a:pPr algn="r"/>
            <a:r>
              <a:rPr sz="5200" b="1" i="0">
                <a:solidFill>
                  <a:srgbClr val="FFFFFF"/>
                </a:solidFill>
                <a:latin typeface="Montserrat"/>
              </a:rPr>
              <a:t>9</a:t>
            </a:r>
          </a:p>
        </p:txBody>
      </p:sp>
      <p:sp>
        <p:nvSpPr>
          <p:cNvPr id="12" name="Rectangle 11"/>
          <p:cNvSpPr/>
          <p:nvPr/>
        </p:nvSpPr>
        <p:spPr>
          <a:xfrm>
            <a:off x="320040"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 y="1499616"/>
            <a:ext cx="777240" cy="201168"/>
          </a:xfrm>
          <a:prstGeom prst="rect">
            <a:avLst/>
          </a:prstGeom>
          <a:noFill/>
        </p:spPr>
        <p:txBody>
          <a:bodyPr wrap="square">
            <a:spAutoFit/>
          </a:bodyPr>
          <a:lstStyle/>
          <a:p>
            <a:pPr algn="l"/>
            <a:r>
              <a:rPr sz="650" b="1" i="0">
                <a:solidFill>
                  <a:srgbClr val="FFFFFF"/>
                </a:solidFill>
                <a:latin typeface="Montserrat"/>
              </a:rPr>
              <a:t>WHEN</a:t>
            </a:r>
          </a:p>
        </p:txBody>
      </p:sp>
      <p:sp>
        <p:nvSpPr>
          <p:cNvPr id="14" name="Rectangle 13"/>
          <p:cNvSpPr/>
          <p:nvPr/>
        </p:nvSpPr>
        <p:spPr>
          <a:xfrm>
            <a:off x="1170432" y="1463040"/>
            <a:ext cx="1530705"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25296" y="1499616"/>
            <a:ext cx="1457553" cy="201168"/>
          </a:xfrm>
          <a:prstGeom prst="rect">
            <a:avLst/>
          </a:prstGeom>
          <a:noFill/>
        </p:spPr>
        <p:txBody>
          <a:bodyPr wrap="square">
            <a:spAutoFit/>
          </a:bodyPr>
          <a:lstStyle/>
          <a:p>
            <a:pPr algn="l"/>
            <a:r>
              <a:rPr sz="650" b="1" i="0">
                <a:solidFill>
                  <a:srgbClr val="FFFFFF"/>
                </a:solidFill>
                <a:latin typeface="Montserrat"/>
              </a:rPr>
              <a:t>ACTIVITY</a:t>
            </a:r>
          </a:p>
        </p:txBody>
      </p:sp>
      <p:sp>
        <p:nvSpPr>
          <p:cNvPr id="16" name="Rectangle 15"/>
          <p:cNvSpPr/>
          <p:nvPr/>
        </p:nvSpPr>
        <p:spPr>
          <a:xfrm>
            <a:off x="2701137" y="1463040"/>
            <a:ext cx="1955901"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56001" y="1499616"/>
            <a:ext cx="1882749" cy="201168"/>
          </a:xfrm>
          <a:prstGeom prst="rect">
            <a:avLst/>
          </a:prstGeom>
          <a:noFill/>
        </p:spPr>
        <p:txBody>
          <a:bodyPr wrap="square">
            <a:spAutoFit/>
          </a:bodyPr>
          <a:lstStyle/>
          <a:p>
            <a:pPr algn="l"/>
            <a:r>
              <a:rPr sz="650" b="1" i="0">
                <a:solidFill>
                  <a:srgbClr val="FFFFFF"/>
                </a:solidFill>
                <a:latin typeface="Montserrat"/>
              </a:rPr>
              <a:t>PURPOSE &amp; SUCCESS</a:t>
            </a:r>
          </a:p>
        </p:txBody>
      </p:sp>
      <p:sp>
        <p:nvSpPr>
          <p:cNvPr id="18" name="Rectangle 17"/>
          <p:cNvSpPr/>
          <p:nvPr/>
        </p:nvSpPr>
        <p:spPr>
          <a:xfrm>
            <a:off x="4657039"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11903" y="1499616"/>
            <a:ext cx="777240" cy="201168"/>
          </a:xfrm>
          <a:prstGeom prst="rect">
            <a:avLst/>
          </a:prstGeom>
          <a:noFill/>
        </p:spPr>
        <p:txBody>
          <a:bodyPr wrap="square">
            <a:spAutoFit/>
          </a:bodyPr>
          <a:lstStyle/>
          <a:p>
            <a:pPr algn="l"/>
            <a:r>
              <a:rPr sz="650" b="1" i="0">
                <a:solidFill>
                  <a:srgbClr val="FFFFFF"/>
                </a:solidFill>
                <a:latin typeface="Montserrat"/>
              </a:rPr>
              <a:t>AUDIENCE</a:t>
            </a:r>
          </a:p>
        </p:txBody>
      </p:sp>
      <p:sp>
        <p:nvSpPr>
          <p:cNvPr id="20" name="Rectangle 19"/>
          <p:cNvSpPr/>
          <p:nvPr/>
        </p:nvSpPr>
        <p:spPr>
          <a:xfrm>
            <a:off x="5507431" y="1463040"/>
            <a:ext cx="1020470"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62295" y="1499616"/>
            <a:ext cx="947318" cy="201168"/>
          </a:xfrm>
          <a:prstGeom prst="rect">
            <a:avLst/>
          </a:prstGeom>
          <a:noFill/>
        </p:spPr>
        <p:txBody>
          <a:bodyPr wrap="square">
            <a:spAutoFit/>
          </a:bodyPr>
          <a:lstStyle/>
          <a:p>
            <a:pPr algn="l"/>
            <a:r>
              <a:rPr sz="650" b="1" i="0">
                <a:solidFill>
                  <a:srgbClr val="FFFFFF"/>
                </a:solidFill>
                <a:latin typeface="Montserrat"/>
              </a:rPr>
              <a:t>POINT PERSON</a:t>
            </a:r>
          </a:p>
        </p:txBody>
      </p:sp>
      <p:sp>
        <p:nvSpPr>
          <p:cNvPr id="22" name="Rectangle 21"/>
          <p:cNvSpPr/>
          <p:nvPr/>
        </p:nvSpPr>
        <p:spPr>
          <a:xfrm>
            <a:off x="6527901"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2765" y="1499616"/>
            <a:ext cx="777240" cy="201168"/>
          </a:xfrm>
          <a:prstGeom prst="rect">
            <a:avLst/>
          </a:prstGeom>
          <a:noFill/>
        </p:spPr>
        <p:txBody>
          <a:bodyPr wrap="square">
            <a:spAutoFit/>
          </a:bodyPr>
          <a:lstStyle/>
          <a:p>
            <a:pPr algn="l"/>
            <a:r>
              <a:rPr sz="650" b="1" i="0">
                <a:solidFill>
                  <a:srgbClr val="FFFFFF"/>
                </a:solidFill>
                <a:latin typeface="Montserrat"/>
              </a:rPr>
              <a:t>CATEGORY</a:t>
            </a:r>
          </a:p>
        </p:txBody>
      </p:sp>
      <p:sp>
        <p:nvSpPr>
          <p:cNvPr id="24" name="Rectangle 23"/>
          <p:cNvSpPr/>
          <p:nvPr/>
        </p:nvSpPr>
        <p:spPr>
          <a:xfrm>
            <a:off x="7378293" y="1463040"/>
            <a:ext cx="1445666"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33157" y="1499616"/>
            <a:ext cx="1372514" cy="201168"/>
          </a:xfrm>
          <a:prstGeom prst="rect">
            <a:avLst/>
          </a:prstGeom>
          <a:noFill/>
        </p:spPr>
        <p:txBody>
          <a:bodyPr wrap="square">
            <a:spAutoFit/>
          </a:bodyPr>
          <a:lstStyle/>
          <a:p>
            <a:pPr algn="l"/>
            <a:r>
              <a:rPr sz="650" b="1" i="0">
                <a:solidFill>
                  <a:srgbClr val="FFFFFF"/>
                </a:solidFill>
                <a:latin typeface="Montserrat"/>
              </a:rPr>
              <a:t>KIM</a:t>
            </a:r>
          </a:p>
        </p:txBody>
      </p:sp>
      <p:sp>
        <p:nvSpPr>
          <p:cNvPr id="26" name="Rectangle 25"/>
          <p:cNvSpPr/>
          <p:nvPr/>
        </p:nvSpPr>
        <p:spPr>
          <a:xfrm>
            <a:off x="320040" y="1664208"/>
            <a:ext cx="850392" cy="5486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4" y="1700784"/>
            <a:ext cx="758952" cy="502920"/>
          </a:xfrm>
          <a:prstGeom prst="rect">
            <a:avLst/>
          </a:prstGeom>
          <a:noFill/>
        </p:spPr>
        <p:txBody>
          <a:bodyPr wrap="square">
            <a:spAutoFit/>
          </a:bodyPr>
          <a:lstStyle/>
          <a:p>
            <a:pPr algn="l"/>
            <a:r>
              <a:rPr sz="650" b="1" i="0">
                <a:solidFill>
                  <a:srgbClr val="FFFFFF"/>
                </a:solidFill>
                <a:latin typeface="Montserrat"/>
              </a:rPr>
              <a:t>Sept–June</a:t>
            </a:r>
          </a:p>
        </p:txBody>
      </p:sp>
      <p:sp>
        <p:nvSpPr>
          <p:cNvPr id="28" name="Rectangle 27"/>
          <p:cNvSpPr/>
          <p:nvPr/>
        </p:nvSpPr>
        <p:spPr>
          <a:xfrm>
            <a:off x="1170432" y="1664208"/>
            <a:ext cx="1530705"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25296" y="1700784"/>
            <a:ext cx="1439265" cy="502920"/>
          </a:xfrm>
          <a:prstGeom prst="rect">
            <a:avLst/>
          </a:prstGeom>
          <a:noFill/>
        </p:spPr>
        <p:txBody>
          <a:bodyPr wrap="square">
            <a:spAutoFit/>
          </a:bodyPr>
          <a:lstStyle/>
          <a:p>
            <a:pPr algn="l"/>
            <a:r>
              <a:rPr sz="750" b="1" i="0">
                <a:solidFill>
                  <a:srgbClr val="0F3460"/>
                </a:solidFill>
                <a:latin typeface="Calibri"/>
              </a:rPr>
              <a:t>Career Explorations — all 9th graders</a:t>
            </a:r>
          </a:p>
        </p:txBody>
      </p:sp>
      <p:sp>
        <p:nvSpPr>
          <p:cNvPr id="30" name="Rectangle 29"/>
          <p:cNvSpPr/>
          <p:nvPr/>
        </p:nvSpPr>
        <p:spPr>
          <a:xfrm>
            <a:off x="2701137" y="1664208"/>
            <a:ext cx="1955901"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56001" y="1700784"/>
            <a:ext cx="1864461" cy="502920"/>
          </a:xfrm>
          <a:prstGeom prst="rect">
            <a:avLst/>
          </a:prstGeom>
          <a:noFill/>
        </p:spPr>
        <p:txBody>
          <a:bodyPr wrap="square">
            <a:spAutoFit/>
          </a:bodyPr>
          <a:lstStyle/>
          <a:p>
            <a:pPr algn="l"/>
            <a:r>
              <a:rPr sz="700" b="0" i="0">
                <a:solidFill>
                  <a:srgbClr val="4A5568"/>
                </a:solidFill>
                <a:latin typeface="Calibri"/>
              </a:rPr>
              <a:t>Cover multiple career areas. Each student names one career area + one reason why.
Success: Every 9th grader can say whether FRNYC fits.</a:t>
            </a:r>
          </a:p>
        </p:txBody>
      </p:sp>
      <p:sp>
        <p:nvSpPr>
          <p:cNvPr id="32" name="Rectangle 31"/>
          <p:cNvSpPr/>
          <p:nvPr/>
        </p:nvSpPr>
        <p:spPr>
          <a:xfrm>
            <a:off x="4657039" y="1664208"/>
            <a:ext cx="85039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11903" y="1700784"/>
            <a:ext cx="758952" cy="502920"/>
          </a:xfrm>
          <a:prstGeom prst="rect">
            <a:avLst/>
          </a:prstGeom>
          <a:noFill/>
        </p:spPr>
        <p:txBody>
          <a:bodyPr wrap="square">
            <a:spAutoFit/>
          </a:bodyPr>
          <a:lstStyle/>
          <a:p>
            <a:pPr algn="l"/>
            <a:r>
              <a:rPr sz="700" b="0" i="0">
                <a:solidFill>
                  <a:srgbClr val="4A5568"/>
                </a:solidFill>
                <a:latin typeface="Calibri"/>
              </a:rPr>
              <a:t>Enrolled 9th graders</a:t>
            </a:r>
          </a:p>
        </p:txBody>
      </p:sp>
      <p:sp>
        <p:nvSpPr>
          <p:cNvPr id="34" name="Rectangle 33"/>
          <p:cNvSpPr/>
          <p:nvPr/>
        </p:nvSpPr>
        <p:spPr>
          <a:xfrm>
            <a:off x="5507431" y="1664208"/>
            <a:ext cx="102047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62295" y="1700784"/>
            <a:ext cx="929030" cy="502920"/>
          </a:xfrm>
          <a:prstGeom prst="rect">
            <a:avLst/>
          </a:prstGeom>
          <a:noFill/>
        </p:spPr>
        <p:txBody>
          <a:bodyPr wrap="square">
            <a:spAutoFit/>
          </a:bodyPr>
          <a:lstStyle/>
          <a:p>
            <a:pPr algn="l"/>
            <a:r>
              <a:rPr sz="700" b="0" i="0">
                <a:solidFill>
                  <a:srgbClr val="4A5568"/>
                </a:solidFill>
                <a:latin typeface="Calibri"/>
              </a:rPr>
              <a:t>Pathway Teacher</a:t>
            </a:r>
          </a:p>
        </p:txBody>
      </p:sp>
      <p:sp>
        <p:nvSpPr>
          <p:cNvPr id="36" name="Rectangle 35"/>
          <p:cNvSpPr/>
          <p:nvPr/>
        </p:nvSpPr>
        <p:spPr>
          <a:xfrm>
            <a:off x="6527901" y="1664208"/>
            <a:ext cx="85039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2765" y="1700784"/>
            <a:ext cx="758952" cy="502920"/>
          </a:xfrm>
          <a:prstGeom prst="rect">
            <a:avLst/>
          </a:prstGeom>
          <a:noFill/>
        </p:spPr>
        <p:txBody>
          <a:bodyPr wrap="square">
            <a:spAutoFit/>
          </a:bodyPr>
          <a:lstStyle/>
          <a:p>
            <a:pPr algn="l"/>
            <a:r>
              <a:rPr sz="700" b="0" i="0">
                <a:solidFill>
                  <a:srgbClr val="B5162B"/>
                </a:solidFill>
                <a:latin typeface="Calibri"/>
              </a:rPr>
              <a:t>Recruitment</a:t>
            </a:r>
          </a:p>
        </p:txBody>
      </p:sp>
      <p:sp>
        <p:nvSpPr>
          <p:cNvPr id="38" name="Rectangle 37"/>
          <p:cNvSpPr/>
          <p:nvPr/>
        </p:nvSpPr>
        <p:spPr>
          <a:xfrm>
            <a:off x="7378293" y="1664208"/>
            <a:ext cx="1445666"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33157" y="1700784"/>
            <a:ext cx="1354226" cy="502920"/>
          </a:xfrm>
          <a:prstGeom prst="rect">
            <a:avLst/>
          </a:prstGeom>
          <a:noFill/>
        </p:spPr>
        <p:txBody>
          <a:bodyPr wrap="square">
            <a:spAutoFit/>
          </a:bodyPr>
          <a:lstStyle/>
          <a:p>
            <a:pPr algn="l"/>
            <a:r>
              <a:rPr sz="700" b="0" i="0">
                <a:solidFill>
                  <a:srgbClr val="4A5568"/>
                </a:solidFill>
                <a:latin typeface="Calibri"/>
              </a:rPr>
              <a:t>C20 · D37</a:t>
            </a:r>
          </a:p>
        </p:txBody>
      </p:sp>
      <p:sp>
        <p:nvSpPr>
          <p:cNvPr id="40" name="Rectangle 39"/>
          <p:cNvSpPr/>
          <p:nvPr/>
        </p:nvSpPr>
        <p:spPr>
          <a:xfrm>
            <a:off x="320040" y="2212848"/>
            <a:ext cx="850392" cy="5486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 y="2249424"/>
            <a:ext cx="758952" cy="502920"/>
          </a:xfrm>
          <a:prstGeom prst="rect">
            <a:avLst/>
          </a:prstGeom>
          <a:noFill/>
        </p:spPr>
        <p:txBody>
          <a:bodyPr wrap="square">
            <a:spAutoFit/>
          </a:bodyPr>
          <a:lstStyle/>
          <a:p>
            <a:pPr algn="l"/>
            <a:r>
              <a:rPr sz="650" b="1" i="0">
                <a:solidFill>
                  <a:srgbClr val="FFFFFF"/>
                </a:solidFill>
                <a:latin typeface="Montserrat"/>
              </a:rPr>
              <a:t>Oct &amp; Mar</a:t>
            </a:r>
          </a:p>
        </p:txBody>
      </p:sp>
      <p:sp>
        <p:nvSpPr>
          <p:cNvPr id="42" name="Rectangle 41"/>
          <p:cNvSpPr/>
          <p:nvPr/>
        </p:nvSpPr>
        <p:spPr>
          <a:xfrm>
            <a:off x="1170432" y="2212848"/>
            <a:ext cx="1530705"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25296" y="2249424"/>
            <a:ext cx="1439265" cy="502920"/>
          </a:xfrm>
          <a:prstGeom prst="rect">
            <a:avLst/>
          </a:prstGeom>
          <a:noFill/>
        </p:spPr>
        <p:txBody>
          <a:bodyPr wrap="square">
            <a:spAutoFit/>
          </a:bodyPr>
          <a:lstStyle/>
          <a:p>
            <a:pPr algn="l"/>
            <a:r>
              <a:rPr sz="750" b="1" i="0">
                <a:solidFill>
                  <a:srgbClr val="0F3460"/>
                </a:solidFill>
                <a:latin typeface="Calibri"/>
              </a:rPr>
              <a:t>Ambassador visits to 9th grade advisories</a:t>
            </a:r>
          </a:p>
        </p:txBody>
      </p:sp>
      <p:sp>
        <p:nvSpPr>
          <p:cNvPr id="44" name="Rectangle 43"/>
          <p:cNvSpPr/>
          <p:nvPr/>
        </p:nvSpPr>
        <p:spPr>
          <a:xfrm>
            <a:off x="2701137" y="2212848"/>
            <a:ext cx="1955901"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56001" y="2249424"/>
            <a:ext cx="1864461" cy="502920"/>
          </a:xfrm>
          <a:prstGeom prst="rect">
            <a:avLst/>
          </a:prstGeom>
          <a:noFill/>
        </p:spPr>
        <p:txBody>
          <a:bodyPr wrap="square">
            <a:spAutoFit/>
          </a:bodyPr>
          <a:lstStyle/>
          <a:p>
            <a:pPr algn="l"/>
            <a:r>
              <a:rPr sz="700" b="0" i="0">
                <a:solidFill>
                  <a:srgbClr val="4A5568"/>
                </a:solidFill>
                <a:latin typeface="Calibri"/>
              </a:rPr>
              <a:t>Two visits per year using Advisory Slide Deck. Ambassadors share one thing they've done and earned.
Success: Every 9th grader has 2+ FRNYC exposures before the survey.</a:t>
            </a:r>
          </a:p>
        </p:txBody>
      </p:sp>
      <p:sp>
        <p:nvSpPr>
          <p:cNvPr id="46" name="Rectangle 45"/>
          <p:cNvSpPr/>
          <p:nvPr/>
        </p:nvSpPr>
        <p:spPr>
          <a:xfrm>
            <a:off x="4657039" y="2212848"/>
            <a:ext cx="850392"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11903" y="2249424"/>
            <a:ext cx="758952" cy="502920"/>
          </a:xfrm>
          <a:prstGeom prst="rect">
            <a:avLst/>
          </a:prstGeom>
          <a:noFill/>
        </p:spPr>
        <p:txBody>
          <a:bodyPr wrap="square">
            <a:spAutoFit/>
          </a:bodyPr>
          <a:lstStyle/>
          <a:p>
            <a:pPr algn="l"/>
            <a:r>
              <a:rPr sz="700" b="0" i="0">
                <a:solidFill>
                  <a:srgbClr val="4A5568"/>
                </a:solidFill>
                <a:latin typeface="Calibri"/>
              </a:rPr>
              <a:t>Enrolled 9th graders</a:t>
            </a:r>
          </a:p>
        </p:txBody>
      </p:sp>
      <p:sp>
        <p:nvSpPr>
          <p:cNvPr id="48" name="Rectangle 47"/>
          <p:cNvSpPr/>
          <p:nvPr/>
        </p:nvSpPr>
        <p:spPr>
          <a:xfrm>
            <a:off x="5507431" y="2212848"/>
            <a:ext cx="1020470"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62295" y="2249424"/>
            <a:ext cx="929030" cy="502920"/>
          </a:xfrm>
          <a:prstGeom prst="rect">
            <a:avLst/>
          </a:prstGeom>
          <a:noFill/>
        </p:spPr>
        <p:txBody>
          <a:bodyPr wrap="square">
            <a:spAutoFit/>
          </a:bodyPr>
          <a:lstStyle/>
          <a:p>
            <a:pPr algn="l"/>
            <a:r>
              <a:rPr sz="700" b="0" i="0">
                <a:solidFill>
                  <a:srgbClr val="4A5568"/>
                </a:solidFill>
                <a:latin typeface="Calibri"/>
              </a:rPr>
              <a:t>FRNYC Coordinator</a:t>
            </a:r>
          </a:p>
        </p:txBody>
      </p:sp>
      <p:sp>
        <p:nvSpPr>
          <p:cNvPr id="50" name="Rectangle 49"/>
          <p:cNvSpPr/>
          <p:nvPr/>
        </p:nvSpPr>
        <p:spPr>
          <a:xfrm>
            <a:off x="6527901" y="2212848"/>
            <a:ext cx="850392"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2765" y="2249424"/>
            <a:ext cx="758952" cy="502920"/>
          </a:xfrm>
          <a:prstGeom prst="rect">
            <a:avLst/>
          </a:prstGeom>
          <a:noFill/>
        </p:spPr>
        <p:txBody>
          <a:bodyPr wrap="square">
            <a:spAutoFit/>
          </a:bodyPr>
          <a:lstStyle/>
          <a:p>
            <a:pPr algn="l"/>
            <a:r>
              <a:rPr sz="700" b="0" i="0">
                <a:solidFill>
                  <a:srgbClr val="B5162B"/>
                </a:solidFill>
                <a:latin typeface="Calibri"/>
              </a:rPr>
              <a:t>Recruitment</a:t>
            </a:r>
          </a:p>
        </p:txBody>
      </p:sp>
      <p:sp>
        <p:nvSpPr>
          <p:cNvPr id="52" name="Rectangle 51"/>
          <p:cNvSpPr/>
          <p:nvPr/>
        </p:nvSpPr>
        <p:spPr>
          <a:xfrm>
            <a:off x="7378293" y="2212848"/>
            <a:ext cx="1445666"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33157" y="2249424"/>
            <a:ext cx="1354226" cy="502920"/>
          </a:xfrm>
          <a:prstGeom prst="rect">
            <a:avLst/>
          </a:prstGeom>
          <a:noFill/>
        </p:spPr>
        <p:txBody>
          <a:bodyPr wrap="square">
            <a:spAutoFit/>
          </a:bodyPr>
          <a:lstStyle/>
          <a:p>
            <a:pPr algn="l"/>
            <a:r>
              <a:rPr sz="700" b="0" i="0">
                <a:solidFill>
                  <a:srgbClr val="4A5568"/>
                </a:solidFill>
                <a:latin typeface="Calibri"/>
              </a:rPr>
              <a:t>No direct KIM
Builds to D30</a:t>
            </a:r>
          </a:p>
        </p:txBody>
      </p:sp>
      <p:sp>
        <p:nvSpPr>
          <p:cNvPr id="54" name="Rectangle 53"/>
          <p:cNvSpPr/>
          <p:nvPr/>
        </p:nvSpPr>
        <p:spPr>
          <a:xfrm>
            <a:off x="320040" y="2761488"/>
            <a:ext cx="850392" cy="5486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74904" y="2798064"/>
            <a:ext cx="758952" cy="502920"/>
          </a:xfrm>
          <a:prstGeom prst="rect">
            <a:avLst/>
          </a:prstGeom>
          <a:noFill/>
        </p:spPr>
        <p:txBody>
          <a:bodyPr wrap="square">
            <a:spAutoFit/>
          </a:bodyPr>
          <a:lstStyle/>
          <a:p>
            <a:pPr algn="l"/>
            <a:r>
              <a:rPr sz="650" b="1" i="0">
                <a:solidFill>
                  <a:srgbClr val="FFFFFF"/>
                </a:solidFill>
                <a:latin typeface="Montserrat"/>
              </a:rPr>
              <a:t>Nov or Feb</a:t>
            </a:r>
          </a:p>
        </p:txBody>
      </p:sp>
      <p:sp>
        <p:nvSpPr>
          <p:cNvPr id="56" name="Rectangle 55"/>
          <p:cNvSpPr/>
          <p:nvPr/>
        </p:nvSpPr>
        <p:spPr>
          <a:xfrm>
            <a:off x="1170432" y="2761488"/>
            <a:ext cx="1530705"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25296" y="2798064"/>
            <a:ext cx="1439265" cy="502920"/>
          </a:xfrm>
          <a:prstGeom prst="rect">
            <a:avLst/>
          </a:prstGeom>
          <a:noFill/>
        </p:spPr>
        <p:txBody>
          <a:bodyPr wrap="square">
            <a:spAutoFit/>
          </a:bodyPr>
          <a:lstStyle/>
          <a:p>
            <a:pPr algn="l"/>
            <a:r>
              <a:rPr sz="750" b="1" i="0">
                <a:solidFill>
                  <a:srgbClr val="0F3460"/>
                </a:solidFill>
                <a:latin typeface="Calibri"/>
              </a:rPr>
              <a:t>Parent-student panel</a:t>
            </a:r>
          </a:p>
        </p:txBody>
      </p:sp>
      <p:sp>
        <p:nvSpPr>
          <p:cNvPr id="58" name="Rectangle 57"/>
          <p:cNvSpPr/>
          <p:nvPr/>
        </p:nvSpPr>
        <p:spPr>
          <a:xfrm>
            <a:off x="2701137" y="2761488"/>
            <a:ext cx="1955901"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56001" y="2798064"/>
            <a:ext cx="1864461" cy="502920"/>
          </a:xfrm>
          <a:prstGeom prst="rect">
            <a:avLst/>
          </a:prstGeom>
          <a:noFill/>
        </p:spPr>
        <p:txBody>
          <a:bodyPr wrap="square">
            <a:spAutoFit/>
          </a:bodyPr>
          <a:lstStyle/>
          <a:p>
            <a:pPr algn="l"/>
            <a:r>
              <a:rPr sz="700" b="0" i="0">
                <a:solidFill>
                  <a:srgbClr val="4A5568"/>
                </a:solidFill>
                <a:latin typeface="Calibri"/>
              </a:rPr>
              <a:t>3–4 FRNYC students share what they've done; parents ask questions.
Success: Parents can describe one concrete outcome students earn.</a:t>
            </a:r>
          </a:p>
        </p:txBody>
      </p:sp>
      <p:sp>
        <p:nvSpPr>
          <p:cNvPr id="60" name="Rectangle 59"/>
          <p:cNvSpPr/>
          <p:nvPr/>
        </p:nvSpPr>
        <p:spPr>
          <a:xfrm>
            <a:off x="4657039" y="2761488"/>
            <a:ext cx="85039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11903" y="2798064"/>
            <a:ext cx="758952" cy="502920"/>
          </a:xfrm>
          <a:prstGeom prst="rect">
            <a:avLst/>
          </a:prstGeom>
          <a:noFill/>
        </p:spPr>
        <p:txBody>
          <a:bodyPr wrap="square">
            <a:spAutoFit/>
          </a:bodyPr>
          <a:lstStyle/>
          <a:p>
            <a:pPr algn="l"/>
            <a:r>
              <a:rPr sz="700" b="0" i="0">
                <a:solidFill>
                  <a:srgbClr val="4A5568"/>
                </a:solidFill>
                <a:latin typeface="Calibri"/>
              </a:rPr>
              <a:t>9th grade families</a:t>
            </a:r>
          </a:p>
        </p:txBody>
      </p:sp>
      <p:sp>
        <p:nvSpPr>
          <p:cNvPr id="62" name="Rectangle 61"/>
          <p:cNvSpPr/>
          <p:nvPr/>
        </p:nvSpPr>
        <p:spPr>
          <a:xfrm>
            <a:off x="5507431" y="2761488"/>
            <a:ext cx="102047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562295" y="2798064"/>
            <a:ext cx="929030" cy="502920"/>
          </a:xfrm>
          <a:prstGeom prst="rect">
            <a:avLst/>
          </a:prstGeom>
          <a:noFill/>
        </p:spPr>
        <p:txBody>
          <a:bodyPr wrap="square">
            <a:spAutoFit/>
          </a:bodyPr>
          <a:lstStyle/>
          <a:p>
            <a:pPr algn="l"/>
            <a:r>
              <a:rPr sz="700" b="0" i="0">
                <a:solidFill>
                  <a:srgbClr val="4A5568"/>
                </a:solidFill>
                <a:latin typeface="Calibri"/>
              </a:rPr>
              <a:t>FRNYC Coordinator</a:t>
            </a:r>
          </a:p>
        </p:txBody>
      </p:sp>
      <p:sp>
        <p:nvSpPr>
          <p:cNvPr id="64" name="Rectangle 63"/>
          <p:cNvSpPr/>
          <p:nvPr/>
        </p:nvSpPr>
        <p:spPr>
          <a:xfrm>
            <a:off x="6527901" y="2761488"/>
            <a:ext cx="85039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82765" y="2798064"/>
            <a:ext cx="758952" cy="502920"/>
          </a:xfrm>
          <a:prstGeom prst="rect">
            <a:avLst/>
          </a:prstGeom>
          <a:noFill/>
        </p:spPr>
        <p:txBody>
          <a:bodyPr wrap="square">
            <a:spAutoFit/>
          </a:bodyPr>
          <a:lstStyle/>
          <a:p>
            <a:pPr algn="l"/>
            <a:r>
              <a:rPr sz="700" b="0" i="0">
                <a:solidFill>
                  <a:srgbClr val="B5162B"/>
                </a:solidFill>
                <a:latin typeface="Calibri"/>
              </a:rPr>
              <a:t>Recruitment</a:t>
            </a:r>
          </a:p>
        </p:txBody>
      </p:sp>
      <p:sp>
        <p:nvSpPr>
          <p:cNvPr id="66" name="Rectangle 65"/>
          <p:cNvSpPr/>
          <p:nvPr/>
        </p:nvSpPr>
        <p:spPr>
          <a:xfrm>
            <a:off x="7378293" y="2761488"/>
            <a:ext cx="1445666"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3157" y="2798064"/>
            <a:ext cx="1354226" cy="502920"/>
          </a:xfrm>
          <a:prstGeom prst="rect">
            <a:avLst/>
          </a:prstGeom>
          <a:noFill/>
        </p:spPr>
        <p:txBody>
          <a:bodyPr wrap="square">
            <a:spAutoFit/>
          </a:bodyPr>
          <a:lstStyle/>
          <a:p>
            <a:pPr algn="l"/>
            <a:r>
              <a:rPr sz="700" b="0" i="0">
                <a:solidFill>
                  <a:srgbClr val="4A5568"/>
                </a:solidFill>
                <a:latin typeface="Calibri"/>
              </a:rPr>
              <a:t>No direct KIM
Supports A6</a:t>
            </a:r>
          </a:p>
        </p:txBody>
      </p:sp>
      <p:sp>
        <p:nvSpPr>
          <p:cNvPr id="68" name="Rectangle 67"/>
          <p:cNvSpPr/>
          <p:nvPr/>
        </p:nvSpPr>
        <p:spPr>
          <a:xfrm>
            <a:off x="320040" y="3310128"/>
            <a:ext cx="850392" cy="5486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74904" y="3346704"/>
            <a:ext cx="758952" cy="502920"/>
          </a:xfrm>
          <a:prstGeom prst="rect">
            <a:avLst/>
          </a:prstGeom>
          <a:noFill/>
        </p:spPr>
        <p:txBody>
          <a:bodyPr wrap="square">
            <a:spAutoFit/>
          </a:bodyPr>
          <a:lstStyle/>
          <a:p>
            <a:pPr algn="l"/>
            <a:r>
              <a:rPr sz="650" b="1" i="0">
                <a:solidFill>
                  <a:srgbClr val="FFFFFF"/>
                </a:solidFill>
                <a:latin typeface="Montserrat"/>
              </a:rPr>
              <a:t>End of March</a:t>
            </a:r>
          </a:p>
        </p:txBody>
      </p:sp>
      <p:sp>
        <p:nvSpPr>
          <p:cNvPr id="70" name="Rectangle 69"/>
          <p:cNvSpPr/>
          <p:nvPr/>
        </p:nvSpPr>
        <p:spPr>
          <a:xfrm>
            <a:off x="1170432" y="3310128"/>
            <a:ext cx="1530705"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225296" y="3346704"/>
            <a:ext cx="1439265" cy="502920"/>
          </a:xfrm>
          <a:prstGeom prst="rect">
            <a:avLst/>
          </a:prstGeom>
          <a:noFill/>
        </p:spPr>
        <p:txBody>
          <a:bodyPr wrap="square">
            <a:spAutoFit/>
          </a:bodyPr>
          <a:lstStyle/>
          <a:p>
            <a:pPr algn="l"/>
            <a:r>
              <a:rPr sz="750" b="1" i="0">
                <a:solidFill>
                  <a:srgbClr val="0F3460"/>
                </a:solidFill>
                <a:latin typeface="Calibri"/>
              </a:rPr>
              <a:t>Interest survey — all 9th graders</a:t>
            </a:r>
          </a:p>
        </p:txBody>
      </p:sp>
      <p:sp>
        <p:nvSpPr>
          <p:cNvPr id="72" name="Rectangle 71"/>
          <p:cNvSpPr/>
          <p:nvPr/>
        </p:nvSpPr>
        <p:spPr>
          <a:xfrm>
            <a:off x="2701137" y="3310128"/>
            <a:ext cx="1955901"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56001" y="3346704"/>
            <a:ext cx="1864461" cy="502920"/>
          </a:xfrm>
          <a:prstGeom prst="rect">
            <a:avLst/>
          </a:prstGeom>
          <a:noFill/>
        </p:spPr>
        <p:txBody>
          <a:bodyPr wrap="square">
            <a:spAutoFit/>
          </a:bodyPr>
          <a:lstStyle/>
          <a:p>
            <a:pPr algn="l"/>
            <a:r>
              <a:rPr sz="700" b="0" i="0">
                <a:solidFill>
                  <a:srgbClr val="4A5568"/>
                </a:solidFill>
                <a:latin typeface="Calibri"/>
              </a:rPr>
              <a:t>Google Form — required (Yes / No / Maybe); 1–2 sentence explanation. Follow up non-responders within 5 days.
Success: 100% response rate; sorted list by end of March.</a:t>
            </a:r>
          </a:p>
        </p:txBody>
      </p:sp>
      <p:sp>
        <p:nvSpPr>
          <p:cNvPr id="74" name="Rectangle 73"/>
          <p:cNvSpPr/>
          <p:nvPr/>
        </p:nvSpPr>
        <p:spPr>
          <a:xfrm>
            <a:off x="4657039" y="3310128"/>
            <a:ext cx="850392"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711903" y="3346704"/>
            <a:ext cx="758952" cy="502920"/>
          </a:xfrm>
          <a:prstGeom prst="rect">
            <a:avLst/>
          </a:prstGeom>
          <a:noFill/>
        </p:spPr>
        <p:txBody>
          <a:bodyPr wrap="square">
            <a:spAutoFit/>
          </a:bodyPr>
          <a:lstStyle/>
          <a:p>
            <a:pPr algn="l"/>
            <a:r>
              <a:rPr sz="700" b="0" i="0">
                <a:solidFill>
                  <a:srgbClr val="4A5568"/>
                </a:solidFill>
                <a:latin typeface="Calibri"/>
              </a:rPr>
              <a:t>Enrolled 9th graders</a:t>
            </a:r>
          </a:p>
        </p:txBody>
      </p:sp>
      <p:sp>
        <p:nvSpPr>
          <p:cNvPr id="76" name="Rectangle 75"/>
          <p:cNvSpPr/>
          <p:nvPr/>
        </p:nvSpPr>
        <p:spPr>
          <a:xfrm>
            <a:off x="5507431" y="3310128"/>
            <a:ext cx="1020470"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562295" y="3346704"/>
            <a:ext cx="929030" cy="502920"/>
          </a:xfrm>
          <a:prstGeom prst="rect">
            <a:avLst/>
          </a:prstGeom>
          <a:noFill/>
        </p:spPr>
        <p:txBody>
          <a:bodyPr wrap="square">
            <a:spAutoFit/>
          </a:bodyPr>
          <a:lstStyle/>
          <a:p>
            <a:pPr algn="l"/>
            <a:r>
              <a:rPr sz="700" b="0" i="0">
                <a:solidFill>
                  <a:srgbClr val="4A5568"/>
                </a:solidFill>
                <a:latin typeface="Calibri"/>
              </a:rPr>
              <a:t>FRNYC Coordinator</a:t>
            </a:r>
          </a:p>
        </p:txBody>
      </p:sp>
      <p:sp>
        <p:nvSpPr>
          <p:cNvPr id="78" name="Rectangle 77"/>
          <p:cNvSpPr/>
          <p:nvPr/>
        </p:nvSpPr>
        <p:spPr>
          <a:xfrm>
            <a:off x="6527901" y="3310128"/>
            <a:ext cx="850392"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582765" y="3346704"/>
            <a:ext cx="758952" cy="502920"/>
          </a:xfrm>
          <a:prstGeom prst="rect">
            <a:avLst/>
          </a:prstGeom>
          <a:noFill/>
        </p:spPr>
        <p:txBody>
          <a:bodyPr wrap="square">
            <a:spAutoFit/>
          </a:bodyPr>
          <a:lstStyle/>
          <a:p>
            <a:pPr algn="l"/>
            <a:r>
              <a:rPr sz="700" b="0" i="0">
                <a:solidFill>
                  <a:srgbClr val="B5162B"/>
                </a:solidFill>
                <a:latin typeface="Calibri"/>
              </a:rPr>
              <a:t>Recruitment</a:t>
            </a:r>
          </a:p>
        </p:txBody>
      </p:sp>
      <p:sp>
        <p:nvSpPr>
          <p:cNvPr id="80" name="Rectangle 79"/>
          <p:cNvSpPr/>
          <p:nvPr/>
        </p:nvSpPr>
        <p:spPr>
          <a:xfrm>
            <a:off x="7378293" y="3310128"/>
            <a:ext cx="1445666"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433157" y="3346704"/>
            <a:ext cx="1354226" cy="502920"/>
          </a:xfrm>
          <a:prstGeom prst="rect">
            <a:avLst/>
          </a:prstGeom>
          <a:noFill/>
        </p:spPr>
        <p:txBody>
          <a:bodyPr wrap="square">
            <a:spAutoFit/>
          </a:bodyPr>
          <a:lstStyle/>
          <a:p>
            <a:pPr algn="l"/>
            <a:r>
              <a:rPr sz="700" b="0" i="0">
                <a:solidFill>
                  <a:srgbClr val="4A5568"/>
                </a:solidFill>
                <a:latin typeface="Calibri"/>
              </a:rPr>
              <a:t>D32</a:t>
            </a:r>
          </a:p>
        </p:txBody>
      </p:sp>
      <p:sp>
        <p:nvSpPr>
          <p:cNvPr id="82" name="Rectangle 81"/>
          <p:cNvSpPr/>
          <p:nvPr/>
        </p:nvSpPr>
        <p:spPr>
          <a:xfrm>
            <a:off x="320040" y="3858768"/>
            <a:ext cx="850392" cy="5486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74904" y="3895344"/>
            <a:ext cx="758952" cy="502920"/>
          </a:xfrm>
          <a:prstGeom prst="rect">
            <a:avLst/>
          </a:prstGeom>
          <a:noFill/>
        </p:spPr>
        <p:txBody>
          <a:bodyPr wrap="square">
            <a:spAutoFit/>
          </a:bodyPr>
          <a:lstStyle/>
          <a:p>
            <a:pPr algn="l"/>
            <a:r>
              <a:rPr sz="650" b="1" i="0">
                <a:solidFill>
                  <a:srgbClr val="FFFFFF"/>
                </a:solidFill>
                <a:latin typeface="Montserrat"/>
              </a:rPr>
              <a:t>April</a:t>
            </a:r>
          </a:p>
        </p:txBody>
      </p:sp>
      <p:sp>
        <p:nvSpPr>
          <p:cNvPr id="84" name="Rectangle 83"/>
          <p:cNvSpPr/>
          <p:nvPr/>
        </p:nvSpPr>
        <p:spPr>
          <a:xfrm>
            <a:off x="1170432" y="3858768"/>
            <a:ext cx="1530705"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225296" y="3895344"/>
            <a:ext cx="1439265" cy="502920"/>
          </a:xfrm>
          <a:prstGeom prst="rect">
            <a:avLst/>
          </a:prstGeom>
          <a:noFill/>
        </p:spPr>
        <p:txBody>
          <a:bodyPr wrap="square">
            <a:spAutoFit/>
          </a:bodyPr>
          <a:lstStyle/>
          <a:p>
            <a:pPr algn="l"/>
            <a:r>
              <a:rPr sz="750" b="1" i="0">
                <a:solidFill>
                  <a:srgbClr val="0F3460"/>
                </a:solidFill>
                <a:latin typeface="Calibri"/>
              </a:rPr>
              <a:t>1:1 meetings with interested students</a:t>
            </a:r>
          </a:p>
        </p:txBody>
      </p:sp>
      <p:sp>
        <p:nvSpPr>
          <p:cNvPr id="86" name="Rectangle 85"/>
          <p:cNvSpPr/>
          <p:nvPr/>
        </p:nvSpPr>
        <p:spPr>
          <a:xfrm>
            <a:off x="2701137" y="3858768"/>
            <a:ext cx="1955901"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756001" y="3895344"/>
            <a:ext cx="1864461" cy="502920"/>
          </a:xfrm>
          <a:prstGeom prst="rect">
            <a:avLst/>
          </a:prstGeom>
          <a:noFill/>
        </p:spPr>
        <p:txBody>
          <a:bodyPr wrap="square">
            <a:spAutoFit/>
          </a:bodyPr>
          <a:lstStyle/>
          <a:p>
            <a:pPr algn="l"/>
            <a:r>
              <a:rPr sz="700" b="0" i="0">
                <a:solidFill>
                  <a:srgbClr val="4A5568"/>
                </a:solidFill>
                <a:latin typeface="Calibri"/>
              </a:rPr>
              <a:t>Survey response is the agenda. Scheduling conflicts get a conversation, not exclusion.
Success: Every interested student has a documented 1:1 by end of April.</a:t>
            </a:r>
          </a:p>
        </p:txBody>
      </p:sp>
      <p:sp>
        <p:nvSpPr>
          <p:cNvPr id="88" name="Rectangle 87"/>
          <p:cNvSpPr/>
          <p:nvPr/>
        </p:nvSpPr>
        <p:spPr>
          <a:xfrm>
            <a:off x="4657039" y="3858768"/>
            <a:ext cx="85039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711903" y="3895344"/>
            <a:ext cx="758952" cy="502920"/>
          </a:xfrm>
          <a:prstGeom prst="rect">
            <a:avLst/>
          </a:prstGeom>
          <a:noFill/>
        </p:spPr>
        <p:txBody>
          <a:bodyPr wrap="square">
            <a:spAutoFit/>
          </a:bodyPr>
          <a:lstStyle/>
          <a:p>
            <a:pPr algn="l"/>
            <a:r>
              <a:rPr sz="700" b="0" i="0">
                <a:solidFill>
                  <a:srgbClr val="4A5568"/>
                </a:solidFill>
                <a:latin typeface="Calibri"/>
              </a:rPr>
              <a:t>Interested 9th graders</a:t>
            </a:r>
          </a:p>
        </p:txBody>
      </p:sp>
      <p:sp>
        <p:nvSpPr>
          <p:cNvPr id="90" name="Rectangle 89"/>
          <p:cNvSpPr/>
          <p:nvPr/>
        </p:nvSpPr>
        <p:spPr>
          <a:xfrm>
            <a:off x="5507431" y="3858768"/>
            <a:ext cx="102047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562295" y="3895344"/>
            <a:ext cx="929030" cy="502920"/>
          </a:xfrm>
          <a:prstGeom prst="rect">
            <a:avLst/>
          </a:prstGeom>
          <a:noFill/>
        </p:spPr>
        <p:txBody>
          <a:bodyPr wrap="square">
            <a:spAutoFit/>
          </a:bodyPr>
          <a:lstStyle/>
          <a:p>
            <a:pPr algn="l"/>
            <a:r>
              <a:rPr sz="700" b="0" i="0">
                <a:solidFill>
                  <a:srgbClr val="4A5568"/>
                </a:solidFill>
                <a:latin typeface="Calibri"/>
              </a:rPr>
              <a:t>School Counselor</a:t>
            </a:r>
          </a:p>
        </p:txBody>
      </p:sp>
      <p:sp>
        <p:nvSpPr>
          <p:cNvPr id="92" name="Rectangle 91"/>
          <p:cNvSpPr/>
          <p:nvPr/>
        </p:nvSpPr>
        <p:spPr>
          <a:xfrm>
            <a:off x="6527901" y="3858768"/>
            <a:ext cx="85039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582765" y="3895344"/>
            <a:ext cx="758952" cy="502920"/>
          </a:xfrm>
          <a:prstGeom prst="rect">
            <a:avLst/>
          </a:prstGeom>
          <a:noFill/>
        </p:spPr>
        <p:txBody>
          <a:bodyPr wrap="square">
            <a:spAutoFit/>
          </a:bodyPr>
          <a:lstStyle/>
          <a:p>
            <a:pPr algn="l"/>
            <a:r>
              <a:rPr sz="700" b="0" i="0">
                <a:solidFill>
                  <a:srgbClr val="B5162B"/>
                </a:solidFill>
                <a:latin typeface="Calibri"/>
              </a:rPr>
              <a:t>Recruitment</a:t>
            </a:r>
          </a:p>
        </p:txBody>
      </p:sp>
      <p:sp>
        <p:nvSpPr>
          <p:cNvPr id="94" name="Rectangle 93"/>
          <p:cNvSpPr/>
          <p:nvPr/>
        </p:nvSpPr>
        <p:spPr>
          <a:xfrm>
            <a:off x="7378293" y="3858768"/>
            <a:ext cx="1445666"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433157" y="3895344"/>
            <a:ext cx="1354226" cy="502920"/>
          </a:xfrm>
          <a:prstGeom prst="rect">
            <a:avLst/>
          </a:prstGeom>
          <a:noFill/>
        </p:spPr>
        <p:txBody>
          <a:bodyPr wrap="square">
            <a:spAutoFit/>
          </a:bodyPr>
          <a:lstStyle/>
          <a:p>
            <a:pPr algn="l"/>
            <a:r>
              <a:rPr sz="700" b="0" i="0">
                <a:solidFill>
                  <a:srgbClr val="4A5568"/>
                </a:solidFill>
                <a:latin typeface="Calibri"/>
              </a:rPr>
              <a:t>D34</a:t>
            </a:r>
          </a:p>
        </p:txBody>
      </p:sp>
      <p:sp>
        <p:nvSpPr>
          <p:cNvPr id="96" name="Rectangle 95"/>
          <p:cNvSpPr/>
          <p:nvPr/>
        </p:nvSpPr>
        <p:spPr>
          <a:xfrm>
            <a:off x="320040" y="4407408"/>
            <a:ext cx="850392" cy="5486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74904" y="4443984"/>
            <a:ext cx="758952" cy="502920"/>
          </a:xfrm>
          <a:prstGeom prst="rect">
            <a:avLst/>
          </a:prstGeom>
          <a:noFill/>
        </p:spPr>
        <p:txBody>
          <a:bodyPr wrap="square">
            <a:spAutoFit/>
          </a:bodyPr>
          <a:lstStyle/>
          <a:p>
            <a:pPr algn="l"/>
            <a:r>
              <a:rPr sz="650" b="1" i="0">
                <a:solidFill>
                  <a:srgbClr val="FFFFFF"/>
                </a:solidFill>
                <a:latin typeface="Montserrat"/>
              </a:rPr>
              <a:t>By May</a:t>
            </a:r>
          </a:p>
        </p:txBody>
      </p:sp>
      <p:sp>
        <p:nvSpPr>
          <p:cNvPr id="98" name="Rectangle 97"/>
          <p:cNvSpPr/>
          <p:nvPr/>
        </p:nvSpPr>
        <p:spPr>
          <a:xfrm>
            <a:off x="1170432" y="4407408"/>
            <a:ext cx="1530705"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225296" y="4443984"/>
            <a:ext cx="1439265" cy="502920"/>
          </a:xfrm>
          <a:prstGeom prst="rect">
            <a:avLst/>
          </a:prstGeom>
          <a:noFill/>
        </p:spPr>
        <p:txBody>
          <a:bodyPr wrap="square">
            <a:spAutoFit/>
          </a:bodyPr>
          <a:lstStyle/>
          <a:p>
            <a:pPr algn="l"/>
            <a:r>
              <a:rPr sz="750" b="1" i="0">
                <a:solidFill>
                  <a:srgbClr val="0F3460"/>
                </a:solidFill>
                <a:latin typeface="Calibri"/>
              </a:rPr>
              <a:t>Orientation for rising 10th graders + parent session</a:t>
            </a:r>
          </a:p>
        </p:txBody>
      </p:sp>
      <p:sp>
        <p:nvSpPr>
          <p:cNvPr id="100" name="Rectangle 99"/>
          <p:cNvSpPr/>
          <p:nvPr/>
        </p:nvSpPr>
        <p:spPr>
          <a:xfrm>
            <a:off x="2701137" y="4407408"/>
            <a:ext cx="1955901"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756001" y="4443984"/>
            <a:ext cx="1864461" cy="502920"/>
          </a:xfrm>
          <a:prstGeom prst="rect">
            <a:avLst/>
          </a:prstGeom>
          <a:noFill/>
        </p:spPr>
        <p:txBody>
          <a:bodyPr wrap="square">
            <a:spAutoFit/>
          </a:bodyPr>
          <a:lstStyle/>
          <a:p>
            <a:pPr algn="l"/>
            <a:r>
              <a:rPr sz="700" b="0" i="0">
                <a:solidFill>
                  <a:srgbClr val="4A5568"/>
                </a:solidFill>
                <a:latin typeface="Calibri"/>
              </a:rPr>
              <a:t>Rising 10th graders meet teacher and cohort. Parent session covers what students earn + key dates.
Success: Rising 10th graders enter September knowing pathway, cohort, and teacher.</a:t>
            </a:r>
          </a:p>
        </p:txBody>
      </p:sp>
      <p:sp>
        <p:nvSpPr>
          <p:cNvPr id="102" name="Rectangle 101"/>
          <p:cNvSpPr/>
          <p:nvPr/>
        </p:nvSpPr>
        <p:spPr>
          <a:xfrm>
            <a:off x="4657039" y="4407408"/>
            <a:ext cx="850392"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11903" y="4443984"/>
            <a:ext cx="758952" cy="502920"/>
          </a:xfrm>
          <a:prstGeom prst="rect">
            <a:avLst/>
          </a:prstGeom>
          <a:noFill/>
        </p:spPr>
        <p:txBody>
          <a:bodyPr wrap="square">
            <a:spAutoFit/>
          </a:bodyPr>
          <a:lstStyle/>
          <a:p>
            <a:pPr algn="l"/>
            <a:r>
              <a:rPr sz="700" b="0" i="0">
                <a:solidFill>
                  <a:srgbClr val="4A5568"/>
                </a:solidFill>
                <a:latin typeface="Calibri"/>
              </a:rPr>
              <a:t>Confirmed students &amp; families</a:t>
            </a:r>
          </a:p>
        </p:txBody>
      </p:sp>
      <p:sp>
        <p:nvSpPr>
          <p:cNvPr id="104" name="Rectangle 103"/>
          <p:cNvSpPr/>
          <p:nvPr/>
        </p:nvSpPr>
        <p:spPr>
          <a:xfrm>
            <a:off x="5507431" y="4407408"/>
            <a:ext cx="1020470"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562295" y="4443984"/>
            <a:ext cx="929030" cy="502920"/>
          </a:xfrm>
          <a:prstGeom prst="rect">
            <a:avLst/>
          </a:prstGeom>
          <a:noFill/>
        </p:spPr>
        <p:txBody>
          <a:bodyPr wrap="square">
            <a:spAutoFit/>
          </a:bodyPr>
          <a:lstStyle/>
          <a:p>
            <a:pPr algn="l"/>
            <a:r>
              <a:rPr sz="700" b="0" i="0">
                <a:solidFill>
                  <a:srgbClr val="4A5568"/>
                </a:solidFill>
                <a:latin typeface="Calibri"/>
              </a:rPr>
              <a:t>FRNYC Coordinator</a:t>
            </a:r>
          </a:p>
        </p:txBody>
      </p:sp>
      <p:sp>
        <p:nvSpPr>
          <p:cNvPr id="106" name="Rectangle 105"/>
          <p:cNvSpPr/>
          <p:nvPr/>
        </p:nvSpPr>
        <p:spPr>
          <a:xfrm>
            <a:off x="6527901" y="4407408"/>
            <a:ext cx="850392"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582765" y="4443984"/>
            <a:ext cx="758952" cy="502920"/>
          </a:xfrm>
          <a:prstGeom prst="rect">
            <a:avLst/>
          </a:prstGeom>
          <a:noFill/>
        </p:spPr>
        <p:txBody>
          <a:bodyPr wrap="square">
            <a:spAutoFit/>
          </a:bodyPr>
          <a:lstStyle/>
          <a:p>
            <a:pPr algn="l"/>
            <a:r>
              <a:rPr sz="700" b="0" i="0">
                <a:solidFill>
                  <a:srgbClr val="B5162B"/>
                </a:solidFill>
                <a:latin typeface="Calibri"/>
              </a:rPr>
              <a:t>Recruitment</a:t>
            </a:r>
          </a:p>
        </p:txBody>
      </p:sp>
      <p:sp>
        <p:nvSpPr>
          <p:cNvPr id="108" name="Rectangle 107"/>
          <p:cNvSpPr/>
          <p:nvPr/>
        </p:nvSpPr>
        <p:spPr>
          <a:xfrm>
            <a:off x="7378293" y="4407408"/>
            <a:ext cx="1445666" cy="54864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433157" y="4443984"/>
            <a:ext cx="1354226" cy="502920"/>
          </a:xfrm>
          <a:prstGeom prst="rect">
            <a:avLst/>
          </a:prstGeom>
          <a:noFill/>
        </p:spPr>
        <p:txBody>
          <a:bodyPr wrap="square">
            <a:spAutoFit/>
          </a:bodyPr>
          <a:lstStyle/>
          <a:p>
            <a:pPr algn="l"/>
            <a:r>
              <a:rPr sz="700" b="0" i="0">
                <a:solidFill>
                  <a:srgbClr val="4A5568"/>
                </a:solidFill>
                <a:latin typeface="Calibri"/>
              </a:rPr>
              <a:t>D30</a:t>
            </a:r>
          </a:p>
        </p:txBody>
      </p:sp>
      <p:sp>
        <p:nvSpPr>
          <p:cNvPr id="110" name="Rectangle 109"/>
          <p:cNvSpPr/>
          <p:nvPr/>
        </p:nvSpPr>
        <p:spPr>
          <a:xfrm>
            <a:off x="320040" y="5047488"/>
            <a:ext cx="8503920" cy="347472"/>
          </a:xfrm>
          <a:prstGeom prst="rect">
            <a:avLst/>
          </a:prstGeom>
          <a:solidFill>
            <a:srgbClr val="FEFCE8"/>
          </a:solidFill>
          <a:ln w="12700">
            <a:solidFill>
              <a:srgbClr val="FCD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57200" y="5102352"/>
            <a:ext cx="8229600" cy="256032"/>
          </a:xfrm>
          <a:prstGeom prst="rect">
            <a:avLst/>
          </a:prstGeom>
          <a:noFill/>
        </p:spPr>
        <p:txBody>
          <a:bodyPr wrap="square">
            <a:spAutoFit/>
          </a:bodyPr>
          <a:lstStyle/>
          <a:p>
            <a:pPr algn="l"/>
            <a:r>
              <a:rPr sz="750" b="0" i="0">
                <a:solidFill>
                  <a:srgbClr val="78350F"/>
                </a:solidFill>
                <a:latin typeface="Calibri"/>
              </a:rPr>
              <a:t>Timing matters: Deploy the survey by end of March — not May. This gives you April for real 1:1 conversations and time to complete orientation before year-end. 'Maybe' triggers a follow-up, not an exclusion.</a:t>
            </a:r>
          </a:p>
        </p:txBody>
      </p:sp>
      <p:sp>
        <p:nvSpPr>
          <p:cNvPr id="112" name="Rectangle 111"/>
          <p:cNvSpPr/>
          <p:nvPr/>
        </p:nvSpPr>
        <p:spPr>
          <a:xfrm>
            <a:off x="0" y="6537960"/>
            <a:ext cx="9144000" cy="3200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595360" y="6583680"/>
            <a:ext cx="365760" cy="320040"/>
          </a:xfrm>
          <a:prstGeom prst="rect">
            <a:avLst/>
          </a:prstGeom>
          <a:noFill/>
        </p:spPr>
        <p:txBody>
          <a:bodyPr wrap="square">
            <a:spAutoFit/>
          </a:bodyPr>
          <a:lstStyle/>
          <a:p>
            <a:pPr algn="r"/>
            <a:r>
              <a:rPr sz="800" b="1" i="0">
                <a:solidFill>
                  <a:srgbClr val="4A5568"/>
                </a:solidFill>
                <a:latin typeface="Montserrat"/>
              </a:rPr>
              <a:t>4</a:t>
            </a:r>
          </a:p>
        </p:txBody>
      </p:sp>
      <p:sp>
        <p:nvSpPr>
          <p:cNvPr id="114" name="TextBox 113"/>
          <p:cNvSpPr txBox="1"/>
          <p:nvPr/>
        </p:nvSpPr>
        <p:spPr>
          <a:xfrm>
            <a:off x="365760" y="6601968"/>
            <a:ext cx="5486400" cy="320040"/>
          </a:xfrm>
          <a:prstGeom prst="rect">
            <a:avLst/>
          </a:prstGeom>
          <a:noFill/>
        </p:spPr>
        <p:txBody>
          <a:bodyPr wrap="square">
            <a:spAutoFit/>
          </a:bodyPr>
          <a:lstStyle/>
          <a:p>
            <a:pPr algn="l"/>
            <a:r>
              <a:rPr sz="700" b="0" i="0">
                <a:solidFill>
                  <a:srgbClr val="4A5568"/>
                </a:solidFill>
                <a:latin typeface="Calibri"/>
              </a:rPr>
              <a:t>FutureReady NYC  ·  NYCPS Office of Student Pathways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8000"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8000" y="0"/>
            <a:ext cx="3048000"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0" y="0"/>
            <a:ext cx="3048000" cy="7315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73152"/>
            <a:ext cx="9144000" cy="45720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6304"/>
            <a:ext cx="7315200" cy="457200"/>
          </a:xfrm>
          <a:prstGeom prst="rect">
            <a:avLst/>
          </a:prstGeom>
          <a:noFill/>
        </p:spPr>
        <p:txBody>
          <a:bodyPr wrap="square">
            <a:spAutoFit/>
          </a:bodyPr>
          <a:lstStyle/>
          <a:p>
            <a:pPr algn="l"/>
            <a:r>
              <a:rPr sz="750" b="1" i="0">
                <a:solidFill>
                  <a:srgbClr val="0F3460"/>
                </a:solidFill>
                <a:latin typeface="Montserrat"/>
              </a:rPr>
              <a:t>10TH GRADE — COHORT LAUNCH &amp; EARLY EXPERIENCE</a:t>
            </a:r>
          </a:p>
        </p:txBody>
      </p:sp>
      <p:sp>
        <p:nvSpPr>
          <p:cNvPr id="7" name="Rectangle 6"/>
          <p:cNvSpPr/>
          <p:nvPr/>
        </p:nvSpPr>
        <p:spPr>
          <a:xfrm>
            <a:off x="320040" y="566928"/>
            <a:ext cx="8503920" cy="8229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30936"/>
            <a:ext cx="5486400" cy="164592"/>
          </a:xfrm>
          <a:prstGeom prst="rect">
            <a:avLst/>
          </a:prstGeom>
          <a:noFill/>
        </p:spPr>
        <p:txBody>
          <a:bodyPr wrap="square">
            <a:spAutoFit/>
          </a:bodyPr>
          <a:lstStyle/>
          <a:p>
            <a:pPr algn="l"/>
            <a:r>
              <a:rPr sz="650" b="1" i="0">
                <a:solidFill>
                  <a:srgbClr val="FFFFFF"/>
                </a:solidFill>
                <a:latin typeface="Montserrat"/>
              </a:rPr>
              <a:t>COHORT LAUNCH &amp; DEEP ENGAGEMENT</a:t>
            </a:r>
          </a:p>
        </p:txBody>
      </p:sp>
      <p:sp>
        <p:nvSpPr>
          <p:cNvPr id="9" name="TextBox 8"/>
          <p:cNvSpPr txBox="1"/>
          <p:nvPr/>
        </p:nvSpPr>
        <p:spPr>
          <a:xfrm>
            <a:off x="457200" y="768096"/>
            <a:ext cx="5486400" cy="320040"/>
          </a:xfrm>
          <a:prstGeom prst="rect">
            <a:avLst/>
          </a:prstGeom>
          <a:noFill/>
        </p:spPr>
        <p:txBody>
          <a:bodyPr wrap="square">
            <a:spAutoFit/>
          </a:bodyPr>
          <a:lstStyle/>
          <a:p>
            <a:pPr algn="l"/>
            <a:r>
              <a:rPr sz="1800" b="1" i="0">
                <a:solidFill>
                  <a:srgbClr val="FFFFFF"/>
                </a:solidFill>
                <a:latin typeface="Montserrat"/>
              </a:rPr>
              <a:t>10TH GRADE</a:t>
            </a:r>
          </a:p>
        </p:txBody>
      </p:sp>
      <p:sp>
        <p:nvSpPr>
          <p:cNvPr id="10" name="TextBox 9"/>
          <p:cNvSpPr txBox="1"/>
          <p:nvPr/>
        </p:nvSpPr>
        <p:spPr>
          <a:xfrm>
            <a:off x="457200" y="1078992"/>
            <a:ext cx="6858000" cy="292608"/>
          </a:xfrm>
          <a:prstGeom prst="rect">
            <a:avLst/>
          </a:prstGeom>
          <a:noFill/>
        </p:spPr>
        <p:txBody>
          <a:bodyPr wrap="square">
            <a:spAutoFit/>
          </a:bodyPr>
          <a:lstStyle/>
          <a:p>
            <a:pPr algn="l"/>
            <a:r>
              <a:rPr sz="800" b="0" i="1">
                <a:solidFill>
                  <a:srgbClr val="FFFFFF"/>
                </a:solidFill>
                <a:latin typeface="Calibri"/>
              </a:rPr>
              <a:t>Goal: Students officially in FRNYC as a cohort. WBL aligned with CCI. Peer community forms. All in STARS and CCI enrolled by Checkpoint A (Oct 5).</a:t>
            </a:r>
          </a:p>
        </p:txBody>
      </p:sp>
      <p:sp>
        <p:nvSpPr>
          <p:cNvPr id="11" name="TextBox 10"/>
          <p:cNvSpPr txBox="1"/>
          <p:nvPr/>
        </p:nvSpPr>
        <p:spPr>
          <a:xfrm>
            <a:off x="7863840" y="585216"/>
            <a:ext cx="1097280" cy="777240"/>
          </a:xfrm>
          <a:prstGeom prst="rect">
            <a:avLst/>
          </a:prstGeom>
          <a:noFill/>
        </p:spPr>
        <p:txBody>
          <a:bodyPr wrap="square">
            <a:spAutoFit/>
          </a:bodyPr>
          <a:lstStyle/>
          <a:p>
            <a:pPr algn="r"/>
            <a:r>
              <a:rPr sz="5200" b="1" i="0">
                <a:solidFill>
                  <a:srgbClr val="FFFFFF"/>
                </a:solidFill>
                <a:latin typeface="Montserrat"/>
              </a:rPr>
              <a:t>10</a:t>
            </a:r>
          </a:p>
        </p:txBody>
      </p:sp>
      <p:sp>
        <p:nvSpPr>
          <p:cNvPr id="12" name="Rectangle 11"/>
          <p:cNvSpPr/>
          <p:nvPr/>
        </p:nvSpPr>
        <p:spPr>
          <a:xfrm>
            <a:off x="320040"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 y="1499616"/>
            <a:ext cx="777240" cy="201168"/>
          </a:xfrm>
          <a:prstGeom prst="rect">
            <a:avLst/>
          </a:prstGeom>
          <a:noFill/>
        </p:spPr>
        <p:txBody>
          <a:bodyPr wrap="square">
            <a:spAutoFit/>
          </a:bodyPr>
          <a:lstStyle/>
          <a:p>
            <a:pPr algn="l"/>
            <a:r>
              <a:rPr sz="650" b="1" i="0">
                <a:solidFill>
                  <a:srgbClr val="FFFFFF"/>
                </a:solidFill>
                <a:latin typeface="Montserrat"/>
              </a:rPr>
              <a:t>WHEN</a:t>
            </a:r>
          </a:p>
        </p:txBody>
      </p:sp>
      <p:sp>
        <p:nvSpPr>
          <p:cNvPr id="14" name="Rectangle 13"/>
          <p:cNvSpPr/>
          <p:nvPr/>
        </p:nvSpPr>
        <p:spPr>
          <a:xfrm>
            <a:off x="1170432" y="1463040"/>
            <a:ext cx="1530705"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25296" y="1499616"/>
            <a:ext cx="1457553" cy="201168"/>
          </a:xfrm>
          <a:prstGeom prst="rect">
            <a:avLst/>
          </a:prstGeom>
          <a:noFill/>
        </p:spPr>
        <p:txBody>
          <a:bodyPr wrap="square">
            <a:spAutoFit/>
          </a:bodyPr>
          <a:lstStyle/>
          <a:p>
            <a:pPr algn="l"/>
            <a:r>
              <a:rPr sz="650" b="1" i="0">
                <a:solidFill>
                  <a:srgbClr val="FFFFFF"/>
                </a:solidFill>
                <a:latin typeface="Montserrat"/>
              </a:rPr>
              <a:t>ACTIVITY</a:t>
            </a:r>
          </a:p>
        </p:txBody>
      </p:sp>
      <p:sp>
        <p:nvSpPr>
          <p:cNvPr id="16" name="Rectangle 15"/>
          <p:cNvSpPr/>
          <p:nvPr/>
        </p:nvSpPr>
        <p:spPr>
          <a:xfrm>
            <a:off x="2701137" y="1463040"/>
            <a:ext cx="1955901"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56001" y="1499616"/>
            <a:ext cx="1882749" cy="201168"/>
          </a:xfrm>
          <a:prstGeom prst="rect">
            <a:avLst/>
          </a:prstGeom>
          <a:noFill/>
        </p:spPr>
        <p:txBody>
          <a:bodyPr wrap="square">
            <a:spAutoFit/>
          </a:bodyPr>
          <a:lstStyle/>
          <a:p>
            <a:pPr algn="l"/>
            <a:r>
              <a:rPr sz="650" b="1" i="0">
                <a:solidFill>
                  <a:srgbClr val="FFFFFF"/>
                </a:solidFill>
                <a:latin typeface="Montserrat"/>
              </a:rPr>
              <a:t>PURPOSE &amp; SUCCESS</a:t>
            </a:r>
          </a:p>
        </p:txBody>
      </p:sp>
      <p:sp>
        <p:nvSpPr>
          <p:cNvPr id="18" name="Rectangle 17"/>
          <p:cNvSpPr/>
          <p:nvPr/>
        </p:nvSpPr>
        <p:spPr>
          <a:xfrm>
            <a:off x="4657039"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11903" y="1499616"/>
            <a:ext cx="777240" cy="201168"/>
          </a:xfrm>
          <a:prstGeom prst="rect">
            <a:avLst/>
          </a:prstGeom>
          <a:noFill/>
        </p:spPr>
        <p:txBody>
          <a:bodyPr wrap="square">
            <a:spAutoFit/>
          </a:bodyPr>
          <a:lstStyle/>
          <a:p>
            <a:pPr algn="l"/>
            <a:r>
              <a:rPr sz="650" b="1" i="0">
                <a:solidFill>
                  <a:srgbClr val="FFFFFF"/>
                </a:solidFill>
                <a:latin typeface="Montserrat"/>
              </a:rPr>
              <a:t>AUDIENCE</a:t>
            </a:r>
          </a:p>
        </p:txBody>
      </p:sp>
      <p:sp>
        <p:nvSpPr>
          <p:cNvPr id="20" name="Rectangle 19"/>
          <p:cNvSpPr/>
          <p:nvPr/>
        </p:nvSpPr>
        <p:spPr>
          <a:xfrm>
            <a:off x="5507431" y="1463040"/>
            <a:ext cx="1020470"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62295" y="1499616"/>
            <a:ext cx="947318" cy="201168"/>
          </a:xfrm>
          <a:prstGeom prst="rect">
            <a:avLst/>
          </a:prstGeom>
          <a:noFill/>
        </p:spPr>
        <p:txBody>
          <a:bodyPr wrap="square">
            <a:spAutoFit/>
          </a:bodyPr>
          <a:lstStyle/>
          <a:p>
            <a:pPr algn="l"/>
            <a:r>
              <a:rPr sz="650" b="1" i="0">
                <a:solidFill>
                  <a:srgbClr val="FFFFFF"/>
                </a:solidFill>
                <a:latin typeface="Montserrat"/>
              </a:rPr>
              <a:t>POINT PERSON</a:t>
            </a:r>
          </a:p>
        </p:txBody>
      </p:sp>
      <p:sp>
        <p:nvSpPr>
          <p:cNvPr id="22" name="Rectangle 21"/>
          <p:cNvSpPr/>
          <p:nvPr/>
        </p:nvSpPr>
        <p:spPr>
          <a:xfrm>
            <a:off x="6527901"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2765" y="1499616"/>
            <a:ext cx="777240" cy="201168"/>
          </a:xfrm>
          <a:prstGeom prst="rect">
            <a:avLst/>
          </a:prstGeom>
          <a:noFill/>
        </p:spPr>
        <p:txBody>
          <a:bodyPr wrap="square">
            <a:spAutoFit/>
          </a:bodyPr>
          <a:lstStyle/>
          <a:p>
            <a:pPr algn="l"/>
            <a:r>
              <a:rPr sz="650" b="1" i="0">
                <a:solidFill>
                  <a:srgbClr val="FFFFFF"/>
                </a:solidFill>
                <a:latin typeface="Montserrat"/>
              </a:rPr>
              <a:t>CATEGORY</a:t>
            </a:r>
          </a:p>
        </p:txBody>
      </p:sp>
      <p:sp>
        <p:nvSpPr>
          <p:cNvPr id="24" name="Rectangle 23"/>
          <p:cNvSpPr/>
          <p:nvPr/>
        </p:nvSpPr>
        <p:spPr>
          <a:xfrm>
            <a:off x="7378293" y="1463040"/>
            <a:ext cx="1445666"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33157" y="1499616"/>
            <a:ext cx="1372514" cy="201168"/>
          </a:xfrm>
          <a:prstGeom prst="rect">
            <a:avLst/>
          </a:prstGeom>
          <a:noFill/>
        </p:spPr>
        <p:txBody>
          <a:bodyPr wrap="square">
            <a:spAutoFit/>
          </a:bodyPr>
          <a:lstStyle/>
          <a:p>
            <a:pPr algn="l"/>
            <a:r>
              <a:rPr sz="650" b="1" i="0">
                <a:solidFill>
                  <a:srgbClr val="FFFFFF"/>
                </a:solidFill>
                <a:latin typeface="Montserrat"/>
              </a:rPr>
              <a:t>KIM</a:t>
            </a:r>
          </a:p>
        </p:txBody>
      </p:sp>
      <p:sp>
        <p:nvSpPr>
          <p:cNvPr id="26" name="Rectangle 25"/>
          <p:cNvSpPr/>
          <p:nvPr/>
        </p:nvSpPr>
        <p:spPr>
          <a:xfrm>
            <a:off x="320040" y="1664208"/>
            <a:ext cx="850392" cy="6583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4" y="1700784"/>
            <a:ext cx="758952" cy="612648"/>
          </a:xfrm>
          <a:prstGeom prst="rect">
            <a:avLst/>
          </a:prstGeom>
          <a:noFill/>
        </p:spPr>
        <p:txBody>
          <a:bodyPr wrap="square">
            <a:spAutoFit/>
          </a:bodyPr>
          <a:lstStyle/>
          <a:p>
            <a:pPr algn="l"/>
            <a:r>
              <a:rPr sz="650" b="1" i="0">
                <a:solidFill>
                  <a:srgbClr val="FFFFFF"/>
                </a:solidFill>
                <a:latin typeface="Montserrat"/>
              </a:rPr>
              <a:t>September</a:t>
            </a:r>
          </a:p>
        </p:txBody>
      </p:sp>
      <p:sp>
        <p:nvSpPr>
          <p:cNvPr id="28" name="Rectangle 27"/>
          <p:cNvSpPr/>
          <p:nvPr/>
        </p:nvSpPr>
        <p:spPr>
          <a:xfrm>
            <a:off x="1170432" y="1664208"/>
            <a:ext cx="1530705"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25296" y="1700784"/>
            <a:ext cx="1439265" cy="612648"/>
          </a:xfrm>
          <a:prstGeom prst="rect">
            <a:avLst/>
          </a:prstGeom>
          <a:noFill/>
        </p:spPr>
        <p:txBody>
          <a:bodyPr wrap="square">
            <a:spAutoFit/>
          </a:bodyPr>
          <a:lstStyle/>
          <a:p>
            <a:pPr algn="l"/>
            <a:r>
              <a:rPr sz="750" b="1" i="0">
                <a:solidFill>
                  <a:srgbClr val="0F3460"/>
                </a:solidFill>
                <a:latin typeface="Calibri"/>
              </a:rPr>
              <a:t>STARS enrollment + cohort launch event</a:t>
            </a:r>
          </a:p>
        </p:txBody>
      </p:sp>
      <p:sp>
        <p:nvSpPr>
          <p:cNvPr id="30" name="Rectangle 29"/>
          <p:cNvSpPr/>
          <p:nvPr/>
        </p:nvSpPr>
        <p:spPr>
          <a:xfrm>
            <a:off x="2701137" y="1664208"/>
            <a:ext cx="195590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56001" y="1700784"/>
            <a:ext cx="1864461" cy="612648"/>
          </a:xfrm>
          <a:prstGeom prst="rect">
            <a:avLst/>
          </a:prstGeom>
          <a:noFill/>
        </p:spPr>
        <p:txBody>
          <a:bodyPr wrap="square">
            <a:spAutoFit/>
          </a:bodyPr>
          <a:lstStyle/>
          <a:p>
            <a:pPr algn="l"/>
            <a:r>
              <a:rPr sz="700" b="0" i="0">
                <a:solidFill>
                  <a:srgbClr val="4A5568"/>
                </a:solidFill>
                <a:latin typeface="Calibri"/>
              </a:rPr>
              <a:t>Confirm all 10th graders in STARS. Inaugural event: welcome students by name; older FRNYC students share one thing earned.
Success: Every student in STARS; students feel publicly welcomed.</a:t>
            </a:r>
          </a:p>
        </p:txBody>
      </p:sp>
      <p:sp>
        <p:nvSpPr>
          <p:cNvPr id="32" name="Rectangle 31"/>
          <p:cNvSpPr/>
          <p:nvPr/>
        </p:nvSpPr>
        <p:spPr>
          <a:xfrm>
            <a:off x="4657039" y="1664208"/>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11903" y="1700784"/>
            <a:ext cx="758952" cy="612648"/>
          </a:xfrm>
          <a:prstGeom prst="rect">
            <a:avLst/>
          </a:prstGeom>
          <a:noFill/>
        </p:spPr>
        <p:txBody>
          <a:bodyPr wrap="square">
            <a:spAutoFit/>
          </a:bodyPr>
          <a:lstStyle/>
          <a:p>
            <a:pPr algn="l"/>
            <a:r>
              <a:rPr sz="700" b="0" i="0">
                <a:solidFill>
                  <a:srgbClr val="4A5568"/>
                </a:solidFill>
                <a:latin typeface="Calibri"/>
              </a:rPr>
              <a:t>Enrolled 10th graders</a:t>
            </a:r>
          </a:p>
        </p:txBody>
      </p:sp>
      <p:sp>
        <p:nvSpPr>
          <p:cNvPr id="34" name="Rectangle 33"/>
          <p:cNvSpPr/>
          <p:nvPr/>
        </p:nvSpPr>
        <p:spPr>
          <a:xfrm>
            <a:off x="5507431" y="1664208"/>
            <a:ext cx="102047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62295" y="1700784"/>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36" name="Rectangle 35"/>
          <p:cNvSpPr/>
          <p:nvPr/>
        </p:nvSpPr>
        <p:spPr>
          <a:xfrm>
            <a:off x="6527901" y="1664208"/>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2765" y="1700784"/>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38" name="Rectangle 37"/>
          <p:cNvSpPr/>
          <p:nvPr/>
        </p:nvSpPr>
        <p:spPr>
          <a:xfrm>
            <a:off x="7378293" y="1664208"/>
            <a:ext cx="144566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33157" y="1700784"/>
            <a:ext cx="1354226" cy="612648"/>
          </a:xfrm>
          <a:prstGeom prst="rect">
            <a:avLst/>
          </a:prstGeom>
          <a:noFill/>
        </p:spPr>
        <p:txBody>
          <a:bodyPr wrap="square">
            <a:spAutoFit/>
          </a:bodyPr>
          <a:lstStyle/>
          <a:p>
            <a:pPr algn="l"/>
            <a:r>
              <a:rPr sz="700" b="0" i="0">
                <a:solidFill>
                  <a:srgbClr val="4A5568"/>
                </a:solidFill>
                <a:latin typeface="Calibri"/>
              </a:rPr>
              <a:t>A3 · A8</a:t>
            </a:r>
          </a:p>
        </p:txBody>
      </p:sp>
      <p:sp>
        <p:nvSpPr>
          <p:cNvPr id="40" name="Rectangle 39"/>
          <p:cNvSpPr/>
          <p:nvPr/>
        </p:nvSpPr>
        <p:spPr>
          <a:xfrm>
            <a:off x="320040" y="2322576"/>
            <a:ext cx="850392" cy="6583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 y="2359152"/>
            <a:ext cx="758952" cy="612648"/>
          </a:xfrm>
          <a:prstGeom prst="rect">
            <a:avLst/>
          </a:prstGeom>
          <a:noFill/>
        </p:spPr>
        <p:txBody>
          <a:bodyPr wrap="square">
            <a:spAutoFit/>
          </a:bodyPr>
          <a:lstStyle/>
          <a:p>
            <a:pPr algn="l"/>
            <a:r>
              <a:rPr sz="650" b="1" i="0">
                <a:solidFill>
                  <a:srgbClr val="FFFFFF"/>
                </a:solidFill>
                <a:latin typeface="Montserrat"/>
              </a:rPr>
              <a:t>Sept–Oct</a:t>
            </a:r>
          </a:p>
        </p:txBody>
      </p:sp>
      <p:sp>
        <p:nvSpPr>
          <p:cNvPr id="42" name="Rectangle 41"/>
          <p:cNvSpPr/>
          <p:nvPr/>
        </p:nvSpPr>
        <p:spPr>
          <a:xfrm>
            <a:off x="1170432" y="2322576"/>
            <a:ext cx="1530705"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25296" y="2359152"/>
            <a:ext cx="1439265" cy="612648"/>
          </a:xfrm>
          <a:prstGeom prst="rect">
            <a:avLst/>
          </a:prstGeom>
          <a:noFill/>
        </p:spPr>
        <p:txBody>
          <a:bodyPr wrap="square">
            <a:spAutoFit/>
          </a:bodyPr>
          <a:lstStyle/>
          <a:p>
            <a:pPr algn="l"/>
            <a:r>
              <a:rPr sz="750" b="1" i="0">
                <a:solidFill>
                  <a:srgbClr val="0F3460"/>
                </a:solidFill>
                <a:latin typeface="Calibri"/>
              </a:rPr>
              <a:t>Align WBL with CCI via intermediary partner</a:t>
            </a:r>
          </a:p>
        </p:txBody>
      </p:sp>
      <p:sp>
        <p:nvSpPr>
          <p:cNvPr id="44" name="Rectangle 43"/>
          <p:cNvSpPr/>
          <p:nvPr/>
        </p:nvSpPr>
        <p:spPr>
          <a:xfrm>
            <a:off x="2701137" y="2322576"/>
            <a:ext cx="1955901"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56001" y="2359152"/>
            <a:ext cx="1864461" cy="612648"/>
          </a:xfrm>
          <a:prstGeom prst="rect">
            <a:avLst/>
          </a:prstGeom>
          <a:noFill/>
        </p:spPr>
        <p:txBody>
          <a:bodyPr wrap="square">
            <a:spAutoFit/>
          </a:bodyPr>
          <a:lstStyle/>
          <a:p>
            <a:pPr algn="l"/>
            <a:r>
              <a:rPr sz="700" b="0" i="0">
                <a:solidFill>
                  <a:srgbClr val="4A5568"/>
                </a:solidFill>
                <a:latin typeface="Calibri"/>
              </a:rPr>
              <a:t>Share CCI overview with WBL intermediary (assigned by OSP). Confirm 100% have pathway-aligned WBL placement by October.
Success: Every student sees connection between coursework and real-world experience.</a:t>
            </a:r>
          </a:p>
        </p:txBody>
      </p:sp>
      <p:sp>
        <p:nvSpPr>
          <p:cNvPr id="46" name="Rectangle 45"/>
          <p:cNvSpPr/>
          <p:nvPr/>
        </p:nvSpPr>
        <p:spPr>
          <a:xfrm>
            <a:off x="4657039" y="2322576"/>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11903" y="2359152"/>
            <a:ext cx="758952" cy="612648"/>
          </a:xfrm>
          <a:prstGeom prst="rect">
            <a:avLst/>
          </a:prstGeom>
          <a:noFill/>
        </p:spPr>
        <p:txBody>
          <a:bodyPr wrap="square">
            <a:spAutoFit/>
          </a:bodyPr>
          <a:lstStyle/>
          <a:p>
            <a:pPr algn="l"/>
            <a:r>
              <a:rPr sz="700" b="0" i="0">
                <a:solidFill>
                  <a:srgbClr val="4A5568"/>
                </a:solidFill>
                <a:latin typeface="Calibri"/>
              </a:rPr>
              <a:t>Enrolled 10th graders</a:t>
            </a:r>
          </a:p>
        </p:txBody>
      </p:sp>
      <p:sp>
        <p:nvSpPr>
          <p:cNvPr id="48" name="Rectangle 47"/>
          <p:cNvSpPr/>
          <p:nvPr/>
        </p:nvSpPr>
        <p:spPr>
          <a:xfrm>
            <a:off x="5507431" y="2322576"/>
            <a:ext cx="1020470"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62295" y="2359152"/>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50" name="Rectangle 49"/>
          <p:cNvSpPr/>
          <p:nvPr/>
        </p:nvSpPr>
        <p:spPr>
          <a:xfrm>
            <a:off x="6527901" y="2322576"/>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2765" y="2359152"/>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52" name="Rectangle 51"/>
          <p:cNvSpPr/>
          <p:nvPr/>
        </p:nvSpPr>
        <p:spPr>
          <a:xfrm>
            <a:off x="7378293" y="2322576"/>
            <a:ext cx="1445666"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33157" y="2359152"/>
            <a:ext cx="1354226" cy="612648"/>
          </a:xfrm>
          <a:prstGeom prst="rect">
            <a:avLst/>
          </a:prstGeom>
          <a:noFill/>
        </p:spPr>
        <p:txBody>
          <a:bodyPr wrap="square">
            <a:spAutoFit/>
          </a:bodyPr>
          <a:lstStyle/>
          <a:p>
            <a:pPr algn="l"/>
            <a:r>
              <a:rPr sz="700" b="0" i="0">
                <a:solidFill>
                  <a:srgbClr val="4A5568"/>
                </a:solidFill>
                <a:latin typeface="Calibri"/>
              </a:rPr>
              <a:t>B17 · D43</a:t>
            </a:r>
          </a:p>
        </p:txBody>
      </p:sp>
      <p:sp>
        <p:nvSpPr>
          <p:cNvPr id="54" name="Rectangle 53"/>
          <p:cNvSpPr/>
          <p:nvPr/>
        </p:nvSpPr>
        <p:spPr>
          <a:xfrm>
            <a:off x="320040" y="2980944"/>
            <a:ext cx="850392" cy="6583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74904" y="3017520"/>
            <a:ext cx="758952" cy="612648"/>
          </a:xfrm>
          <a:prstGeom prst="rect">
            <a:avLst/>
          </a:prstGeom>
          <a:noFill/>
        </p:spPr>
        <p:txBody>
          <a:bodyPr wrap="square">
            <a:spAutoFit/>
          </a:bodyPr>
          <a:lstStyle/>
          <a:p>
            <a:pPr algn="l"/>
            <a:r>
              <a:rPr sz="650" b="1" i="0">
                <a:solidFill>
                  <a:srgbClr val="FFFFFF"/>
                </a:solidFill>
                <a:latin typeface="Montserrat"/>
              </a:rPr>
              <a:t>Monthly</a:t>
            </a:r>
          </a:p>
        </p:txBody>
      </p:sp>
      <p:sp>
        <p:nvSpPr>
          <p:cNvPr id="56" name="Rectangle 55"/>
          <p:cNvSpPr/>
          <p:nvPr/>
        </p:nvSpPr>
        <p:spPr>
          <a:xfrm>
            <a:off x="1170432" y="2980944"/>
            <a:ext cx="1530705"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25296" y="3017520"/>
            <a:ext cx="1439265" cy="612648"/>
          </a:xfrm>
          <a:prstGeom prst="rect">
            <a:avLst/>
          </a:prstGeom>
          <a:noFill/>
        </p:spPr>
        <p:txBody>
          <a:bodyPr wrap="square">
            <a:spAutoFit/>
          </a:bodyPr>
          <a:lstStyle/>
          <a:p>
            <a:pPr algn="l"/>
            <a:r>
              <a:rPr sz="750" b="1" i="0">
                <a:solidFill>
                  <a:srgbClr val="0F3460"/>
                </a:solidFill>
                <a:latin typeface="Calibri"/>
              </a:rPr>
              <a:t>Monthly FRNYC community time</a:t>
            </a:r>
          </a:p>
        </p:txBody>
      </p:sp>
      <p:sp>
        <p:nvSpPr>
          <p:cNvPr id="58" name="Rectangle 57"/>
          <p:cNvSpPr/>
          <p:nvPr/>
        </p:nvSpPr>
        <p:spPr>
          <a:xfrm>
            <a:off x="2701137" y="2980944"/>
            <a:ext cx="195590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56001" y="3017520"/>
            <a:ext cx="1864461" cy="612648"/>
          </a:xfrm>
          <a:prstGeom prst="rect">
            <a:avLst/>
          </a:prstGeom>
          <a:noFill/>
        </p:spPr>
        <p:txBody>
          <a:bodyPr wrap="square">
            <a:spAutoFit/>
          </a:bodyPr>
          <a:lstStyle/>
          <a:p>
            <a:pPr algn="l"/>
            <a:r>
              <a:rPr sz="700" b="0" i="0">
                <a:solidFill>
                  <a:srgbClr val="4A5568"/>
                </a:solidFill>
                <a:latin typeface="Calibri"/>
              </a:rPr>
              <a:t>30–60 min during advisory, lunch, or after school. Unite students across CCI sections — cross-section peer network is the primary retention driver.
Success: Students attend consistently; peer relationships deepen.</a:t>
            </a:r>
          </a:p>
        </p:txBody>
      </p:sp>
      <p:sp>
        <p:nvSpPr>
          <p:cNvPr id="60" name="Rectangle 59"/>
          <p:cNvSpPr/>
          <p:nvPr/>
        </p:nvSpPr>
        <p:spPr>
          <a:xfrm>
            <a:off x="4657039" y="2980944"/>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11903" y="3017520"/>
            <a:ext cx="758952" cy="612648"/>
          </a:xfrm>
          <a:prstGeom prst="rect">
            <a:avLst/>
          </a:prstGeom>
          <a:noFill/>
        </p:spPr>
        <p:txBody>
          <a:bodyPr wrap="square">
            <a:spAutoFit/>
          </a:bodyPr>
          <a:lstStyle/>
          <a:p>
            <a:pPr algn="l"/>
            <a:r>
              <a:rPr sz="700" b="0" i="0">
                <a:solidFill>
                  <a:srgbClr val="4A5568"/>
                </a:solidFill>
                <a:latin typeface="Calibri"/>
              </a:rPr>
              <a:t>Enrolled 10th graders</a:t>
            </a:r>
          </a:p>
        </p:txBody>
      </p:sp>
      <p:sp>
        <p:nvSpPr>
          <p:cNvPr id="62" name="Rectangle 61"/>
          <p:cNvSpPr/>
          <p:nvPr/>
        </p:nvSpPr>
        <p:spPr>
          <a:xfrm>
            <a:off x="5507431" y="2980944"/>
            <a:ext cx="102047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562295" y="3017520"/>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64" name="Rectangle 63"/>
          <p:cNvSpPr/>
          <p:nvPr/>
        </p:nvSpPr>
        <p:spPr>
          <a:xfrm>
            <a:off x="6527901" y="2980944"/>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82765" y="3017520"/>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66" name="Rectangle 65"/>
          <p:cNvSpPr/>
          <p:nvPr/>
        </p:nvSpPr>
        <p:spPr>
          <a:xfrm>
            <a:off x="7378293" y="2980944"/>
            <a:ext cx="144566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3157" y="3017520"/>
            <a:ext cx="1354226" cy="612648"/>
          </a:xfrm>
          <a:prstGeom prst="rect">
            <a:avLst/>
          </a:prstGeom>
          <a:noFill/>
        </p:spPr>
        <p:txBody>
          <a:bodyPr wrap="square">
            <a:spAutoFit/>
          </a:bodyPr>
          <a:lstStyle/>
          <a:p>
            <a:pPr algn="l"/>
            <a:r>
              <a:rPr sz="700" b="0" i="0">
                <a:solidFill>
                  <a:srgbClr val="4A5568"/>
                </a:solidFill>
                <a:latin typeface="Calibri"/>
              </a:rPr>
              <a:t>Supports B15</a:t>
            </a:r>
          </a:p>
        </p:txBody>
      </p:sp>
      <p:sp>
        <p:nvSpPr>
          <p:cNvPr id="68" name="Rectangle 67"/>
          <p:cNvSpPr/>
          <p:nvPr/>
        </p:nvSpPr>
        <p:spPr>
          <a:xfrm>
            <a:off x="320040" y="3639312"/>
            <a:ext cx="850392" cy="65836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74904" y="3675888"/>
            <a:ext cx="758952" cy="612648"/>
          </a:xfrm>
          <a:prstGeom prst="rect">
            <a:avLst/>
          </a:prstGeom>
          <a:noFill/>
        </p:spPr>
        <p:txBody>
          <a:bodyPr wrap="square">
            <a:spAutoFit/>
          </a:bodyPr>
          <a:lstStyle/>
          <a:p>
            <a:pPr algn="l"/>
            <a:r>
              <a:rPr sz="650" b="1" i="0">
                <a:solidFill>
                  <a:srgbClr val="FFFFFF"/>
                </a:solidFill>
                <a:latin typeface="Montserrat"/>
              </a:rPr>
              <a:t>Per semester</a:t>
            </a:r>
          </a:p>
        </p:txBody>
      </p:sp>
      <p:sp>
        <p:nvSpPr>
          <p:cNvPr id="70" name="Rectangle 69"/>
          <p:cNvSpPr/>
          <p:nvPr/>
        </p:nvSpPr>
        <p:spPr>
          <a:xfrm>
            <a:off x="1170432" y="3639312"/>
            <a:ext cx="1530705"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225296" y="3675888"/>
            <a:ext cx="1439265" cy="612648"/>
          </a:xfrm>
          <a:prstGeom prst="rect">
            <a:avLst/>
          </a:prstGeom>
          <a:noFill/>
        </p:spPr>
        <p:txBody>
          <a:bodyPr wrap="square">
            <a:spAutoFit/>
          </a:bodyPr>
          <a:lstStyle/>
          <a:p>
            <a:pPr algn="l"/>
            <a:r>
              <a:rPr sz="750" b="1" i="0">
                <a:solidFill>
                  <a:srgbClr val="0F3460"/>
                </a:solidFill>
                <a:latin typeface="Calibri"/>
              </a:rPr>
              <a:t>Family checkpoint events</a:t>
            </a:r>
          </a:p>
        </p:txBody>
      </p:sp>
      <p:sp>
        <p:nvSpPr>
          <p:cNvPr id="72" name="Rectangle 71"/>
          <p:cNvSpPr/>
          <p:nvPr/>
        </p:nvSpPr>
        <p:spPr>
          <a:xfrm>
            <a:off x="2701137" y="3639312"/>
            <a:ext cx="1955901"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56001" y="3675888"/>
            <a:ext cx="1864461" cy="612648"/>
          </a:xfrm>
          <a:prstGeom prst="rect">
            <a:avLst/>
          </a:prstGeom>
          <a:noFill/>
        </p:spPr>
        <p:txBody>
          <a:bodyPr wrap="square">
            <a:spAutoFit/>
          </a:bodyPr>
          <a:lstStyle/>
          <a:p>
            <a:pPr algn="l"/>
            <a:r>
              <a:rPr sz="700" b="0" i="0">
                <a:solidFill>
                  <a:srgbClr val="4A5568"/>
                </a:solidFill>
                <a:latin typeface="Calibri"/>
              </a:rPr>
              <a:t>One event per semester. Answer: What will my student earn? What skills? What real-world experience? What's the post-graduation benefit? Translate into top 3 home languages.
Success: Parents can describe what their student is earning.</a:t>
            </a:r>
          </a:p>
        </p:txBody>
      </p:sp>
      <p:sp>
        <p:nvSpPr>
          <p:cNvPr id="74" name="Rectangle 73"/>
          <p:cNvSpPr/>
          <p:nvPr/>
        </p:nvSpPr>
        <p:spPr>
          <a:xfrm>
            <a:off x="4657039" y="3639312"/>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711903" y="3675888"/>
            <a:ext cx="758952" cy="612648"/>
          </a:xfrm>
          <a:prstGeom prst="rect">
            <a:avLst/>
          </a:prstGeom>
          <a:noFill/>
        </p:spPr>
        <p:txBody>
          <a:bodyPr wrap="square">
            <a:spAutoFit/>
          </a:bodyPr>
          <a:lstStyle/>
          <a:p>
            <a:pPr algn="l"/>
            <a:r>
              <a:rPr sz="700" b="0" i="0">
                <a:solidFill>
                  <a:srgbClr val="4A5568"/>
                </a:solidFill>
                <a:latin typeface="Calibri"/>
              </a:rPr>
              <a:t>Families of enrolled students</a:t>
            </a:r>
          </a:p>
        </p:txBody>
      </p:sp>
      <p:sp>
        <p:nvSpPr>
          <p:cNvPr id="76" name="Rectangle 75"/>
          <p:cNvSpPr/>
          <p:nvPr/>
        </p:nvSpPr>
        <p:spPr>
          <a:xfrm>
            <a:off x="5507431" y="3639312"/>
            <a:ext cx="1020470"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562295" y="3675888"/>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78" name="Rectangle 77"/>
          <p:cNvSpPr/>
          <p:nvPr/>
        </p:nvSpPr>
        <p:spPr>
          <a:xfrm>
            <a:off x="6527901" y="3639312"/>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582765" y="3675888"/>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80" name="Rectangle 79"/>
          <p:cNvSpPr/>
          <p:nvPr/>
        </p:nvSpPr>
        <p:spPr>
          <a:xfrm>
            <a:off x="7378293" y="3639312"/>
            <a:ext cx="1445666"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433157" y="3675888"/>
            <a:ext cx="1354226" cy="612648"/>
          </a:xfrm>
          <a:prstGeom prst="rect">
            <a:avLst/>
          </a:prstGeom>
          <a:noFill/>
        </p:spPr>
        <p:txBody>
          <a:bodyPr wrap="square">
            <a:spAutoFit/>
          </a:bodyPr>
          <a:lstStyle/>
          <a:p>
            <a:pPr algn="l"/>
            <a:r>
              <a:rPr sz="700" b="0" i="0">
                <a:solidFill>
                  <a:srgbClr val="4A5568"/>
                </a:solidFill>
                <a:latin typeface="Calibri"/>
              </a:rPr>
              <a:t>Supports A6</a:t>
            </a:r>
          </a:p>
        </p:txBody>
      </p:sp>
      <p:sp>
        <p:nvSpPr>
          <p:cNvPr id="82" name="Rectangle 81"/>
          <p:cNvSpPr/>
          <p:nvPr/>
        </p:nvSpPr>
        <p:spPr>
          <a:xfrm>
            <a:off x="320040" y="4389120"/>
            <a:ext cx="8503920" cy="54864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11480" y="4434840"/>
            <a:ext cx="2743200" cy="164592"/>
          </a:xfrm>
          <a:prstGeom prst="rect">
            <a:avLst/>
          </a:prstGeom>
          <a:noFill/>
        </p:spPr>
        <p:txBody>
          <a:bodyPr wrap="square">
            <a:spAutoFit/>
          </a:bodyPr>
          <a:lstStyle/>
          <a:p>
            <a:pPr algn="l"/>
            <a:r>
              <a:rPr sz="650" b="1" i="0">
                <a:solidFill>
                  <a:srgbClr val="0F3460"/>
                </a:solidFill>
                <a:latin typeface="Montserrat"/>
              </a:rPr>
              <a:t>KIM REFERENCE</a:t>
            </a:r>
          </a:p>
        </p:txBody>
      </p:sp>
      <p:sp>
        <p:nvSpPr>
          <p:cNvPr id="84" name="Rectangle 83"/>
          <p:cNvSpPr/>
          <p:nvPr/>
        </p:nvSpPr>
        <p:spPr>
          <a:xfrm>
            <a:off x="4114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8056" y="4599432"/>
            <a:ext cx="310896" cy="146304"/>
          </a:xfrm>
          <a:prstGeom prst="rect">
            <a:avLst/>
          </a:prstGeom>
          <a:noFill/>
        </p:spPr>
        <p:txBody>
          <a:bodyPr wrap="square">
            <a:spAutoFit/>
          </a:bodyPr>
          <a:lstStyle/>
          <a:p>
            <a:pPr algn="l"/>
            <a:r>
              <a:rPr sz="600" b="1" i="0">
                <a:solidFill>
                  <a:srgbClr val="FFFFFF"/>
                </a:solidFill>
                <a:latin typeface="Montserrat"/>
              </a:rPr>
              <a:t>A3</a:t>
            </a:r>
          </a:p>
        </p:txBody>
      </p:sp>
      <p:sp>
        <p:nvSpPr>
          <p:cNvPr id="86" name="TextBox 85"/>
          <p:cNvSpPr txBox="1"/>
          <p:nvPr/>
        </p:nvSpPr>
        <p:spPr>
          <a:xfrm>
            <a:off x="813816" y="4599432"/>
            <a:ext cx="1463040" cy="256032"/>
          </a:xfrm>
          <a:prstGeom prst="rect">
            <a:avLst/>
          </a:prstGeom>
          <a:noFill/>
        </p:spPr>
        <p:txBody>
          <a:bodyPr wrap="square">
            <a:spAutoFit/>
          </a:bodyPr>
          <a:lstStyle/>
          <a:p>
            <a:pPr algn="l"/>
            <a:r>
              <a:rPr sz="650" b="0" i="0">
                <a:solidFill>
                  <a:srgbClr val="4A5568"/>
                </a:solidFill>
                <a:latin typeface="Calibri"/>
              </a:rPr>
              <a:t>Cohort in STARS — Oct 5</a:t>
            </a:r>
          </a:p>
        </p:txBody>
      </p:sp>
      <p:sp>
        <p:nvSpPr>
          <p:cNvPr id="87" name="Rectangle 86"/>
          <p:cNvSpPr/>
          <p:nvPr/>
        </p:nvSpPr>
        <p:spPr>
          <a:xfrm>
            <a:off x="24688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505456" y="4599432"/>
            <a:ext cx="310896" cy="146304"/>
          </a:xfrm>
          <a:prstGeom prst="rect">
            <a:avLst/>
          </a:prstGeom>
          <a:noFill/>
        </p:spPr>
        <p:txBody>
          <a:bodyPr wrap="square">
            <a:spAutoFit/>
          </a:bodyPr>
          <a:lstStyle/>
          <a:p>
            <a:pPr algn="l"/>
            <a:r>
              <a:rPr sz="600" b="1" i="0">
                <a:solidFill>
                  <a:srgbClr val="FFFFFF"/>
                </a:solidFill>
                <a:latin typeface="Montserrat"/>
              </a:rPr>
              <a:t>A8</a:t>
            </a:r>
          </a:p>
        </p:txBody>
      </p:sp>
      <p:sp>
        <p:nvSpPr>
          <p:cNvPr id="89" name="TextBox 88"/>
          <p:cNvSpPr txBox="1"/>
          <p:nvPr/>
        </p:nvSpPr>
        <p:spPr>
          <a:xfrm>
            <a:off x="2871216" y="4599432"/>
            <a:ext cx="1463040" cy="256032"/>
          </a:xfrm>
          <a:prstGeom prst="rect">
            <a:avLst/>
          </a:prstGeom>
          <a:noFill/>
        </p:spPr>
        <p:txBody>
          <a:bodyPr wrap="square">
            <a:spAutoFit/>
          </a:bodyPr>
          <a:lstStyle/>
          <a:p>
            <a:pPr algn="l"/>
            <a:r>
              <a:rPr sz="650" b="0" i="0">
                <a:solidFill>
                  <a:srgbClr val="4A5568"/>
                </a:solidFill>
                <a:latin typeface="Calibri"/>
              </a:rPr>
              <a:t>Fall CCI enrolled — Oct 5</a:t>
            </a:r>
          </a:p>
        </p:txBody>
      </p:sp>
      <p:sp>
        <p:nvSpPr>
          <p:cNvPr id="90" name="Rectangle 89"/>
          <p:cNvSpPr/>
          <p:nvPr/>
        </p:nvSpPr>
        <p:spPr>
          <a:xfrm>
            <a:off x="45262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562856" y="4599432"/>
            <a:ext cx="310896" cy="146304"/>
          </a:xfrm>
          <a:prstGeom prst="rect">
            <a:avLst/>
          </a:prstGeom>
          <a:noFill/>
        </p:spPr>
        <p:txBody>
          <a:bodyPr wrap="square">
            <a:spAutoFit/>
          </a:bodyPr>
          <a:lstStyle/>
          <a:p>
            <a:pPr algn="l"/>
            <a:r>
              <a:rPr sz="600" b="1" i="0">
                <a:solidFill>
                  <a:srgbClr val="FFFFFF"/>
                </a:solidFill>
                <a:latin typeface="Montserrat"/>
              </a:rPr>
              <a:t>B17</a:t>
            </a:r>
          </a:p>
        </p:txBody>
      </p:sp>
      <p:sp>
        <p:nvSpPr>
          <p:cNvPr id="92" name="TextBox 91"/>
          <p:cNvSpPr txBox="1"/>
          <p:nvPr/>
        </p:nvSpPr>
        <p:spPr>
          <a:xfrm>
            <a:off x="4928616" y="4599432"/>
            <a:ext cx="1463040" cy="256032"/>
          </a:xfrm>
          <a:prstGeom prst="rect">
            <a:avLst/>
          </a:prstGeom>
          <a:noFill/>
        </p:spPr>
        <p:txBody>
          <a:bodyPr wrap="square">
            <a:spAutoFit/>
          </a:bodyPr>
          <a:lstStyle/>
          <a:p>
            <a:pPr algn="l"/>
            <a:r>
              <a:rPr sz="650" b="0" i="0">
                <a:solidFill>
                  <a:srgbClr val="4A5568"/>
                </a:solidFill>
                <a:latin typeface="Calibri"/>
              </a:rPr>
              <a:t>First unpaid WBL captured — Jan 5</a:t>
            </a:r>
          </a:p>
        </p:txBody>
      </p:sp>
      <p:sp>
        <p:nvSpPr>
          <p:cNvPr id="93" name="Rectangle 92"/>
          <p:cNvSpPr/>
          <p:nvPr/>
        </p:nvSpPr>
        <p:spPr>
          <a:xfrm>
            <a:off x="65836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20256" y="4599432"/>
            <a:ext cx="310896" cy="146304"/>
          </a:xfrm>
          <a:prstGeom prst="rect">
            <a:avLst/>
          </a:prstGeom>
          <a:noFill/>
        </p:spPr>
        <p:txBody>
          <a:bodyPr wrap="square">
            <a:spAutoFit/>
          </a:bodyPr>
          <a:lstStyle/>
          <a:p>
            <a:pPr algn="l"/>
            <a:r>
              <a:rPr sz="600" b="1" i="0">
                <a:solidFill>
                  <a:srgbClr val="FFFFFF"/>
                </a:solidFill>
                <a:latin typeface="Montserrat"/>
              </a:rPr>
              <a:t>D43</a:t>
            </a:r>
          </a:p>
        </p:txBody>
      </p:sp>
      <p:sp>
        <p:nvSpPr>
          <p:cNvPr id="95" name="TextBox 94"/>
          <p:cNvSpPr txBox="1"/>
          <p:nvPr/>
        </p:nvSpPr>
        <p:spPr>
          <a:xfrm>
            <a:off x="6986016" y="4599432"/>
            <a:ext cx="1463040" cy="256032"/>
          </a:xfrm>
          <a:prstGeom prst="rect">
            <a:avLst/>
          </a:prstGeom>
          <a:noFill/>
        </p:spPr>
        <p:txBody>
          <a:bodyPr wrap="square">
            <a:spAutoFit/>
          </a:bodyPr>
          <a:lstStyle/>
          <a:p>
            <a:pPr algn="l"/>
            <a:r>
              <a:rPr sz="650" b="0" i="0">
                <a:solidFill>
                  <a:srgbClr val="4A5568"/>
                </a:solidFill>
                <a:latin typeface="Calibri"/>
              </a:rPr>
              <a:t>Two unpaid WBL completed — Jul 5</a:t>
            </a:r>
          </a:p>
        </p:txBody>
      </p:sp>
      <p:sp>
        <p:nvSpPr>
          <p:cNvPr id="96" name="Rectangle 95"/>
          <p:cNvSpPr/>
          <p:nvPr/>
        </p:nvSpPr>
        <p:spPr>
          <a:xfrm>
            <a:off x="0" y="6537960"/>
            <a:ext cx="9144000" cy="3200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595360" y="6583680"/>
            <a:ext cx="365760" cy="320040"/>
          </a:xfrm>
          <a:prstGeom prst="rect">
            <a:avLst/>
          </a:prstGeom>
          <a:noFill/>
        </p:spPr>
        <p:txBody>
          <a:bodyPr wrap="square">
            <a:spAutoFit/>
          </a:bodyPr>
          <a:lstStyle/>
          <a:p>
            <a:pPr algn="r"/>
            <a:r>
              <a:rPr sz="800" b="1" i="0">
                <a:solidFill>
                  <a:srgbClr val="4A5568"/>
                </a:solidFill>
                <a:latin typeface="Montserrat"/>
              </a:rPr>
              <a:t>5</a:t>
            </a:r>
          </a:p>
        </p:txBody>
      </p:sp>
      <p:sp>
        <p:nvSpPr>
          <p:cNvPr id="98" name="TextBox 97"/>
          <p:cNvSpPr txBox="1"/>
          <p:nvPr/>
        </p:nvSpPr>
        <p:spPr>
          <a:xfrm>
            <a:off x="365760" y="6601968"/>
            <a:ext cx="5486400" cy="320040"/>
          </a:xfrm>
          <a:prstGeom prst="rect">
            <a:avLst/>
          </a:prstGeom>
          <a:noFill/>
        </p:spPr>
        <p:txBody>
          <a:bodyPr wrap="square">
            <a:spAutoFit/>
          </a:bodyPr>
          <a:lstStyle/>
          <a:p>
            <a:pPr algn="l"/>
            <a:r>
              <a:rPr sz="700" b="0" i="0">
                <a:solidFill>
                  <a:srgbClr val="4A5568"/>
                </a:solidFill>
                <a:latin typeface="Calibri"/>
              </a:rPr>
              <a:t>FutureReady NYC  ·  NYCPS Office of Student Pathways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8000"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8000" y="0"/>
            <a:ext cx="3048000"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0" y="0"/>
            <a:ext cx="3048000" cy="7315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73152"/>
            <a:ext cx="9144000" cy="45720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6304"/>
            <a:ext cx="7315200" cy="457200"/>
          </a:xfrm>
          <a:prstGeom prst="rect">
            <a:avLst/>
          </a:prstGeom>
          <a:noFill/>
        </p:spPr>
        <p:txBody>
          <a:bodyPr wrap="square">
            <a:spAutoFit/>
          </a:bodyPr>
          <a:lstStyle/>
          <a:p>
            <a:pPr algn="l"/>
            <a:r>
              <a:rPr sz="750" b="1" i="0">
                <a:solidFill>
                  <a:srgbClr val="0F3460"/>
                </a:solidFill>
                <a:latin typeface="Montserrat"/>
              </a:rPr>
              <a:t>11TH GRADE — PERSISTENCE, SUPPORTS &amp; POST-SECONDARY PLANNING</a:t>
            </a:r>
          </a:p>
        </p:txBody>
      </p:sp>
      <p:sp>
        <p:nvSpPr>
          <p:cNvPr id="7" name="Rectangle 6"/>
          <p:cNvSpPr/>
          <p:nvPr/>
        </p:nvSpPr>
        <p:spPr>
          <a:xfrm>
            <a:off x="320040" y="566928"/>
            <a:ext cx="8503920" cy="822960"/>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30936"/>
            <a:ext cx="5486400" cy="164592"/>
          </a:xfrm>
          <a:prstGeom prst="rect">
            <a:avLst/>
          </a:prstGeom>
          <a:noFill/>
        </p:spPr>
        <p:txBody>
          <a:bodyPr wrap="square">
            <a:spAutoFit/>
          </a:bodyPr>
          <a:lstStyle/>
          <a:p>
            <a:pPr algn="l"/>
            <a:r>
              <a:rPr sz="650" b="1" i="0">
                <a:solidFill>
                  <a:srgbClr val="FFFFFF"/>
                </a:solidFill>
                <a:latin typeface="Montserrat"/>
              </a:rPr>
              <a:t>ACADEMIC SUPPORTS, ADVISING &amp; ECC PERSISTENCE</a:t>
            </a:r>
          </a:p>
        </p:txBody>
      </p:sp>
      <p:sp>
        <p:nvSpPr>
          <p:cNvPr id="9" name="TextBox 8"/>
          <p:cNvSpPr txBox="1"/>
          <p:nvPr/>
        </p:nvSpPr>
        <p:spPr>
          <a:xfrm>
            <a:off x="457200" y="768096"/>
            <a:ext cx="5486400" cy="320040"/>
          </a:xfrm>
          <a:prstGeom prst="rect">
            <a:avLst/>
          </a:prstGeom>
          <a:noFill/>
        </p:spPr>
        <p:txBody>
          <a:bodyPr wrap="square">
            <a:spAutoFit/>
          </a:bodyPr>
          <a:lstStyle/>
          <a:p>
            <a:pPr algn="l"/>
            <a:r>
              <a:rPr sz="1800" b="1" i="0">
                <a:solidFill>
                  <a:srgbClr val="FFFFFF"/>
                </a:solidFill>
                <a:latin typeface="Montserrat"/>
              </a:rPr>
              <a:t>11TH GRADE</a:t>
            </a:r>
          </a:p>
        </p:txBody>
      </p:sp>
      <p:sp>
        <p:nvSpPr>
          <p:cNvPr id="10" name="TextBox 9"/>
          <p:cNvSpPr txBox="1"/>
          <p:nvPr/>
        </p:nvSpPr>
        <p:spPr>
          <a:xfrm>
            <a:off x="457200" y="1078992"/>
            <a:ext cx="6858000" cy="292608"/>
          </a:xfrm>
          <a:prstGeom prst="rect">
            <a:avLst/>
          </a:prstGeom>
          <a:noFill/>
        </p:spPr>
        <p:txBody>
          <a:bodyPr wrap="square">
            <a:spAutoFit/>
          </a:bodyPr>
          <a:lstStyle/>
          <a:p>
            <a:pPr algn="l"/>
            <a:r>
              <a:rPr sz="800" b="0" i="1">
                <a:solidFill>
                  <a:srgbClr val="FFFFFF"/>
                </a:solidFill>
                <a:latin typeface="Calibri"/>
              </a:rPr>
              <a:t>Goal: ECC supports scheduled into the school day — not optional add-ons. Every student builds a post-secondary plan grounded in their FRNYC experience.</a:t>
            </a:r>
          </a:p>
        </p:txBody>
      </p:sp>
      <p:sp>
        <p:nvSpPr>
          <p:cNvPr id="11" name="TextBox 10"/>
          <p:cNvSpPr txBox="1"/>
          <p:nvPr/>
        </p:nvSpPr>
        <p:spPr>
          <a:xfrm>
            <a:off x="7863840" y="585216"/>
            <a:ext cx="1097280" cy="777240"/>
          </a:xfrm>
          <a:prstGeom prst="rect">
            <a:avLst/>
          </a:prstGeom>
          <a:noFill/>
        </p:spPr>
        <p:txBody>
          <a:bodyPr wrap="square">
            <a:spAutoFit/>
          </a:bodyPr>
          <a:lstStyle/>
          <a:p>
            <a:pPr algn="r"/>
            <a:r>
              <a:rPr sz="5200" b="1" i="0">
                <a:solidFill>
                  <a:srgbClr val="FFFFFF"/>
                </a:solidFill>
                <a:latin typeface="Montserrat"/>
              </a:rPr>
              <a:t>11</a:t>
            </a:r>
          </a:p>
        </p:txBody>
      </p:sp>
      <p:sp>
        <p:nvSpPr>
          <p:cNvPr id="12" name="Rectangle 11"/>
          <p:cNvSpPr/>
          <p:nvPr/>
        </p:nvSpPr>
        <p:spPr>
          <a:xfrm>
            <a:off x="320040"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 y="1499616"/>
            <a:ext cx="777240" cy="201168"/>
          </a:xfrm>
          <a:prstGeom prst="rect">
            <a:avLst/>
          </a:prstGeom>
          <a:noFill/>
        </p:spPr>
        <p:txBody>
          <a:bodyPr wrap="square">
            <a:spAutoFit/>
          </a:bodyPr>
          <a:lstStyle/>
          <a:p>
            <a:pPr algn="l"/>
            <a:r>
              <a:rPr sz="650" b="1" i="0">
                <a:solidFill>
                  <a:srgbClr val="FFFFFF"/>
                </a:solidFill>
                <a:latin typeface="Montserrat"/>
              </a:rPr>
              <a:t>WHEN</a:t>
            </a:r>
          </a:p>
        </p:txBody>
      </p:sp>
      <p:sp>
        <p:nvSpPr>
          <p:cNvPr id="14" name="Rectangle 13"/>
          <p:cNvSpPr/>
          <p:nvPr/>
        </p:nvSpPr>
        <p:spPr>
          <a:xfrm>
            <a:off x="1170432" y="1463040"/>
            <a:ext cx="1530705"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25296" y="1499616"/>
            <a:ext cx="1457553" cy="201168"/>
          </a:xfrm>
          <a:prstGeom prst="rect">
            <a:avLst/>
          </a:prstGeom>
          <a:noFill/>
        </p:spPr>
        <p:txBody>
          <a:bodyPr wrap="square">
            <a:spAutoFit/>
          </a:bodyPr>
          <a:lstStyle/>
          <a:p>
            <a:pPr algn="l"/>
            <a:r>
              <a:rPr sz="650" b="1" i="0">
                <a:solidFill>
                  <a:srgbClr val="FFFFFF"/>
                </a:solidFill>
                <a:latin typeface="Montserrat"/>
              </a:rPr>
              <a:t>ACTIVITY</a:t>
            </a:r>
          </a:p>
        </p:txBody>
      </p:sp>
      <p:sp>
        <p:nvSpPr>
          <p:cNvPr id="16" name="Rectangle 15"/>
          <p:cNvSpPr/>
          <p:nvPr/>
        </p:nvSpPr>
        <p:spPr>
          <a:xfrm>
            <a:off x="2701137" y="1463040"/>
            <a:ext cx="1955901"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56001" y="1499616"/>
            <a:ext cx="1882749" cy="201168"/>
          </a:xfrm>
          <a:prstGeom prst="rect">
            <a:avLst/>
          </a:prstGeom>
          <a:noFill/>
        </p:spPr>
        <p:txBody>
          <a:bodyPr wrap="square">
            <a:spAutoFit/>
          </a:bodyPr>
          <a:lstStyle/>
          <a:p>
            <a:pPr algn="l"/>
            <a:r>
              <a:rPr sz="650" b="1" i="0">
                <a:solidFill>
                  <a:srgbClr val="FFFFFF"/>
                </a:solidFill>
                <a:latin typeface="Montserrat"/>
              </a:rPr>
              <a:t>PURPOSE &amp; SUCCESS</a:t>
            </a:r>
          </a:p>
        </p:txBody>
      </p:sp>
      <p:sp>
        <p:nvSpPr>
          <p:cNvPr id="18" name="Rectangle 17"/>
          <p:cNvSpPr/>
          <p:nvPr/>
        </p:nvSpPr>
        <p:spPr>
          <a:xfrm>
            <a:off x="4657039"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11903" y="1499616"/>
            <a:ext cx="777240" cy="201168"/>
          </a:xfrm>
          <a:prstGeom prst="rect">
            <a:avLst/>
          </a:prstGeom>
          <a:noFill/>
        </p:spPr>
        <p:txBody>
          <a:bodyPr wrap="square">
            <a:spAutoFit/>
          </a:bodyPr>
          <a:lstStyle/>
          <a:p>
            <a:pPr algn="l"/>
            <a:r>
              <a:rPr sz="650" b="1" i="0">
                <a:solidFill>
                  <a:srgbClr val="FFFFFF"/>
                </a:solidFill>
                <a:latin typeface="Montserrat"/>
              </a:rPr>
              <a:t>AUDIENCE</a:t>
            </a:r>
          </a:p>
        </p:txBody>
      </p:sp>
      <p:sp>
        <p:nvSpPr>
          <p:cNvPr id="20" name="Rectangle 19"/>
          <p:cNvSpPr/>
          <p:nvPr/>
        </p:nvSpPr>
        <p:spPr>
          <a:xfrm>
            <a:off x="5507431" y="1463040"/>
            <a:ext cx="1020470"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62295" y="1499616"/>
            <a:ext cx="947318" cy="201168"/>
          </a:xfrm>
          <a:prstGeom prst="rect">
            <a:avLst/>
          </a:prstGeom>
          <a:noFill/>
        </p:spPr>
        <p:txBody>
          <a:bodyPr wrap="square">
            <a:spAutoFit/>
          </a:bodyPr>
          <a:lstStyle/>
          <a:p>
            <a:pPr algn="l"/>
            <a:r>
              <a:rPr sz="650" b="1" i="0">
                <a:solidFill>
                  <a:srgbClr val="FFFFFF"/>
                </a:solidFill>
                <a:latin typeface="Montserrat"/>
              </a:rPr>
              <a:t>POINT PERSON</a:t>
            </a:r>
          </a:p>
        </p:txBody>
      </p:sp>
      <p:sp>
        <p:nvSpPr>
          <p:cNvPr id="22" name="Rectangle 21"/>
          <p:cNvSpPr/>
          <p:nvPr/>
        </p:nvSpPr>
        <p:spPr>
          <a:xfrm>
            <a:off x="6527901"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2765" y="1499616"/>
            <a:ext cx="777240" cy="201168"/>
          </a:xfrm>
          <a:prstGeom prst="rect">
            <a:avLst/>
          </a:prstGeom>
          <a:noFill/>
        </p:spPr>
        <p:txBody>
          <a:bodyPr wrap="square">
            <a:spAutoFit/>
          </a:bodyPr>
          <a:lstStyle/>
          <a:p>
            <a:pPr algn="l"/>
            <a:r>
              <a:rPr sz="650" b="1" i="0">
                <a:solidFill>
                  <a:srgbClr val="FFFFFF"/>
                </a:solidFill>
                <a:latin typeface="Montserrat"/>
              </a:rPr>
              <a:t>CATEGORY</a:t>
            </a:r>
          </a:p>
        </p:txBody>
      </p:sp>
      <p:sp>
        <p:nvSpPr>
          <p:cNvPr id="24" name="Rectangle 23"/>
          <p:cNvSpPr/>
          <p:nvPr/>
        </p:nvSpPr>
        <p:spPr>
          <a:xfrm>
            <a:off x="7378293" y="1463040"/>
            <a:ext cx="1445666"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33157" y="1499616"/>
            <a:ext cx="1372514" cy="201168"/>
          </a:xfrm>
          <a:prstGeom prst="rect">
            <a:avLst/>
          </a:prstGeom>
          <a:noFill/>
        </p:spPr>
        <p:txBody>
          <a:bodyPr wrap="square">
            <a:spAutoFit/>
          </a:bodyPr>
          <a:lstStyle/>
          <a:p>
            <a:pPr algn="l"/>
            <a:r>
              <a:rPr sz="650" b="1" i="0">
                <a:solidFill>
                  <a:srgbClr val="FFFFFF"/>
                </a:solidFill>
                <a:latin typeface="Montserrat"/>
              </a:rPr>
              <a:t>KIM</a:t>
            </a:r>
          </a:p>
        </p:txBody>
      </p:sp>
      <p:sp>
        <p:nvSpPr>
          <p:cNvPr id="26" name="Rectangle 25"/>
          <p:cNvSpPr/>
          <p:nvPr/>
        </p:nvSpPr>
        <p:spPr>
          <a:xfrm>
            <a:off x="320040" y="1664208"/>
            <a:ext cx="850392" cy="65836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4" y="1700784"/>
            <a:ext cx="758952" cy="612648"/>
          </a:xfrm>
          <a:prstGeom prst="rect">
            <a:avLst/>
          </a:prstGeom>
          <a:noFill/>
        </p:spPr>
        <p:txBody>
          <a:bodyPr wrap="square">
            <a:spAutoFit/>
          </a:bodyPr>
          <a:lstStyle/>
          <a:p>
            <a:pPr algn="l"/>
            <a:r>
              <a:rPr sz="650" b="1" i="0">
                <a:solidFill>
                  <a:srgbClr val="FFFFFF"/>
                </a:solidFill>
                <a:latin typeface="Montserrat"/>
              </a:rPr>
              <a:t>Sept–Oct</a:t>
            </a:r>
          </a:p>
        </p:txBody>
      </p:sp>
      <p:sp>
        <p:nvSpPr>
          <p:cNvPr id="28" name="Rectangle 27"/>
          <p:cNvSpPr/>
          <p:nvPr/>
        </p:nvSpPr>
        <p:spPr>
          <a:xfrm>
            <a:off x="1170432" y="1664208"/>
            <a:ext cx="1530705"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25296" y="1700784"/>
            <a:ext cx="1439265" cy="612648"/>
          </a:xfrm>
          <a:prstGeom prst="rect">
            <a:avLst/>
          </a:prstGeom>
          <a:noFill/>
        </p:spPr>
        <p:txBody>
          <a:bodyPr wrap="square">
            <a:spAutoFit/>
          </a:bodyPr>
          <a:lstStyle/>
          <a:p>
            <a:pPr algn="l"/>
            <a:r>
              <a:rPr sz="750" b="1" i="0">
                <a:solidFill>
                  <a:srgbClr val="0F3460"/>
                </a:solidFill>
                <a:latin typeface="Calibri"/>
              </a:rPr>
              <a:t>ECC eligibility audit + support planning</a:t>
            </a:r>
          </a:p>
        </p:txBody>
      </p:sp>
      <p:sp>
        <p:nvSpPr>
          <p:cNvPr id="30" name="Rectangle 29"/>
          <p:cNvSpPr/>
          <p:nvPr/>
        </p:nvSpPr>
        <p:spPr>
          <a:xfrm>
            <a:off x="2701137" y="1664208"/>
            <a:ext cx="195590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56001" y="1700784"/>
            <a:ext cx="1864461" cy="612648"/>
          </a:xfrm>
          <a:prstGeom prst="rect">
            <a:avLst/>
          </a:prstGeom>
          <a:noFill/>
        </p:spPr>
        <p:txBody>
          <a:bodyPr wrap="square">
            <a:spAutoFit/>
          </a:bodyPr>
          <a:lstStyle/>
          <a:p>
            <a:pPr algn="l"/>
            <a:r>
              <a:rPr sz="700" b="0" i="0">
                <a:solidFill>
                  <a:srgbClr val="4A5568"/>
                </a:solidFill>
                <a:latin typeface="Calibri"/>
              </a:rPr>
              <a:t>Identify who needs support (placement scores, GPA, prerequisites). AP schedules tutoring or Regents prep inside the school day. Coordinate deadlines with ECC partner.
Success: Every student has a clear ECC path; support plan in place by Oct 5.</a:t>
            </a:r>
          </a:p>
        </p:txBody>
      </p:sp>
      <p:sp>
        <p:nvSpPr>
          <p:cNvPr id="32" name="Rectangle 31"/>
          <p:cNvSpPr/>
          <p:nvPr/>
        </p:nvSpPr>
        <p:spPr>
          <a:xfrm>
            <a:off x="4657039" y="1664208"/>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11903" y="1700784"/>
            <a:ext cx="758952" cy="612648"/>
          </a:xfrm>
          <a:prstGeom prst="rect">
            <a:avLst/>
          </a:prstGeom>
          <a:noFill/>
        </p:spPr>
        <p:txBody>
          <a:bodyPr wrap="square">
            <a:spAutoFit/>
          </a:bodyPr>
          <a:lstStyle/>
          <a:p>
            <a:pPr algn="l"/>
            <a:r>
              <a:rPr sz="700" b="0" i="0">
                <a:solidFill>
                  <a:srgbClr val="4A5568"/>
                </a:solidFill>
                <a:latin typeface="Calibri"/>
              </a:rPr>
              <a:t>Enrolled 11th graders</a:t>
            </a:r>
          </a:p>
        </p:txBody>
      </p:sp>
      <p:sp>
        <p:nvSpPr>
          <p:cNvPr id="34" name="Rectangle 33"/>
          <p:cNvSpPr/>
          <p:nvPr/>
        </p:nvSpPr>
        <p:spPr>
          <a:xfrm>
            <a:off x="5507431" y="1664208"/>
            <a:ext cx="102047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62295" y="1700784"/>
            <a:ext cx="929030" cy="612648"/>
          </a:xfrm>
          <a:prstGeom prst="rect">
            <a:avLst/>
          </a:prstGeom>
          <a:noFill/>
        </p:spPr>
        <p:txBody>
          <a:bodyPr wrap="square">
            <a:spAutoFit/>
          </a:bodyPr>
          <a:lstStyle/>
          <a:p>
            <a:pPr algn="l"/>
            <a:r>
              <a:rPr sz="700" b="0" i="0">
                <a:solidFill>
                  <a:srgbClr val="4A5568"/>
                </a:solidFill>
                <a:latin typeface="Calibri"/>
              </a:rPr>
              <a:t>AP of Instruction</a:t>
            </a:r>
          </a:p>
        </p:txBody>
      </p:sp>
      <p:sp>
        <p:nvSpPr>
          <p:cNvPr id="36" name="Rectangle 35"/>
          <p:cNvSpPr/>
          <p:nvPr/>
        </p:nvSpPr>
        <p:spPr>
          <a:xfrm>
            <a:off x="6527901" y="1664208"/>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2765" y="1700784"/>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38" name="Rectangle 37"/>
          <p:cNvSpPr/>
          <p:nvPr/>
        </p:nvSpPr>
        <p:spPr>
          <a:xfrm>
            <a:off x="7378293" y="1664208"/>
            <a:ext cx="144566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33157" y="1700784"/>
            <a:ext cx="1354226" cy="612648"/>
          </a:xfrm>
          <a:prstGeom prst="rect">
            <a:avLst/>
          </a:prstGeom>
          <a:noFill/>
        </p:spPr>
        <p:txBody>
          <a:bodyPr wrap="square">
            <a:spAutoFit/>
          </a:bodyPr>
          <a:lstStyle/>
          <a:p>
            <a:pPr algn="l"/>
            <a:r>
              <a:rPr sz="700" b="0" i="0">
                <a:solidFill>
                  <a:srgbClr val="4A5568"/>
                </a:solidFill>
                <a:latin typeface="Calibri"/>
              </a:rPr>
              <a:t>A7 · C24</a:t>
            </a:r>
          </a:p>
        </p:txBody>
      </p:sp>
      <p:sp>
        <p:nvSpPr>
          <p:cNvPr id="40" name="Rectangle 39"/>
          <p:cNvSpPr/>
          <p:nvPr/>
        </p:nvSpPr>
        <p:spPr>
          <a:xfrm>
            <a:off x="320040" y="2322576"/>
            <a:ext cx="850392" cy="65836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 y="2359152"/>
            <a:ext cx="758952" cy="612648"/>
          </a:xfrm>
          <a:prstGeom prst="rect">
            <a:avLst/>
          </a:prstGeom>
          <a:noFill/>
        </p:spPr>
        <p:txBody>
          <a:bodyPr wrap="square">
            <a:spAutoFit/>
          </a:bodyPr>
          <a:lstStyle/>
          <a:p>
            <a:pPr algn="l"/>
            <a:r>
              <a:rPr sz="650" b="1" i="0">
                <a:solidFill>
                  <a:srgbClr val="FFFFFF"/>
                </a:solidFill>
                <a:latin typeface="Montserrat"/>
              </a:rPr>
              <a:t>January</a:t>
            </a:r>
          </a:p>
        </p:txBody>
      </p:sp>
      <p:sp>
        <p:nvSpPr>
          <p:cNvPr id="42" name="Rectangle 41"/>
          <p:cNvSpPr/>
          <p:nvPr/>
        </p:nvSpPr>
        <p:spPr>
          <a:xfrm>
            <a:off x="1170432" y="2322576"/>
            <a:ext cx="1530705"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25296" y="2359152"/>
            <a:ext cx="1439265" cy="612648"/>
          </a:xfrm>
          <a:prstGeom prst="rect">
            <a:avLst/>
          </a:prstGeom>
          <a:noFill/>
        </p:spPr>
        <p:txBody>
          <a:bodyPr wrap="square">
            <a:spAutoFit/>
          </a:bodyPr>
          <a:lstStyle/>
          <a:p>
            <a:pPr algn="l"/>
            <a:r>
              <a:rPr sz="750" b="1" i="0">
                <a:solidFill>
                  <a:srgbClr val="0F3460"/>
                </a:solidFill>
                <a:latin typeface="Calibri"/>
              </a:rPr>
              <a:t>First structured 1:1 advising + early intervention</a:t>
            </a:r>
          </a:p>
        </p:txBody>
      </p:sp>
      <p:sp>
        <p:nvSpPr>
          <p:cNvPr id="44" name="Rectangle 43"/>
          <p:cNvSpPr/>
          <p:nvPr/>
        </p:nvSpPr>
        <p:spPr>
          <a:xfrm>
            <a:off x="2701137" y="2322576"/>
            <a:ext cx="1955901"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56001" y="2359152"/>
            <a:ext cx="1864461" cy="612648"/>
          </a:xfrm>
          <a:prstGeom prst="rect">
            <a:avLst/>
          </a:prstGeom>
          <a:noFill/>
        </p:spPr>
        <p:txBody>
          <a:bodyPr wrap="square">
            <a:spAutoFit/>
          </a:bodyPr>
          <a:lstStyle/>
          <a:p>
            <a:pPr algn="l"/>
            <a:r>
              <a:rPr sz="700" b="0" i="0">
                <a:solidFill>
                  <a:srgbClr val="4A5568"/>
                </a:solidFill>
                <a:latin typeface="Calibri"/>
              </a:rPr>
              <a:t>1:1 connecting CCI/WBL work to post-graduation goals. Warning: 3+ missed sessions, declining grades, or disinterest → 1:1 within 1 week; document discussion and commitments.
Success: All students have had first advising 1:1 by January 5.</a:t>
            </a:r>
          </a:p>
        </p:txBody>
      </p:sp>
      <p:sp>
        <p:nvSpPr>
          <p:cNvPr id="46" name="Rectangle 45"/>
          <p:cNvSpPr/>
          <p:nvPr/>
        </p:nvSpPr>
        <p:spPr>
          <a:xfrm>
            <a:off x="4657039" y="2322576"/>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11903" y="2359152"/>
            <a:ext cx="758952" cy="612648"/>
          </a:xfrm>
          <a:prstGeom prst="rect">
            <a:avLst/>
          </a:prstGeom>
          <a:noFill/>
        </p:spPr>
        <p:txBody>
          <a:bodyPr wrap="square">
            <a:spAutoFit/>
          </a:bodyPr>
          <a:lstStyle/>
          <a:p>
            <a:pPr algn="l"/>
            <a:r>
              <a:rPr sz="700" b="0" i="0">
                <a:solidFill>
                  <a:srgbClr val="4A5568"/>
                </a:solidFill>
                <a:latin typeface="Calibri"/>
              </a:rPr>
              <a:t>Enrolled 11th graders</a:t>
            </a:r>
          </a:p>
        </p:txBody>
      </p:sp>
      <p:sp>
        <p:nvSpPr>
          <p:cNvPr id="48" name="Rectangle 47"/>
          <p:cNvSpPr/>
          <p:nvPr/>
        </p:nvSpPr>
        <p:spPr>
          <a:xfrm>
            <a:off x="5507431" y="2322576"/>
            <a:ext cx="1020470"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62295" y="2359152"/>
            <a:ext cx="929030" cy="612648"/>
          </a:xfrm>
          <a:prstGeom prst="rect">
            <a:avLst/>
          </a:prstGeom>
          <a:noFill/>
        </p:spPr>
        <p:txBody>
          <a:bodyPr wrap="square">
            <a:spAutoFit/>
          </a:bodyPr>
          <a:lstStyle/>
          <a:p>
            <a:pPr algn="l"/>
            <a:r>
              <a:rPr sz="700" b="0" i="0">
                <a:solidFill>
                  <a:srgbClr val="4A5568"/>
                </a:solidFill>
                <a:latin typeface="Calibri"/>
              </a:rPr>
              <a:t>School Counselor</a:t>
            </a:r>
          </a:p>
        </p:txBody>
      </p:sp>
      <p:sp>
        <p:nvSpPr>
          <p:cNvPr id="50" name="Rectangle 49"/>
          <p:cNvSpPr/>
          <p:nvPr/>
        </p:nvSpPr>
        <p:spPr>
          <a:xfrm>
            <a:off x="6527901" y="2322576"/>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2765" y="2359152"/>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52" name="Rectangle 51"/>
          <p:cNvSpPr/>
          <p:nvPr/>
        </p:nvSpPr>
        <p:spPr>
          <a:xfrm>
            <a:off x="7378293" y="2322576"/>
            <a:ext cx="1445666"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33157" y="2359152"/>
            <a:ext cx="1354226" cy="612648"/>
          </a:xfrm>
          <a:prstGeom prst="rect">
            <a:avLst/>
          </a:prstGeom>
          <a:noFill/>
        </p:spPr>
        <p:txBody>
          <a:bodyPr wrap="square">
            <a:spAutoFit/>
          </a:bodyPr>
          <a:lstStyle/>
          <a:p>
            <a:pPr algn="l"/>
            <a:r>
              <a:rPr sz="700" b="0" i="0">
                <a:solidFill>
                  <a:srgbClr val="4A5568"/>
                </a:solidFill>
                <a:latin typeface="Calibri"/>
              </a:rPr>
              <a:t>B15</a:t>
            </a:r>
          </a:p>
        </p:txBody>
      </p:sp>
      <p:sp>
        <p:nvSpPr>
          <p:cNvPr id="54" name="Rectangle 53"/>
          <p:cNvSpPr/>
          <p:nvPr/>
        </p:nvSpPr>
        <p:spPr>
          <a:xfrm>
            <a:off x="320040" y="2980944"/>
            <a:ext cx="850392" cy="65836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74904" y="3017520"/>
            <a:ext cx="758952" cy="612648"/>
          </a:xfrm>
          <a:prstGeom prst="rect">
            <a:avLst/>
          </a:prstGeom>
          <a:noFill/>
        </p:spPr>
        <p:txBody>
          <a:bodyPr wrap="square">
            <a:spAutoFit/>
          </a:bodyPr>
          <a:lstStyle/>
          <a:p>
            <a:pPr algn="l"/>
            <a:r>
              <a:rPr sz="650" b="1" i="0">
                <a:solidFill>
                  <a:srgbClr val="FFFFFF"/>
                </a:solidFill>
                <a:latin typeface="Montserrat"/>
              </a:rPr>
              <a:t>Feb–May</a:t>
            </a:r>
          </a:p>
        </p:txBody>
      </p:sp>
      <p:sp>
        <p:nvSpPr>
          <p:cNvPr id="56" name="Rectangle 55"/>
          <p:cNvSpPr/>
          <p:nvPr/>
        </p:nvSpPr>
        <p:spPr>
          <a:xfrm>
            <a:off x="1170432" y="2980944"/>
            <a:ext cx="1530705"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25296" y="3017520"/>
            <a:ext cx="1439265" cy="612648"/>
          </a:xfrm>
          <a:prstGeom prst="rect">
            <a:avLst/>
          </a:prstGeom>
          <a:noFill/>
        </p:spPr>
        <p:txBody>
          <a:bodyPr wrap="square">
            <a:spAutoFit/>
          </a:bodyPr>
          <a:lstStyle/>
          <a:p>
            <a:pPr algn="l"/>
            <a:r>
              <a:rPr sz="750" b="1" i="0">
                <a:solidFill>
                  <a:srgbClr val="0F3460"/>
                </a:solidFill>
                <a:latin typeface="Calibri"/>
              </a:rPr>
              <a:t>Group sessions + ongoing early intervention</a:t>
            </a:r>
          </a:p>
        </p:txBody>
      </p:sp>
      <p:sp>
        <p:nvSpPr>
          <p:cNvPr id="58" name="Rectangle 57"/>
          <p:cNvSpPr/>
          <p:nvPr/>
        </p:nvSpPr>
        <p:spPr>
          <a:xfrm>
            <a:off x="2701137" y="2980944"/>
            <a:ext cx="195590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56001" y="3017520"/>
            <a:ext cx="1864461" cy="612648"/>
          </a:xfrm>
          <a:prstGeom prst="rect">
            <a:avLst/>
          </a:prstGeom>
          <a:noFill/>
        </p:spPr>
        <p:txBody>
          <a:bodyPr wrap="square">
            <a:spAutoFit/>
          </a:bodyPr>
          <a:lstStyle/>
          <a:p>
            <a:pPr algn="l"/>
            <a:r>
              <a:rPr sz="700" b="0" i="0">
                <a:solidFill>
                  <a:srgbClr val="4A5568"/>
                </a:solidFill>
                <a:latin typeface="Calibri"/>
              </a:rPr>
              <a:t>2+ structured group sessions connecting CCI and WBL to post-graduation goals. Track attendance; flag anyone missing 2+. No student exits without a documented conversation.
Success: All at-risk students have documented intervention notes.</a:t>
            </a:r>
          </a:p>
        </p:txBody>
      </p:sp>
      <p:sp>
        <p:nvSpPr>
          <p:cNvPr id="60" name="Rectangle 59"/>
          <p:cNvSpPr/>
          <p:nvPr/>
        </p:nvSpPr>
        <p:spPr>
          <a:xfrm>
            <a:off x="4657039" y="2980944"/>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11903" y="3017520"/>
            <a:ext cx="758952" cy="612648"/>
          </a:xfrm>
          <a:prstGeom prst="rect">
            <a:avLst/>
          </a:prstGeom>
          <a:noFill/>
        </p:spPr>
        <p:txBody>
          <a:bodyPr wrap="square">
            <a:spAutoFit/>
          </a:bodyPr>
          <a:lstStyle/>
          <a:p>
            <a:pPr algn="l"/>
            <a:r>
              <a:rPr sz="700" b="0" i="0">
                <a:solidFill>
                  <a:srgbClr val="4A5568"/>
                </a:solidFill>
                <a:latin typeface="Calibri"/>
              </a:rPr>
              <a:t>Enrolled 11th graders</a:t>
            </a:r>
          </a:p>
        </p:txBody>
      </p:sp>
      <p:sp>
        <p:nvSpPr>
          <p:cNvPr id="62" name="Rectangle 61"/>
          <p:cNvSpPr/>
          <p:nvPr/>
        </p:nvSpPr>
        <p:spPr>
          <a:xfrm>
            <a:off x="5507431" y="2980944"/>
            <a:ext cx="102047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562295" y="3017520"/>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64" name="Rectangle 63"/>
          <p:cNvSpPr/>
          <p:nvPr/>
        </p:nvSpPr>
        <p:spPr>
          <a:xfrm>
            <a:off x="6527901" y="2980944"/>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82765" y="3017520"/>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66" name="Rectangle 65"/>
          <p:cNvSpPr/>
          <p:nvPr/>
        </p:nvSpPr>
        <p:spPr>
          <a:xfrm>
            <a:off x="7378293" y="2980944"/>
            <a:ext cx="144566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3157" y="3017520"/>
            <a:ext cx="1354226" cy="612648"/>
          </a:xfrm>
          <a:prstGeom prst="rect">
            <a:avLst/>
          </a:prstGeom>
          <a:noFill/>
        </p:spPr>
        <p:txBody>
          <a:bodyPr wrap="square">
            <a:spAutoFit/>
          </a:bodyPr>
          <a:lstStyle/>
          <a:p>
            <a:pPr algn="l"/>
            <a:r>
              <a:rPr sz="700" b="0" i="0">
                <a:solidFill>
                  <a:srgbClr val="4A5568"/>
                </a:solidFill>
                <a:latin typeface="Calibri"/>
              </a:rPr>
              <a:t>A7 · D40</a:t>
            </a:r>
          </a:p>
        </p:txBody>
      </p:sp>
      <p:sp>
        <p:nvSpPr>
          <p:cNvPr id="68" name="Rectangle 67"/>
          <p:cNvSpPr/>
          <p:nvPr/>
        </p:nvSpPr>
        <p:spPr>
          <a:xfrm>
            <a:off x="320040" y="3639312"/>
            <a:ext cx="850392" cy="65836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74904" y="3675888"/>
            <a:ext cx="758952" cy="612648"/>
          </a:xfrm>
          <a:prstGeom prst="rect">
            <a:avLst/>
          </a:prstGeom>
          <a:noFill/>
        </p:spPr>
        <p:txBody>
          <a:bodyPr wrap="square">
            <a:spAutoFit/>
          </a:bodyPr>
          <a:lstStyle/>
          <a:p>
            <a:pPr algn="l"/>
            <a:r>
              <a:rPr sz="650" b="1" i="0">
                <a:solidFill>
                  <a:srgbClr val="FFFFFF"/>
                </a:solidFill>
                <a:latin typeface="Montserrat"/>
              </a:rPr>
              <a:t>Before June</a:t>
            </a:r>
          </a:p>
        </p:txBody>
      </p:sp>
      <p:sp>
        <p:nvSpPr>
          <p:cNvPr id="70" name="Rectangle 69"/>
          <p:cNvSpPr/>
          <p:nvPr/>
        </p:nvSpPr>
        <p:spPr>
          <a:xfrm>
            <a:off x="1170432" y="3639312"/>
            <a:ext cx="1530705"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225296" y="3675888"/>
            <a:ext cx="1439265" cy="612648"/>
          </a:xfrm>
          <a:prstGeom prst="rect">
            <a:avLst/>
          </a:prstGeom>
          <a:noFill/>
        </p:spPr>
        <p:txBody>
          <a:bodyPr wrap="square">
            <a:spAutoFit/>
          </a:bodyPr>
          <a:lstStyle/>
          <a:p>
            <a:pPr algn="l"/>
            <a:r>
              <a:rPr sz="750" b="1" i="0">
                <a:solidFill>
                  <a:srgbClr val="0F3460"/>
                </a:solidFill>
                <a:latin typeface="Calibri"/>
              </a:rPr>
              <a:t>Second 1:1 + post-secondary plan documented</a:t>
            </a:r>
          </a:p>
        </p:txBody>
      </p:sp>
      <p:sp>
        <p:nvSpPr>
          <p:cNvPr id="72" name="Rectangle 71"/>
          <p:cNvSpPr/>
          <p:nvPr/>
        </p:nvSpPr>
        <p:spPr>
          <a:xfrm>
            <a:off x="2701137" y="3639312"/>
            <a:ext cx="1955901"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56001" y="3675888"/>
            <a:ext cx="1864461" cy="612648"/>
          </a:xfrm>
          <a:prstGeom prst="rect">
            <a:avLst/>
          </a:prstGeom>
          <a:noFill/>
        </p:spPr>
        <p:txBody>
          <a:bodyPr wrap="square">
            <a:spAutoFit/>
          </a:bodyPr>
          <a:lstStyle/>
          <a:p>
            <a:pPr algn="l"/>
            <a:r>
              <a:rPr sz="700" b="0" i="0">
                <a:solidFill>
                  <a:srgbClr val="4A5568"/>
                </a:solidFill>
                <a:latin typeface="Calibri"/>
              </a:rPr>
              <a:t>Ask: 'Based on your FRNYC work, what do you want after graduation?' Document: WBL experiences, ECC completed, intended next step. Use Post-Secondary Planning Template from OSP.
Success: Every student has a documented post-secondary intention before year-end.</a:t>
            </a:r>
          </a:p>
        </p:txBody>
      </p:sp>
      <p:sp>
        <p:nvSpPr>
          <p:cNvPr id="74" name="Rectangle 73"/>
          <p:cNvSpPr/>
          <p:nvPr/>
        </p:nvSpPr>
        <p:spPr>
          <a:xfrm>
            <a:off x="4657039" y="3639312"/>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711903" y="3675888"/>
            <a:ext cx="758952" cy="612648"/>
          </a:xfrm>
          <a:prstGeom prst="rect">
            <a:avLst/>
          </a:prstGeom>
          <a:noFill/>
        </p:spPr>
        <p:txBody>
          <a:bodyPr wrap="square">
            <a:spAutoFit/>
          </a:bodyPr>
          <a:lstStyle/>
          <a:p>
            <a:pPr algn="l"/>
            <a:r>
              <a:rPr sz="700" b="0" i="0">
                <a:solidFill>
                  <a:srgbClr val="4A5568"/>
                </a:solidFill>
                <a:latin typeface="Calibri"/>
              </a:rPr>
              <a:t>Enrolled 11th graders</a:t>
            </a:r>
          </a:p>
        </p:txBody>
      </p:sp>
      <p:sp>
        <p:nvSpPr>
          <p:cNvPr id="76" name="Rectangle 75"/>
          <p:cNvSpPr/>
          <p:nvPr/>
        </p:nvSpPr>
        <p:spPr>
          <a:xfrm>
            <a:off x="5507431" y="3639312"/>
            <a:ext cx="1020470"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562295" y="3675888"/>
            <a:ext cx="929030" cy="612648"/>
          </a:xfrm>
          <a:prstGeom prst="rect">
            <a:avLst/>
          </a:prstGeom>
          <a:noFill/>
        </p:spPr>
        <p:txBody>
          <a:bodyPr wrap="square">
            <a:spAutoFit/>
          </a:bodyPr>
          <a:lstStyle/>
          <a:p>
            <a:pPr algn="l"/>
            <a:r>
              <a:rPr sz="700" b="0" i="0">
                <a:solidFill>
                  <a:srgbClr val="4A5568"/>
                </a:solidFill>
                <a:latin typeface="Calibri"/>
              </a:rPr>
              <a:t>School Counselor</a:t>
            </a:r>
          </a:p>
        </p:txBody>
      </p:sp>
      <p:sp>
        <p:nvSpPr>
          <p:cNvPr id="78" name="Rectangle 77"/>
          <p:cNvSpPr/>
          <p:nvPr/>
        </p:nvSpPr>
        <p:spPr>
          <a:xfrm>
            <a:off x="6527901" y="3639312"/>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582765" y="3675888"/>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80" name="Rectangle 79"/>
          <p:cNvSpPr/>
          <p:nvPr/>
        </p:nvSpPr>
        <p:spPr>
          <a:xfrm>
            <a:off x="7378293" y="3639312"/>
            <a:ext cx="1445666"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433157" y="3675888"/>
            <a:ext cx="1354226" cy="612648"/>
          </a:xfrm>
          <a:prstGeom prst="rect">
            <a:avLst/>
          </a:prstGeom>
          <a:noFill/>
        </p:spPr>
        <p:txBody>
          <a:bodyPr wrap="square">
            <a:spAutoFit/>
          </a:bodyPr>
          <a:lstStyle/>
          <a:p>
            <a:pPr algn="l"/>
            <a:r>
              <a:rPr sz="700" b="0" i="0">
                <a:solidFill>
                  <a:srgbClr val="4A5568"/>
                </a:solidFill>
                <a:latin typeface="Calibri"/>
              </a:rPr>
              <a:t>D33 · D36</a:t>
            </a:r>
          </a:p>
        </p:txBody>
      </p:sp>
      <p:sp>
        <p:nvSpPr>
          <p:cNvPr id="82" name="Rectangle 81"/>
          <p:cNvSpPr/>
          <p:nvPr/>
        </p:nvSpPr>
        <p:spPr>
          <a:xfrm>
            <a:off x="320040" y="4389120"/>
            <a:ext cx="8503920" cy="54864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11480" y="4434840"/>
            <a:ext cx="2743200" cy="164592"/>
          </a:xfrm>
          <a:prstGeom prst="rect">
            <a:avLst/>
          </a:prstGeom>
          <a:noFill/>
        </p:spPr>
        <p:txBody>
          <a:bodyPr wrap="square">
            <a:spAutoFit/>
          </a:bodyPr>
          <a:lstStyle/>
          <a:p>
            <a:pPr algn="l"/>
            <a:r>
              <a:rPr sz="650" b="1" i="0">
                <a:solidFill>
                  <a:srgbClr val="0F3460"/>
                </a:solidFill>
                <a:latin typeface="Montserrat"/>
              </a:rPr>
              <a:t>KIM REFERENCE</a:t>
            </a:r>
          </a:p>
        </p:txBody>
      </p:sp>
      <p:sp>
        <p:nvSpPr>
          <p:cNvPr id="84" name="Rectangle 83"/>
          <p:cNvSpPr/>
          <p:nvPr/>
        </p:nvSpPr>
        <p:spPr>
          <a:xfrm>
            <a:off x="4114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8056" y="4599432"/>
            <a:ext cx="310896" cy="146304"/>
          </a:xfrm>
          <a:prstGeom prst="rect">
            <a:avLst/>
          </a:prstGeom>
          <a:noFill/>
        </p:spPr>
        <p:txBody>
          <a:bodyPr wrap="square">
            <a:spAutoFit/>
          </a:bodyPr>
          <a:lstStyle/>
          <a:p>
            <a:pPr algn="l"/>
            <a:r>
              <a:rPr sz="600" b="1" i="0">
                <a:solidFill>
                  <a:srgbClr val="FFFFFF"/>
                </a:solidFill>
                <a:latin typeface="Montserrat"/>
              </a:rPr>
              <a:t>A7</a:t>
            </a:r>
          </a:p>
        </p:txBody>
      </p:sp>
      <p:sp>
        <p:nvSpPr>
          <p:cNvPr id="86" name="TextBox 85"/>
          <p:cNvSpPr txBox="1"/>
          <p:nvPr/>
        </p:nvSpPr>
        <p:spPr>
          <a:xfrm>
            <a:off x="813816" y="4599432"/>
            <a:ext cx="1463040" cy="256032"/>
          </a:xfrm>
          <a:prstGeom prst="rect">
            <a:avLst/>
          </a:prstGeom>
          <a:noFill/>
        </p:spPr>
        <p:txBody>
          <a:bodyPr wrap="square">
            <a:spAutoFit/>
          </a:bodyPr>
          <a:lstStyle/>
          <a:p>
            <a:pPr algn="l"/>
            <a:r>
              <a:rPr sz="650" b="0" i="0">
                <a:solidFill>
                  <a:srgbClr val="4A5568"/>
                </a:solidFill>
                <a:latin typeface="Calibri"/>
              </a:rPr>
              <a:t>Academic supports plan — Oct 5</a:t>
            </a:r>
          </a:p>
        </p:txBody>
      </p:sp>
      <p:sp>
        <p:nvSpPr>
          <p:cNvPr id="87" name="Rectangle 86"/>
          <p:cNvSpPr/>
          <p:nvPr/>
        </p:nvSpPr>
        <p:spPr>
          <a:xfrm>
            <a:off x="24688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505456" y="4599432"/>
            <a:ext cx="310896" cy="146304"/>
          </a:xfrm>
          <a:prstGeom prst="rect">
            <a:avLst/>
          </a:prstGeom>
          <a:noFill/>
        </p:spPr>
        <p:txBody>
          <a:bodyPr wrap="square">
            <a:spAutoFit/>
          </a:bodyPr>
          <a:lstStyle/>
          <a:p>
            <a:pPr algn="l"/>
            <a:r>
              <a:rPr sz="600" b="1" i="0">
                <a:solidFill>
                  <a:srgbClr val="FFFFFF"/>
                </a:solidFill>
                <a:latin typeface="Montserrat"/>
              </a:rPr>
              <a:t>B15</a:t>
            </a:r>
          </a:p>
        </p:txBody>
      </p:sp>
      <p:sp>
        <p:nvSpPr>
          <p:cNvPr id="89" name="TextBox 88"/>
          <p:cNvSpPr txBox="1"/>
          <p:nvPr/>
        </p:nvSpPr>
        <p:spPr>
          <a:xfrm>
            <a:off x="2871216" y="4599432"/>
            <a:ext cx="1463040" cy="256032"/>
          </a:xfrm>
          <a:prstGeom prst="rect">
            <a:avLst/>
          </a:prstGeom>
          <a:noFill/>
        </p:spPr>
        <p:txBody>
          <a:bodyPr wrap="square">
            <a:spAutoFit/>
          </a:bodyPr>
          <a:lstStyle/>
          <a:p>
            <a:pPr algn="l"/>
            <a:r>
              <a:rPr sz="650" b="0" i="0">
                <a:solidFill>
                  <a:srgbClr val="4A5568"/>
                </a:solidFill>
                <a:latin typeface="Calibri"/>
              </a:rPr>
              <a:t>First 1:1 complete — Jan 5</a:t>
            </a:r>
          </a:p>
        </p:txBody>
      </p:sp>
      <p:sp>
        <p:nvSpPr>
          <p:cNvPr id="90" name="Rectangle 89"/>
          <p:cNvSpPr/>
          <p:nvPr/>
        </p:nvSpPr>
        <p:spPr>
          <a:xfrm>
            <a:off x="45262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562856" y="4599432"/>
            <a:ext cx="310896" cy="146304"/>
          </a:xfrm>
          <a:prstGeom prst="rect">
            <a:avLst/>
          </a:prstGeom>
          <a:noFill/>
        </p:spPr>
        <p:txBody>
          <a:bodyPr wrap="square">
            <a:spAutoFit/>
          </a:bodyPr>
          <a:lstStyle/>
          <a:p>
            <a:pPr algn="l"/>
            <a:r>
              <a:rPr sz="600" b="1" i="0">
                <a:solidFill>
                  <a:srgbClr val="FFFFFF"/>
                </a:solidFill>
                <a:latin typeface="Montserrat"/>
              </a:rPr>
              <a:t>C24</a:t>
            </a:r>
          </a:p>
        </p:txBody>
      </p:sp>
      <p:sp>
        <p:nvSpPr>
          <p:cNvPr id="92" name="TextBox 91"/>
          <p:cNvSpPr txBox="1"/>
          <p:nvPr/>
        </p:nvSpPr>
        <p:spPr>
          <a:xfrm>
            <a:off x="4928616" y="4599432"/>
            <a:ext cx="1463040" cy="256032"/>
          </a:xfrm>
          <a:prstGeom prst="rect">
            <a:avLst/>
          </a:prstGeom>
          <a:noFill/>
        </p:spPr>
        <p:txBody>
          <a:bodyPr wrap="square">
            <a:spAutoFit/>
          </a:bodyPr>
          <a:lstStyle/>
          <a:p>
            <a:pPr algn="l"/>
            <a:r>
              <a:rPr sz="650" b="0" i="0">
                <a:solidFill>
                  <a:srgbClr val="4A5568"/>
                </a:solidFill>
                <a:latin typeface="Calibri"/>
              </a:rPr>
              <a:t>ECC enrollment confirmed — Apr 5</a:t>
            </a:r>
          </a:p>
        </p:txBody>
      </p:sp>
      <p:sp>
        <p:nvSpPr>
          <p:cNvPr id="93" name="Rectangle 92"/>
          <p:cNvSpPr/>
          <p:nvPr/>
        </p:nvSpPr>
        <p:spPr>
          <a:xfrm>
            <a:off x="65836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20256" y="4599432"/>
            <a:ext cx="310896" cy="146304"/>
          </a:xfrm>
          <a:prstGeom prst="rect">
            <a:avLst/>
          </a:prstGeom>
          <a:noFill/>
        </p:spPr>
        <p:txBody>
          <a:bodyPr wrap="square">
            <a:spAutoFit/>
          </a:bodyPr>
          <a:lstStyle/>
          <a:p>
            <a:pPr algn="l"/>
            <a:r>
              <a:rPr sz="600" b="1" i="0">
                <a:solidFill>
                  <a:srgbClr val="FFFFFF"/>
                </a:solidFill>
                <a:latin typeface="Montserrat"/>
              </a:rPr>
              <a:t>D33</a:t>
            </a:r>
          </a:p>
        </p:txBody>
      </p:sp>
      <p:sp>
        <p:nvSpPr>
          <p:cNvPr id="95" name="TextBox 94"/>
          <p:cNvSpPr txBox="1"/>
          <p:nvPr/>
        </p:nvSpPr>
        <p:spPr>
          <a:xfrm>
            <a:off x="6986016" y="4599432"/>
            <a:ext cx="1463040" cy="256032"/>
          </a:xfrm>
          <a:prstGeom prst="rect">
            <a:avLst/>
          </a:prstGeom>
          <a:noFill/>
        </p:spPr>
        <p:txBody>
          <a:bodyPr wrap="square">
            <a:spAutoFit/>
          </a:bodyPr>
          <a:lstStyle/>
          <a:p>
            <a:pPr algn="l"/>
            <a:r>
              <a:rPr sz="650" b="0" i="0">
                <a:solidFill>
                  <a:srgbClr val="4A5568"/>
                </a:solidFill>
                <a:latin typeface="Calibri"/>
              </a:rPr>
              <a:t>Second 1:1 complete — Jul 5</a:t>
            </a:r>
          </a:p>
        </p:txBody>
      </p:sp>
      <p:sp>
        <p:nvSpPr>
          <p:cNvPr id="96" name="Rectangle 95"/>
          <p:cNvSpPr/>
          <p:nvPr/>
        </p:nvSpPr>
        <p:spPr>
          <a:xfrm>
            <a:off x="411480" y="4791456"/>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48056" y="4800600"/>
            <a:ext cx="310896" cy="146304"/>
          </a:xfrm>
          <a:prstGeom prst="rect">
            <a:avLst/>
          </a:prstGeom>
          <a:noFill/>
        </p:spPr>
        <p:txBody>
          <a:bodyPr wrap="square">
            <a:spAutoFit/>
          </a:bodyPr>
          <a:lstStyle/>
          <a:p>
            <a:pPr algn="l"/>
            <a:r>
              <a:rPr sz="600" b="1" i="0">
                <a:solidFill>
                  <a:srgbClr val="FFFFFF"/>
                </a:solidFill>
                <a:latin typeface="Montserrat"/>
              </a:rPr>
              <a:t>D36</a:t>
            </a:r>
          </a:p>
        </p:txBody>
      </p:sp>
      <p:sp>
        <p:nvSpPr>
          <p:cNvPr id="98" name="TextBox 97"/>
          <p:cNvSpPr txBox="1"/>
          <p:nvPr/>
        </p:nvSpPr>
        <p:spPr>
          <a:xfrm>
            <a:off x="813816" y="4800600"/>
            <a:ext cx="1463040" cy="256032"/>
          </a:xfrm>
          <a:prstGeom prst="rect">
            <a:avLst/>
          </a:prstGeom>
          <a:noFill/>
        </p:spPr>
        <p:txBody>
          <a:bodyPr wrap="square">
            <a:spAutoFit/>
          </a:bodyPr>
          <a:lstStyle/>
          <a:p>
            <a:pPr algn="l"/>
            <a:r>
              <a:rPr sz="650" b="0" i="0">
                <a:solidFill>
                  <a:srgbClr val="4A5568"/>
                </a:solidFill>
                <a:latin typeface="Calibri"/>
              </a:rPr>
              <a:t>Written career planning reflection — Jul 5</a:t>
            </a:r>
          </a:p>
        </p:txBody>
      </p:sp>
      <p:sp>
        <p:nvSpPr>
          <p:cNvPr id="99" name="Rectangle 98"/>
          <p:cNvSpPr/>
          <p:nvPr/>
        </p:nvSpPr>
        <p:spPr>
          <a:xfrm>
            <a:off x="2468880" y="4791456"/>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505456" y="4800600"/>
            <a:ext cx="310896" cy="146304"/>
          </a:xfrm>
          <a:prstGeom prst="rect">
            <a:avLst/>
          </a:prstGeom>
          <a:noFill/>
        </p:spPr>
        <p:txBody>
          <a:bodyPr wrap="square">
            <a:spAutoFit/>
          </a:bodyPr>
          <a:lstStyle/>
          <a:p>
            <a:pPr algn="l"/>
            <a:r>
              <a:rPr sz="600" b="1" i="0">
                <a:solidFill>
                  <a:srgbClr val="FFFFFF"/>
                </a:solidFill>
                <a:latin typeface="Montserrat"/>
              </a:rPr>
              <a:t>D40</a:t>
            </a:r>
          </a:p>
        </p:txBody>
      </p:sp>
      <p:sp>
        <p:nvSpPr>
          <p:cNvPr id="101" name="TextBox 100"/>
          <p:cNvSpPr txBox="1"/>
          <p:nvPr/>
        </p:nvSpPr>
        <p:spPr>
          <a:xfrm>
            <a:off x="2871216" y="4800600"/>
            <a:ext cx="1463040" cy="256032"/>
          </a:xfrm>
          <a:prstGeom prst="rect">
            <a:avLst/>
          </a:prstGeom>
          <a:noFill/>
        </p:spPr>
        <p:txBody>
          <a:bodyPr wrap="square">
            <a:spAutoFit/>
          </a:bodyPr>
          <a:lstStyle/>
          <a:p>
            <a:pPr algn="l"/>
            <a:r>
              <a:rPr sz="650" b="0" i="0">
                <a:solidFill>
                  <a:srgbClr val="4A5568"/>
                </a:solidFill>
                <a:latin typeface="Calibri"/>
              </a:rPr>
              <a:t>ECC completion — Jul 5</a:t>
            </a:r>
          </a:p>
        </p:txBody>
      </p:sp>
      <p:sp>
        <p:nvSpPr>
          <p:cNvPr id="102" name="Rectangle 101"/>
          <p:cNvSpPr/>
          <p:nvPr/>
        </p:nvSpPr>
        <p:spPr>
          <a:xfrm>
            <a:off x="4526280" y="4791456"/>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562856" y="4800600"/>
            <a:ext cx="310896" cy="146304"/>
          </a:xfrm>
          <a:prstGeom prst="rect">
            <a:avLst/>
          </a:prstGeom>
          <a:noFill/>
        </p:spPr>
        <p:txBody>
          <a:bodyPr wrap="square">
            <a:spAutoFit/>
          </a:bodyPr>
          <a:lstStyle/>
          <a:p>
            <a:pPr algn="l"/>
            <a:r>
              <a:rPr sz="600" b="1" i="0">
                <a:solidFill>
                  <a:srgbClr val="FFFFFF"/>
                </a:solidFill>
                <a:latin typeface="Montserrat"/>
              </a:rPr>
              <a:t>D44</a:t>
            </a:r>
          </a:p>
        </p:txBody>
      </p:sp>
      <p:sp>
        <p:nvSpPr>
          <p:cNvPr id="104" name="TextBox 103"/>
          <p:cNvSpPr txBox="1"/>
          <p:nvPr/>
        </p:nvSpPr>
        <p:spPr>
          <a:xfrm>
            <a:off x="4928616" y="4800600"/>
            <a:ext cx="1463040" cy="256032"/>
          </a:xfrm>
          <a:prstGeom prst="rect">
            <a:avLst/>
          </a:prstGeom>
          <a:noFill/>
        </p:spPr>
        <p:txBody>
          <a:bodyPr wrap="square">
            <a:spAutoFit/>
          </a:bodyPr>
          <a:lstStyle/>
          <a:p>
            <a:pPr algn="l"/>
            <a:r>
              <a:rPr sz="650" b="0" i="0">
                <a:solidFill>
                  <a:srgbClr val="4A5568"/>
                </a:solidFill>
                <a:latin typeface="Calibri"/>
              </a:rPr>
              <a:t>Paid WBL completion benchmark — Jul 5</a:t>
            </a:r>
          </a:p>
        </p:txBody>
      </p:sp>
      <p:sp>
        <p:nvSpPr>
          <p:cNvPr id="105" name="Rectangle 104"/>
          <p:cNvSpPr/>
          <p:nvPr/>
        </p:nvSpPr>
        <p:spPr>
          <a:xfrm>
            <a:off x="0" y="6537960"/>
            <a:ext cx="9144000" cy="3200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595360" y="6583680"/>
            <a:ext cx="365760" cy="320040"/>
          </a:xfrm>
          <a:prstGeom prst="rect">
            <a:avLst/>
          </a:prstGeom>
          <a:noFill/>
        </p:spPr>
        <p:txBody>
          <a:bodyPr wrap="square">
            <a:spAutoFit/>
          </a:bodyPr>
          <a:lstStyle/>
          <a:p>
            <a:pPr algn="r"/>
            <a:r>
              <a:rPr sz="800" b="1" i="0">
                <a:solidFill>
                  <a:srgbClr val="4A5568"/>
                </a:solidFill>
                <a:latin typeface="Montserrat"/>
              </a:rPr>
              <a:t>6</a:t>
            </a:r>
          </a:p>
        </p:txBody>
      </p:sp>
      <p:sp>
        <p:nvSpPr>
          <p:cNvPr id="107" name="TextBox 106"/>
          <p:cNvSpPr txBox="1"/>
          <p:nvPr/>
        </p:nvSpPr>
        <p:spPr>
          <a:xfrm>
            <a:off x="365760" y="6601968"/>
            <a:ext cx="5486400" cy="320040"/>
          </a:xfrm>
          <a:prstGeom prst="rect">
            <a:avLst/>
          </a:prstGeom>
          <a:noFill/>
        </p:spPr>
        <p:txBody>
          <a:bodyPr wrap="square">
            <a:spAutoFit/>
          </a:bodyPr>
          <a:lstStyle/>
          <a:p>
            <a:pPr algn="l"/>
            <a:r>
              <a:rPr sz="700" b="0" i="0">
                <a:solidFill>
                  <a:srgbClr val="4A5568"/>
                </a:solidFill>
                <a:latin typeface="Calibri"/>
              </a:rPr>
              <a:t>FutureReady NYC  ·  NYCPS Office of Student Pathways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8000"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8000" y="0"/>
            <a:ext cx="3048000"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0" y="0"/>
            <a:ext cx="3048000" cy="7315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73152"/>
            <a:ext cx="9144000" cy="45720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6304"/>
            <a:ext cx="7315200" cy="457200"/>
          </a:xfrm>
          <a:prstGeom prst="rect">
            <a:avLst/>
          </a:prstGeom>
          <a:noFill/>
        </p:spPr>
        <p:txBody>
          <a:bodyPr wrap="square">
            <a:spAutoFit/>
          </a:bodyPr>
          <a:lstStyle/>
          <a:p>
            <a:pPr algn="l"/>
            <a:r>
              <a:rPr sz="750" b="1" i="0">
                <a:solidFill>
                  <a:srgbClr val="0F3460"/>
                </a:solidFill>
                <a:latin typeface="Montserrat"/>
              </a:rPr>
              <a:t>12TH GRADE — COMPLETION, CYCLE RENEWAL &amp; EQUITY</a:t>
            </a:r>
          </a:p>
        </p:txBody>
      </p:sp>
      <p:sp>
        <p:nvSpPr>
          <p:cNvPr id="7" name="Rectangle 6"/>
          <p:cNvSpPr/>
          <p:nvPr/>
        </p:nvSpPr>
        <p:spPr>
          <a:xfrm>
            <a:off x="320040" y="566928"/>
            <a:ext cx="8503920" cy="82296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30936"/>
            <a:ext cx="5486400" cy="164592"/>
          </a:xfrm>
          <a:prstGeom prst="rect">
            <a:avLst/>
          </a:prstGeom>
          <a:noFill/>
        </p:spPr>
        <p:txBody>
          <a:bodyPr wrap="square">
            <a:spAutoFit/>
          </a:bodyPr>
          <a:lstStyle/>
          <a:p>
            <a:pPr algn="l"/>
            <a:r>
              <a:rPr sz="650" b="1" i="0">
                <a:solidFill>
                  <a:srgbClr val="FFFFFF"/>
                </a:solidFill>
                <a:latin typeface="Montserrat"/>
              </a:rPr>
              <a:t>COMPLETION &amp; AMBASSADOR PIPELINE</a:t>
            </a:r>
          </a:p>
        </p:txBody>
      </p:sp>
      <p:sp>
        <p:nvSpPr>
          <p:cNvPr id="9" name="TextBox 8"/>
          <p:cNvSpPr txBox="1"/>
          <p:nvPr/>
        </p:nvSpPr>
        <p:spPr>
          <a:xfrm>
            <a:off x="457200" y="768096"/>
            <a:ext cx="5486400" cy="320040"/>
          </a:xfrm>
          <a:prstGeom prst="rect">
            <a:avLst/>
          </a:prstGeom>
          <a:noFill/>
        </p:spPr>
        <p:txBody>
          <a:bodyPr wrap="square">
            <a:spAutoFit/>
          </a:bodyPr>
          <a:lstStyle/>
          <a:p>
            <a:pPr algn="l"/>
            <a:r>
              <a:rPr sz="1800" b="1" i="0">
                <a:solidFill>
                  <a:srgbClr val="FFFFFF"/>
                </a:solidFill>
                <a:latin typeface="Montserrat"/>
              </a:rPr>
              <a:t>12TH GRADE</a:t>
            </a:r>
          </a:p>
        </p:txBody>
      </p:sp>
      <p:sp>
        <p:nvSpPr>
          <p:cNvPr id="10" name="TextBox 9"/>
          <p:cNvSpPr txBox="1"/>
          <p:nvPr/>
        </p:nvSpPr>
        <p:spPr>
          <a:xfrm>
            <a:off x="457200" y="1078992"/>
            <a:ext cx="6858000" cy="292608"/>
          </a:xfrm>
          <a:prstGeom prst="rect">
            <a:avLst/>
          </a:prstGeom>
          <a:noFill/>
        </p:spPr>
        <p:txBody>
          <a:bodyPr wrap="square">
            <a:spAutoFit/>
          </a:bodyPr>
          <a:lstStyle/>
          <a:p>
            <a:pPr algn="l"/>
            <a:r>
              <a:rPr sz="800" b="0" i="1">
                <a:solidFill>
                  <a:srgbClr val="FFFFFF"/>
                </a:solidFill>
                <a:latin typeface="Calibri"/>
              </a:rPr>
              <a:t>Goal: Every enrolled student earns their credential before graduation. At-risk students identified in September. Completers become next year's ambassadors.</a:t>
            </a:r>
          </a:p>
        </p:txBody>
      </p:sp>
      <p:sp>
        <p:nvSpPr>
          <p:cNvPr id="11" name="TextBox 10"/>
          <p:cNvSpPr txBox="1"/>
          <p:nvPr/>
        </p:nvSpPr>
        <p:spPr>
          <a:xfrm>
            <a:off x="7863840" y="585216"/>
            <a:ext cx="1097280" cy="777240"/>
          </a:xfrm>
          <a:prstGeom prst="rect">
            <a:avLst/>
          </a:prstGeom>
          <a:noFill/>
        </p:spPr>
        <p:txBody>
          <a:bodyPr wrap="square">
            <a:spAutoFit/>
          </a:bodyPr>
          <a:lstStyle/>
          <a:p>
            <a:pPr algn="r"/>
            <a:r>
              <a:rPr sz="5200" b="1" i="0">
                <a:solidFill>
                  <a:srgbClr val="FFFFFF"/>
                </a:solidFill>
                <a:latin typeface="Montserrat"/>
              </a:rPr>
              <a:t>12</a:t>
            </a:r>
          </a:p>
        </p:txBody>
      </p:sp>
      <p:sp>
        <p:nvSpPr>
          <p:cNvPr id="12" name="Rectangle 11"/>
          <p:cNvSpPr/>
          <p:nvPr/>
        </p:nvSpPr>
        <p:spPr>
          <a:xfrm>
            <a:off x="320040"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4" y="1499616"/>
            <a:ext cx="777240" cy="201168"/>
          </a:xfrm>
          <a:prstGeom prst="rect">
            <a:avLst/>
          </a:prstGeom>
          <a:noFill/>
        </p:spPr>
        <p:txBody>
          <a:bodyPr wrap="square">
            <a:spAutoFit/>
          </a:bodyPr>
          <a:lstStyle/>
          <a:p>
            <a:pPr algn="l"/>
            <a:r>
              <a:rPr sz="650" b="1" i="0">
                <a:solidFill>
                  <a:srgbClr val="FFFFFF"/>
                </a:solidFill>
                <a:latin typeface="Montserrat"/>
              </a:rPr>
              <a:t>WHEN</a:t>
            </a:r>
          </a:p>
        </p:txBody>
      </p:sp>
      <p:sp>
        <p:nvSpPr>
          <p:cNvPr id="14" name="Rectangle 13"/>
          <p:cNvSpPr/>
          <p:nvPr/>
        </p:nvSpPr>
        <p:spPr>
          <a:xfrm>
            <a:off x="1170432" y="1463040"/>
            <a:ext cx="1530705"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25296" y="1499616"/>
            <a:ext cx="1457553" cy="201168"/>
          </a:xfrm>
          <a:prstGeom prst="rect">
            <a:avLst/>
          </a:prstGeom>
          <a:noFill/>
        </p:spPr>
        <p:txBody>
          <a:bodyPr wrap="square">
            <a:spAutoFit/>
          </a:bodyPr>
          <a:lstStyle/>
          <a:p>
            <a:pPr algn="l"/>
            <a:r>
              <a:rPr sz="650" b="1" i="0">
                <a:solidFill>
                  <a:srgbClr val="FFFFFF"/>
                </a:solidFill>
                <a:latin typeface="Montserrat"/>
              </a:rPr>
              <a:t>ACTIVITY</a:t>
            </a:r>
          </a:p>
        </p:txBody>
      </p:sp>
      <p:sp>
        <p:nvSpPr>
          <p:cNvPr id="16" name="Rectangle 15"/>
          <p:cNvSpPr/>
          <p:nvPr/>
        </p:nvSpPr>
        <p:spPr>
          <a:xfrm>
            <a:off x="2701137" y="1463040"/>
            <a:ext cx="1955901"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56001" y="1499616"/>
            <a:ext cx="1882749" cy="201168"/>
          </a:xfrm>
          <a:prstGeom prst="rect">
            <a:avLst/>
          </a:prstGeom>
          <a:noFill/>
        </p:spPr>
        <p:txBody>
          <a:bodyPr wrap="square">
            <a:spAutoFit/>
          </a:bodyPr>
          <a:lstStyle/>
          <a:p>
            <a:pPr algn="l"/>
            <a:r>
              <a:rPr sz="650" b="1" i="0">
                <a:solidFill>
                  <a:srgbClr val="FFFFFF"/>
                </a:solidFill>
                <a:latin typeface="Montserrat"/>
              </a:rPr>
              <a:t>PURPOSE &amp; SUCCESS</a:t>
            </a:r>
          </a:p>
        </p:txBody>
      </p:sp>
      <p:sp>
        <p:nvSpPr>
          <p:cNvPr id="18" name="Rectangle 17"/>
          <p:cNvSpPr/>
          <p:nvPr/>
        </p:nvSpPr>
        <p:spPr>
          <a:xfrm>
            <a:off x="4657039"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11903" y="1499616"/>
            <a:ext cx="777240" cy="201168"/>
          </a:xfrm>
          <a:prstGeom prst="rect">
            <a:avLst/>
          </a:prstGeom>
          <a:noFill/>
        </p:spPr>
        <p:txBody>
          <a:bodyPr wrap="square">
            <a:spAutoFit/>
          </a:bodyPr>
          <a:lstStyle/>
          <a:p>
            <a:pPr algn="l"/>
            <a:r>
              <a:rPr sz="650" b="1" i="0">
                <a:solidFill>
                  <a:srgbClr val="FFFFFF"/>
                </a:solidFill>
                <a:latin typeface="Montserrat"/>
              </a:rPr>
              <a:t>AUDIENCE</a:t>
            </a:r>
          </a:p>
        </p:txBody>
      </p:sp>
      <p:sp>
        <p:nvSpPr>
          <p:cNvPr id="20" name="Rectangle 19"/>
          <p:cNvSpPr/>
          <p:nvPr/>
        </p:nvSpPr>
        <p:spPr>
          <a:xfrm>
            <a:off x="5507431" y="1463040"/>
            <a:ext cx="1020470"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62295" y="1499616"/>
            <a:ext cx="947318" cy="201168"/>
          </a:xfrm>
          <a:prstGeom prst="rect">
            <a:avLst/>
          </a:prstGeom>
          <a:noFill/>
        </p:spPr>
        <p:txBody>
          <a:bodyPr wrap="square">
            <a:spAutoFit/>
          </a:bodyPr>
          <a:lstStyle/>
          <a:p>
            <a:pPr algn="l"/>
            <a:r>
              <a:rPr sz="650" b="1" i="0">
                <a:solidFill>
                  <a:srgbClr val="FFFFFF"/>
                </a:solidFill>
                <a:latin typeface="Montserrat"/>
              </a:rPr>
              <a:t>POINT PERSON</a:t>
            </a:r>
          </a:p>
        </p:txBody>
      </p:sp>
      <p:sp>
        <p:nvSpPr>
          <p:cNvPr id="22" name="Rectangle 21"/>
          <p:cNvSpPr/>
          <p:nvPr/>
        </p:nvSpPr>
        <p:spPr>
          <a:xfrm>
            <a:off x="6527901" y="1463040"/>
            <a:ext cx="850392"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2765" y="1499616"/>
            <a:ext cx="777240" cy="201168"/>
          </a:xfrm>
          <a:prstGeom prst="rect">
            <a:avLst/>
          </a:prstGeom>
          <a:noFill/>
        </p:spPr>
        <p:txBody>
          <a:bodyPr wrap="square">
            <a:spAutoFit/>
          </a:bodyPr>
          <a:lstStyle/>
          <a:p>
            <a:pPr algn="l"/>
            <a:r>
              <a:rPr sz="650" b="1" i="0">
                <a:solidFill>
                  <a:srgbClr val="FFFFFF"/>
                </a:solidFill>
                <a:latin typeface="Montserrat"/>
              </a:rPr>
              <a:t>CATEGORY</a:t>
            </a:r>
          </a:p>
        </p:txBody>
      </p:sp>
      <p:sp>
        <p:nvSpPr>
          <p:cNvPr id="24" name="Rectangle 23"/>
          <p:cNvSpPr/>
          <p:nvPr/>
        </p:nvSpPr>
        <p:spPr>
          <a:xfrm>
            <a:off x="7378293" y="1463040"/>
            <a:ext cx="1445666" cy="201168"/>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33157" y="1499616"/>
            <a:ext cx="1372514" cy="201168"/>
          </a:xfrm>
          <a:prstGeom prst="rect">
            <a:avLst/>
          </a:prstGeom>
          <a:noFill/>
        </p:spPr>
        <p:txBody>
          <a:bodyPr wrap="square">
            <a:spAutoFit/>
          </a:bodyPr>
          <a:lstStyle/>
          <a:p>
            <a:pPr algn="l"/>
            <a:r>
              <a:rPr sz="650" b="1" i="0">
                <a:solidFill>
                  <a:srgbClr val="FFFFFF"/>
                </a:solidFill>
                <a:latin typeface="Montserrat"/>
              </a:rPr>
              <a:t>KIM</a:t>
            </a:r>
          </a:p>
        </p:txBody>
      </p:sp>
      <p:sp>
        <p:nvSpPr>
          <p:cNvPr id="26" name="Rectangle 25"/>
          <p:cNvSpPr/>
          <p:nvPr/>
        </p:nvSpPr>
        <p:spPr>
          <a:xfrm>
            <a:off x="320040" y="1664208"/>
            <a:ext cx="850392" cy="65836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4" y="1700784"/>
            <a:ext cx="758952" cy="612648"/>
          </a:xfrm>
          <a:prstGeom prst="rect">
            <a:avLst/>
          </a:prstGeom>
          <a:noFill/>
        </p:spPr>
        <p:txBody>
          <a:bodyPr wrap="square">
            <a:spAutoFit/>
          </a:bodyPr>
          <a:lstStyle/>
          <a:p>
            <a:pPr algn="l"/>
            <a:r>
              <a:rPr sz="650" b="1" i="0">
                <a:solidFill>
                  <a:srgbClr val="FFFFFF"/>
                </a:solidFill>
                <a:latin typeface="Montserrat"/>
              </a:rPr>
              <a:t>September</a:t>
            </a:r>
          </a:p>
        </p:txBody>
      </p:sp>
      <p:sp>
        <p:nvSpPr>
          <p:cNvPr id="28" name="Rectangle 27"/>
          <p:cNvSpPr/>
          <p:nvPr/>
        </p:nvSpPr>
        <p:spPr>
          <a:xfrm>
            <a:off x="1170432" y="1664208"/>
            <a:ext cx="1530705"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25296" y="1700784"/>
            <a:ext cx="1439265" cy="612648"/>
          </a:xfrm>
          <a:prstGeom prst="rect">
            <a:avLst/>
          </a:prstGeom>
          <a:noFill/>
        </p:spPr>
        <p:txBody>
          <a:bodyPr wrap="square">
            <a:spAutoFit/>
          </a:bodyPr>
          <a:lstStyle/>
          <a:p>
            <a:pPr algn="l"/>
            <a:r>
              <a:rPr sz="750" b="1" i="0">
                <a:solidFill>
                  <a:srgbClr val="0F3460"/>
                </a:solidFill>
                <a:latin typeface="Calibri"/>
              </a:rPr>
              <a:t>KIM review — on-track vs. needs-support list</a:t>
            </a:r>
          </a:p>
        </p:txBody>
      </p:sp>
      <p:sp>
        <p:nvSpPr>
          <p:cNvPr id="30" name="Rectangle 29"/>
          <p:cNvSpPr/>
          <p:nvPr/>
        </p:nvSpPr>
        <p:spPr>
          <a:xfrm>
            <a:off x="2701137" y="1664208"/>
            <a:ext cx="195590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56001" y="1700784"/>
            <a:ext cx="1864461" cy="612648"/>
          </a:xfrm>
          <a:prstGeom prst="rect">
            <a:avLst/>
          </a:prstGeom>
          <a:noFill/>
        </p:spPr>
        <p:txBody>
          <a:bodyPr wrap="square">
            <a:spAutoFit/>
          </a:bodyPr>
          <a:lstStyle/>
          <a:p>
            <a:pPr algn="l"/>
            <a:r>
              <a:rPr sz="700" b="0" i="0">
                <a:solidFill>
                  <a:srgbClr val="4A5568"/>
                </a:solidFill>
                <a:latin typeface="Calibri"/>
              </a:rPr>
              <a:t>Pull each student's ECC record. On-track vs. needs-support. By Oct 1: every at-risk student has a written completion plan — Coordinator tracks, Principal accountable.
Success: Every student's ECC status known by October 1.</a:t>
            </a:r>
          </a:p>
        </p:txBody>
      </p:sp>
      <p:sp>
        <p:nvSpPr>
          <p:cNvPr id="32" name="Rectangle 31"/>
          <p:cNvSpPr/>
          <p:nvPr/>
        </p:nvSpPr>
        <p:spPr>
          <a:xfrm>
            <a:off x="4657039" y="1664208"/>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11903" y="1700784"/>
            <a:ext cx="758952" cy="612648"/>
          </a:xfrm>
          <a:prstGeom prst="rect">
            <a:avLst/>
          </a:prstGeom>
          <a:noFill/>
        </p:spPr>
        <p:txBody>
          <a:bodyPr wrap="square">
            <a:spAutoFit/>
          </a:bodyPr>
          <a:lstStyle/>
          <a:p>
            <a:pPr algn="l"/>
            <a:r>
              <a:rPr sz="700" b="0" i="0">
                <a:solidFill>
                  <a:srgbClr val="4A5568"/>
                </a:solidFill>
                <a:latin typeface="Calibri"/>
              </a:rPr>
              <a:t>Enrolled 12th graders</a:t>
            </a:r>
          </a:p>
        </p:txBody>
      </p:sp>
      <p:sp>
        <p:nvSpPr>
          <p:cNvPr id="34" name="Rectangle 33"/>
          <p:cNvSpPr/>
          <p:nvPr/>
        </p:nvSpPr>
        <p:spPr>
          <a:xfrm>
            <a:off x="5507431" y="1664208"/>
            <a:ext cx="102047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62295" y="1700784"/>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36" name="Rectangle 35"/>
          <p:cNvSpPr/>
          <p:nvPr/>
        </p:nvSpPr>
        <p:spPr>
          <a:xfrm>
            <a:off x="6527901" y="1664208"/>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2765" y="1700784"/>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38" name="Rectangle 37"/>
          <p:cNvSpPr/>
          <p:nvPr/>
        </p:nvSpPr>
        <p:spPr>
          <a:xfrm>
            <a:off x="7378293" y="1664208"/>
            <a:ext cx="144566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33157" y="1700784"/>
            <a:ext cx="1354226" cy="612648"/>
          </a:xfrm>
          <a:prstGeom prst="rect">
            <a:avLst/>
          </a:prstGeom>
          <a:noFill/>
        </p:spPr>
        <p:txBody>
          <a:bodyPr wrap="square">
            <a:spAutoFit/>
          </a:bodyPr>
          <a:lstStyle/>
          <a:p>
            <a:pPr algn="l"/>
            <a:r>
              <a:rPr sz="700" b="0" i="0">
                <a:solidFill>
                  <a:srgbClr val="4A5568"/>
                </a:solidFill>
                <a:latin typeface="Calibri"/>
              </a:rPr>
              <a:t>A7 · Protects D40</a:t>
            </a:r>
          </a:p>
        </p:txBody>
      </p:sp>
      <p:sp>
        <p:nvSpPr>
          <p:cNvPr id="40" name="Rectangle 39"/>
          <p:cNvSpPr/>
          <p:nvPr/>
        </p:nvSpPr>
        <p:spPr>
          <a:xfrm>
            <a:off x="320040" y="2322576"/>
            <a:ext cx="850392" cy="65836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4904" y="2359152"/>
            <a:ext cx="758952" cy="612648"/>
          </a:xfrm>
          <a:prstGeom prst="rect">
            <a:avLst/>
          </a:prstGeom>
          <a:noFill/>
        </p:spPr>
        <p:txBody>
          <a:bodyPr wrap="square">
            <a:spAutoFit/>
          </a:bodyPr>
          <a:lstStyle/>
          <a:p>
            <a:pPr algn="l"/>
            <a:r>
              <a:rPr sz="650" b="1" i="0">
                <a:solidFill>
                  <a:srgbClr val="FFFFFF"/>
                </a:solidFill>
                <a:latin typeface="Montserrat"/>
              </a:rPr>
              <a:t>Ongoing</a:t>
            </a:r>
          </a:p>
        </p:txBody>
      </p:sp>
      <p:sp>
        <p:nvSpPr>
          <p:cNvPr id="42" name="Rectangle 41"/>
          <p:cNvSpPr/>
          <p:nvPr/>
        </p:nvSpPr>
        <p:spPr>
          <a:xfrm>
            <a:off x="1170432" y="2322576"/>
            <a:ext cx="1530705"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25296" y="2359152"/>
            <a:ext cx="1439265" cy="612648"/>
          </a:xfrm>
          <a:prstGeom prst="rect">
            <a:avLst/>
          </a:prstGeom>
          <a:noFill/>
        </p:spPr>
        <p:txBody>
          <a:bodyPr wrap="square">
            <a:spAutoFit/>
          </a:bodyPr>
          <a:lstStyle/>
          <a:p>
            <a:pPr algn="l"/>
            <a:r>
              <a:rPr sz="750" b="1" i="0">
                <a:solidFill>
                  <a:srgbClr val="0F3460"/>
                </a:solidFill>
                <a:latin typeface="Calibri"/>
              </a:rPr>
              <a:t>ECC partner coordination</a:t>
            </a:r>
          </a:p>
        </p:txBody>
      </p:sp>
      <p:sp>
        <p:nvSpPr>
          <p:cNvPr id="44" name="Rectangle 43"/>
          <p:cNvSpPr/>
          <p:nvPr/>
        </p:nvSpPr>
        <p:spPr>
          <a:xfrm>
            <a:off x="2701137" y="2322576"/>
            <a:ext cx="1955901"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56001" y="2359152"/>
            <a:ext cx="1864461" cy="612648"/>
          </a:xfrm>
          <a:prstGeom prst="rect">
            <a:avLst/>
          </a:prstGeom>
          <a:noFill/>
        </p:spPr>
        <p:txBody>
          <a:bodyPr wrap="square">
            <a:spAutoFit/>
          </a:bodyPr>
          <a:lstStyle/>
          <a:p>
            <a:pPr algn="l"/>
            <a:r>
              <a:rPr sz="700" b="0" i="0">
                <a:solidFill>
                  <a:srgbClr val="4A5568"/>
                </a:solidFill>
                <a:latin typeface="Calibri"/>
              </a:rPr>
              <a:t>Name a direct contact at ECC partner; know all enrollment, withdrawal, and grade reporting deadlines. When a student is at risk, contact the ECC liaison directly — before mid-semester, when options narrow.
Success: No credit lost due to a missed administrative deadline.</a:t>
            </a:r>
          </a:p>
        </p:txBody>
      </p:sp>
      <p:sp>
        <p:nvSpPr>
          <p:cNvPr id="46" name="Rectangle 45"/>
          <p:cNvSpPr/>
          <p:nvPr/>
        </p:nvSpPr>
        <p:spPr>
          <a:xfrm>
            <a:off x="4657039" y="2322576"/>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11903" y="2359152"/>
            <a:ext cx="758952" cy="612648"/>
          </a:xfrm>
          <a:prstGeom prst="rect">
            <a:avLst/>
          </a:prstGeom>
          <a:noFill/>
        </p:spPr>
        <p:txBody>
          <a:bodyPr wrap="square">
            <a:spAutoFit/>
          </a:bodyPr>
          <a:lstStyle/>
          <a:p>
            <a:pPr algn="l"/>
            <a:r>
              <a:rPr sz="700" b="0" i="0">
                <a:solidFill>
                  <a:srgbClr val="4A5568"/>
                </a:solidFill>
                <a:latin typeface="Calibri"/>
              </a:rPr>
              <a:t>School / ECC partner</a:t>
            </a:r>
          </a:p>
        </p:txBody>
      </p:sp>
      <p:sp>
        <p:nvSpPr>
          <p:cNvPr id="48" name="Rectangle 47"/>
          <p:cNvSpPr/>
          <p:nvPr/>
        </p:nvSpPr>
        <p:spPr>
          <a:xfrm>
            <a:off x="5507431" y="2322576"/>
            <a:ext cx="1020470"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62295" y="2359152"/>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50" name="Rectangle 49"/>
          <p:cNvSpPr/>
          <p:nvPr/>
        </p:nvSpPr>
        <p:spPr>
          <a:xfrm>
            <a:off x="6527901" y="2322576"/>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82765" y="2359152"/>
            <a:ext cx="758952" cy="612648"/>
          </a:xfrm>
          <a:prstGeom prst="rect">
            <a:avLst/>
          </a:prstGeom>
          <a:noFill/>
        </p:spPr>
        <p:txBody>
          <a:bodyPr wrap="square">
            <a:spAutoFit/>
          </a:bodyPr>
          <a:lstStyle/>
          <a:p>
            <a:pPr algn="l"/>
            <a:r>
              <a:rPr sz="700" b="0" i="0">
                <a:solidFill>
                  <a:srgbClr val="166534"/>
                </a:solidFill>
                <a:latin typeface="Calibri"/>
              </a:rPr>
              <a:t>Retention</a:t>
            </a:r>
          </a:p>
        </p:txBody>
      </p:sp>
      <p:sp>
        <p:nvSpPr>
          <p:cNvPr id="52" name="Rectangle 51"/>
          <p:cNvSpPr/>
          <p:nvPr/>
        </p:nvSpPr>
        <p:spPr>
          <a:xfrm>
            <a:off x="7378293" y="2322576"/>
            <a:ext cx="1445666"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33157" y="2359152"/>
            <a:ext cx="1354226" cy="612648"/>
          </a:xfrm>
          <a:prstGeom prst="rect">
            <a:avLst/>
          </a:prstGeom>
          <a:noFill/>
        </p:spPr>
        <p:txBody>
          <a:bodyPr wrap="square">
            <a:spAutoFit/>
          </a:bodyPr>
          <a:lstStyle/>
          <a:p>
            <a:pPr algn="l"/>
            <a:r>
              <a:rPr sz="700" b="0" i="0">
                <a:solidFill>
                  <a:srgbClr val="4A5568"/>
                </a:solidFill>
                <a:latin typeface="Calibri"/>
              </a:rPr>
              <a:t>B16 · D41 · D42</a:t>
            </a:r>
          </a:p>
        </p:txBody>
      </p:sp>
      <p:sp>
        <p:nvSpPr>
          <p:cNvPr id="54" name="Rectangle 53"/>
          <p:cNvSpPr/>
          <p:nvPr/>
        </p:nvSpPr>
        <p:spPr>
          <a:xfrm>
            <a:off x="320040" y="2980944"/>
            <a:ext cx="850392" cy="65836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74904" y="3017520"/>
            <a:ext cx="758952" cy="612648"/>
          </a:xfrm>
          <a:prstGeom prst="rect">
            <a:avLst/>
          </a:prstGeom>
          <a:noFill/>
        </p:spPr>
        <p:txBody>
          <a:bodyPr wrap="square">
            <a:spAutoFit/>
          </a:bodyPr>
          <a:lstStyle/>
          <a:p>
            <a:pPr algn="l"/>
            <a:r>
              <a:rPr sz="650" b="1" i="0">
                <a:solidFill>
                  <a:srgbClr val="FFFFFF"/>
                </a:solidFill>
                <a:latin typeface="Montserrat"/>
              </a:rPr>
              <a:t>Jan–Apr</a:t>
            </a:r>
          </a:p>
        </p:txBody>
      </p:sp>
      <p:sp>
        <p:nvSpPr>
          <p:cNvPr id="56" name="Rectangle 55"/>
          <p:cNvSpPr/>
          <p:nvPr/>
        </p:nvSpPr>
        <p:spPr>
          <a:xfrm>
            <a:off x="1170432" y="2980944"/>
            <a:ext cx="1530705"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25296" y="3017520"/>
            <a:ext cx="1439265" cy="612648"/>
          </a:xfrm>
          <a:prstGeom prst="rect">
            <a:avLst/>
          </a:prstGeom>
          <a:noFill/>
        </p:spPr>
        <p:txBody>
          <a:bodyPr wrap="square">
            <a:spAutoFit/>
          </a:bodyPr>
          <a:lstStyle/>
          <a:p>
            <a:pPr algn="l"/>
            <a:r>
              <a:rPr sz="750" b="1" i="0">
                <a:solidFill>
                  <a:srgbClr val="0F3460"/>
                </a:solidFill>
                <a:latin typeface="Calibri"/>
              </a:rPr>
              <a:t>Completion push + ambassador recruitment</a:t>
            </a:r>
          </a:p>
        </p:txBody>
      </p:sp>
      <p:sp>
        <p:nvSpPr>
          <p:cNvPr id="58" name="Rectangle 57"/>
          <p:cNvSpPr/>
          <p:nvPr/>
        </p:nvSpPr>
        <p:spPr>
          <a:xfrm>
            <a:off x="2701137" y="2980944"/>
            <a:ext cx="1955901"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56001" y="3017520"/>
            <a:ext cx="1864461" cy="612648"/>
          </a:xfrm>
          <a:prstGeom prst="rect">
            <a:avLst/>
          </a:prstGeom>
          <a:noFill/>
        </p:spPr>
        <p:txBody>
          <a:bodyPr wrap="square">
            <a:spAutoFit/>
          </a:bodyPr>
          <a:lstStyle/>
          <a:p>
            <a:pPr algn="l"/>
            <a:r>
              <a:rPr sz="700" b="0" i="0">
                <a:solidFill>
                  <a:srgbClr val="4A5568"/>
                </a:solidFill>
                <a:latin typeface="Calibri"/>
              </a:rPr>
              <a:t>January: verify ECC progress; weekly check-ins for anyone behind — name exactly what to complete and by when. Recruit 3–5 completing seniors as ambassadors — ask directly; role: open house, advisory visits, share experience.
Success: 90%+ earn credential before graduation; 3+ ambassadors confirmed.</a:t>
            </a:r>
          </a:p>
        </p:txBody>
      </p:sp>
      <p:sp>
        <p:nvSpPr>
          <p:cNvPr id="60" name="Rectangle 59"/>
          <p:cNvSpPr/>
          <p:nvPr/>
        </p:nvSpPr>
        <p:spPr>
          <a:xfrm>
            <a:off x="4657039" y="2980944"/>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11903" y="3017520"/>
            <a:ext cx="758952" cy="612648"/>
          </a:xfrm>
          <a:prstGeom prst="rect">
            <a:avLst/>
          </a:prstGeom>
          <a:noFill/>
        </p:spPr>
        <p:txBody>
          <a:bodyPr wrap="square">
            <a:spAutoFit/>
          </a:bodyPr>
          <a:lstStyle/>
          <a:p>
            <a:pPr algn="l"/>
            <a:r>
              <a:rPr sz="700" b="0" i="0">
                <a:solidFill>
                  <a:srgbClr val="4A5568"/>
                </a:solidFill>
                <a:latin typeface="Calibri"/>
              </a:rPr>
              <a:t>Enrolled 12th graders</a:t>
            </a:r>
          </a:p>
        </p:txBody>
      </p:sp>
      <p:sp>
        <p:nvSpPr>
          <p:cNvPr id="62" name="Rectangle 61"/>
          <p:cNvSpPr/>
          <p:nvPr/>
        </p:nvSpPr>
        <p:spPr>
          <a:xfrm>
            <a:off x="5507431" y="2980944"/>
            <a:ext cx="102047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562295" y="3017520"/>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64" name="Rectangle 63"/>
          <p:cNvSpPr/>
          <p:nvPr/>
        </p:nvSpPr>
        <p:spPr>
          <a:xfrm>
            <a:off x="6527901" y="2980944"/>
            <a:ext cx="850392"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82765" y="3017520"/>
            <a:ext cx="758952" cy="612648"/>
          </a:xfrm>
          <a:prstGeom prst="rect">
            <a:avLst/>
          </a:prstGeom>
          <a:noFill/>
        </p:spPr>
        <p:txBody>
          <a:bodyPr wrap="square">
            <a:spAutoFit/>
          </a:bodyPr>
          <a:lstStyle/>
          <a:p>
            <a:pPr algn="l"/>
            <a:r>
              <a:rPr sz="700" b="0" i="0">
                <a:solidFill>
                  <a:srgbClr val="0F3460"/>
                </a:solidFill>
                <a:latin typeface="Calibri"/>
              </a:rPr>
              <a:t>Both</a:t>
            </a:r>
          </a:p>
        </p:txBody>
      </p:sp>
      <p:sp>
        <p:nvSpPr>
          <p:cNvPr id="66" name="Rectangle 65"/>
          <p:cNvSpPr/>
          <p:nvPr/>
        </p:nvSpPr>
        <p:spPr>
          <a:xfrm>
            <a:off x="7378293" y="2980944"/>
            <a:ext cx="1445666"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33157" y="3017520"/>
            <a:ext cx="1354226" cy="612648"/>
          </a:xfrm>
          <a:prstGeom prst="rect">
            <a:avLst/>
          </a:prstGeom>
          <a:noFill/>
        </p:spPr>
        <p:txBody>
          <a:bodyPr wrap="square">
            <a:spAutoFit/>
          </a:bodyPr>
          <a:lstStyle/>
          <a:p>
            <a:pPr algn="l"/>
            <a:r>
              <a:rPr sz="700" b="0" i="0">
                <a:solidFill>
                  <a:srgbClr val="4A5568"/>
                </a:solidFill>
                <a:latin typeface="Calibri"/>
              </a:rPr>
              <a:t>C25 · D40 · D46</a:t>
            </a:r>
          </a:p>
        </p:txBody>
      </p:sp>
      <p:sp>
        <p:nvSpPr>
          <p:cNvPr id="68" name="Rectangle 67"/>
          <p:cNvSpPr/>
          <p:nvPr/>
        </p:nvSpPr>
        <p:spPr>
          <a:xfrm>
            <a:off x="320040" y="3639312"/>
            <a:ext cx="850392" cy="65836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74904" y="3675888"/>
            <a:ext cx="758952" cy="612648"/>
          </a:xfrm>
          <a:prstGeom prst="rect">
            <a:avLst/>
          </a:prstGeom>
          <a:noFill/>
        </p:spPr>
        <p:txBody>
          <a:bodyPr wrap="square">
            <a:spAutoFit/>
          </a:bodyPr>
          <a:lstStyle/>
          <a:p>
            <a:pPr algn="l"/>
            <a:r>
              <a:rPr sz="650" b="1" i="0">
                <a:solidFill>
                  <a:srgbClr val="FFFFFF"/>
                </a:solidFill>
                <a:latin typeface="Montserrat"/>
              </a:rPr>
              <a:t>Before June 30</a:t>
            </a:r>
          </a:p>
        </p:txBody>
      </p:sp>
      <p:sp>
        <p:nvSpPr>
          <p:cNvPr id="70" name="Rectangle 69"/>
          <p:cNvSpPr/>
          <p:nvPr/>
        </p:nvSpPr>
        <p:spPr>
          <a:xfrm>
            <a:off x="1170432" y="3639312"/>
            <a:ext cx="1530705"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225296" y="3675888"/>
            <a:ext cx="1439265" cy="612648"/>
          </a:xfrm>
          <a:prstGeom prst="rect">
            <a:avLst/>
          </a:prstGeom>
          <a:noFill/>
        </p:spPr>
        <p:txBody>
          <a:bodyPr wrap="square">
            <a:spAutoFit/>
          </a:bodyPr>
          <a:lstStyle/>
          <a:p>
            <a:pPr algn="l"/>
            <a:r>
              <a:rPr sz="750" b="1" i="0">
                <a:solidFill>
                  <a:srgbClr val="0F3460"/>
                </a:solidFill>
                <a:latin typeface="Calibri"/>
              </a:rPr>
              <a:t>End-of-year debrief</a:t>
            </a:r>
          </a:p>
        </p:txBody>
      </p:sp>
      <p:sp>
        <p:nvSpPr>
          <p:cNvPr id="72" name="Rectangle 71"/>
          <p:cNvSpPr/>
          <p:nvPr/>
        </p:nvSpPr>
        <p:spPr>
          <a:xfrm>
            <a:off x="2701137" y="3639312"/>
            <a:ext cx="1955901"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56001" y="3675888"/>
            <a:ext cx="1864461" cy="612648"/>
          </a:xfrm>
          <a:prstGeom prst="rect">
            <a:avLst/>
          </a:prstGeom>
          <a:noFill/>
        </p:spPr>
        <p:txBody>
          <a:bodyPr wrap="square">
            <a:spAutoFit/>
          </a:bodyPr>
          <a:lstStyle/>
          <a:p>
            <a:pPr algn="l"/>
            <a:r>
              <a:rPr sz="700" b="0" i="0">
                <a:solidFill>
                  <a:srgbClr val="4A5568"/>
                </a:solidFill>
                <a:latin typeface="Calibri"/>
              </a:rPr>
              <a:t>Coordinator + AP + Counselor: review % who completed, where drop-offs occurred, 3 specific changes for next cycle. File debrief before June 30 — findings shape next fall.
Success: Written debrief on file; 3 changes identified for next year.</a:t>
            </a:r>
          </a:p>
        </p:txBody>
      </p:sp>
      <p:sp>
        <p:nvSpPr>
          <p:cNvPr id="74" name="Rectangle 73"/>
          <p:cNvSpPr/>
          <p:nvPr/>
        </p:nvSpPr>
        <p:spPr>
          <a:xfrm>
            <a:off x="4657039" y="3639312"/>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711903" y="3675888"/>
            <a:ext cx="758952" cy="612648"/>
          </a:xfrm>
          <a:prstGeom prst="rect">
            <a:avLst/>
          </a:prstGeom>
          <a:noFill/>
        </p:spPr>
        <p:txBody>
          <a:bodyPr wrap="square">
            <a:spAutoFit/>
          </a:bodyPr>
          <a:lstStyle/>
          <a:p>
            <a:pPr algn="l"/>
            <a:r>
              <a:rPr sz="700" b="0" i="0">
                <a:solidFill>
                  <a:srgbClr val="4A5568"/>
                </a:solidFill>
                <a:latin typeface="Calibri"/>
              </a:rPr>
              <a:t>School staff</a:t>
            </a:r>
          </a:p>
        </p:txBody>
      </p:sp>
      <p:sp>
        <p:nvSpPr>
          <p:cNvPr id="76" name="Rectangle 75"/>
          <p:cNvSpPr/>
          <p:nvPr/>
        </p:nvSpPr>
        <p:spPr>
          <a:xfrm>
            <a:off x="5507431" y="3639312"/>
            <a:ext cx="1020470"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562295" y="3675888"/>
            <a:ext cx="929030" cy="612648"/>
          </a:xfrm>
          <a:prstGeom prst="rect">
            <a:avLst/>
          </a:prstGeom>
          <a:noFill/>
        </p:spPr>
        <p:txBody>
          <a:bodyPr wrap="square">
            <a:spAutoFit/>
          </a:bodyPr>
          <a:lstStyle/>
          <a:p>
            <a:pPr algn="l"/>
            <a:r>
              <a:rPr sz="700" b="0" i="0">
                <a:solidFill>
                  <a:srgbClr val="4A5568"/>
                </a:solidFill>
                <a:latin typeface="Calibri"/>
              </a:rPr>
              <a:t>FRNYC Coordinator</a:t>
            </a:r>
          </a:p>
        </p:txBody>
      </p:sp>
      <p:sp>
        <p:nvSpPr>
          <p:cNvPr id="78" name="Rectangle 77"/>
          <p:cNvSpPr/>
          <p:nvPr/>
        </p:nvSpPr>
        <p:spPr>
          <a:xfrm>
            <a:off x="6527901" y="3639312"/>
            <a:ext cx="850392"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582765" y="3675888"/>
            <a:ext cx="758952" cy="612648"/>
          </a:xfrm>
          <a:prstGeom prst="rect">
            <a:avLst/>
          </a:prstGeom>
          <a:noFill/>
        </p:spPr>
        <p:txBody>
          <a:bodyPr wrap="square">
            <a:spAutoFit/>
          </a:bodyPr>
          <a:lstStyle/>
          <a:p>
            <a:pPr algn="l"/>
            <a:r>
              <a:rPr sz="700" b="0" i="0">
                <a:solidFill>
                  <a:srgbClr val="0F3460"/>
                </a:solidFill>
                <a:latin typeface="Calibri"/>
              </a:rPr>
              <a:t>Both</a:t>
            </a:r>
          </a:p>
        </p:txBody>
      </p:sp>
      <p:sp>
        <p:nvSpPr>
          <p:cNvPr id="80" name="Rectangle 79"/>
          <p:cNvSpPr/>
          <p:nvPr/>
        </p:nvSpPr>
        <p:spPr>
          <a:xfrm>
            <a:off x="7378293" y="3639312"/>
            <a:ext cx="1445666" cy="658368"/>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433157" y="3675888"/>
            <a:ext cx="1354226" cy="612648"/>
          </a:xfrm>
          <a:prstGeom prst="rect">
            <a:avLst/>
          </a:prstGeom>
          <a:noFill/>
        </p:spPr>
        <p:txBody>
          <a:bodyPr wrap="square">
            <a:spAutoFit/>
          </a:bodyPr>
          <a:lstStyle/>
          <a:p>
            <a:pPr algn="l"/>
            <a:r>
              <a:rPr sz="700" b="0" i="0">
                <a:solidFill>
                  <a:srgbClr val="4A5568"/>
                </a:solidFill>
                <a:latin typeface="Calibri"/>
              </a:rPr>
              <a:t>D29 · D31</a:t>
            </a:r>
          </a:p>
        </p:txBody>
      </p:sp>
      <p:sp>
        <p:nvSpPr>
          <p:cNvPr id="82" name="Rectangle 81"/>
          <p:cNvSpPr/>
          <p:nvPr/>
        </p:nvSpPr>
        <p:spPr>
          <a:xfrm>
            <a:off x="320040" y="4389120"/>
            <a:ext cx="8503920" cy="54864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11480" y="4434840"/>
            <a:ext cx="2743200" cy="164592"/>
          </a:xfrm>
          <a:prstGeom prst="rect">
            <a:avLst/>
          </a:prstGeom>
          <a:noFill/>
        </p:spPr>
        <p:txBody>
          <a:bodyPr wrap="square">
            <a:spAutoFit/>
          </a:bodyPr>
          <a:lstStyle/>
          <a:p>
            <a:pPr algn="l"/>
            <a:r>
              <a:rPr sz="650" b="1" i="0">
                <a:solidFill>
                  <a:srgbClr val="0F3460"/>
                </a:solidFill>
                <a:latin typeface="Montserrat"/>
              </a:rPr>
              <a:t>KIM REFERENCE</a:t>
            </a:r>
          </a:p>
        </p:txBody>
      </p:sp>
      <p:sp>
        <p:nvSpPr>
          <p:cNvPr id="84" name="Rectangle 83"/>
          <p:cNvSpPr/>
          <p:nvPr/>
        </p:nvSpPr>
        <p:spPr>
          <a:xfrm>
            <a:off x="4114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8056" y="4599432"/>
            <a:ext cx="310896" cy="146304"/>
          </a:xfrm>
          <a:prstGeom prst="rect">
            <a:avLst/>
          </a:prstGeom>
          <a:noFill/>
        </p:spPr>
        <p:txBody>
          <a:bodyPr wrap="square">
            <a:spAutoFit/>
          </a:bodyPr>
          <a:lstStyle/>
          <a:p>
            <a:pPr algn="l"/>
            <a:r>
              <a:rPr sz="600" b="1" i="0">
                <a:solidFill>
                  <a:srgbClr val="FFFFFF"/>
                </a:solidFill>
                <a:latin typeface="Montserrat"/>
              </a:rPr>
              <a:t>A7</a:t>
            </a:r>
          </a:p>
        </p:txBody>
      </p:sp>
      <p:sp>
        <p:nvSpPr>
          <p:cNvPr id="86" name="TextBox 85"/>
          <p:cNvSpPr txBox="1"/>
          <p:nvPr/>
        </p:nvSpPr>
        <p:spPr>
          <a:xfrm>
            <a:off x="813816" y="4599432"/>
            <a:ext cx="1463040" cy="256032"/>
          </a:xfrm>
          <a:prstGeom prst="rect">
            <a:avLst/>
          </a:prstGeom>
          <a:noFill/>
        </p:spPr>
        <p:txBody>
          <a:bodyPr wrap="square">
            <a:spAutoFit/>
          </a:bodyPr>
          <a:lstStyle/>
          <a:p>
            <a:pPr algn="l"/>
            <a:r>
              <a:rPr sz="650" b="0" i="0">
                <a:solidFill>
                  <a:srgbClr val="4A5568"/>
                </a:solidFill>
                <a:latin typeface="Calibri"/>
              </a:rPr>
              <a:t>At-risk support plans — Oct 5</a:t>
            </a:r>
          </a:p>
        </p:txBody>
      </p:sp>
      <p:sp>
        <p:nvSpPr>
          <p:cNvPr id="87" name="Rectangle 86"/>
          <p:cNvSpPr/>
          <p:nvPr/>
        </p:nvSpPr>
        <p:spPr>
          <a:xfrm>
            <a:off x="24688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505456" y="4599432"/>
            <a:ext cx="310896" cy="146304"/>
          </a:xfrm>
          <a:prstGeom prst="rect">
            <a:avLst/>
          </a:prstGeom>
          <a:noFill/>
        </p:spPr>
        <p:txBody>
          <a:bodyPr wrap="square">
            <a:spAutoFit/>
          </a:bodyPr>
          <a:lstStyle/>
          <a:p>
            <a:pPr algn="l"/>
            <a:r>
              <a:rPr sz="600" b="1" i="0">
                <a:solidFill>
                  <a:srgbClr val="FFFFFF"/>
                </a:solidFill>
                <a:latin typeface="Montserrat"/>
              </a:rPr>
              <a:t>B16</a:t>
            </a:r>
          </a:p>
        </p:txBody>
      </p:sp>
      <p:sp>
        <p:nvSpPr>
          <p:cNvPr id="89" name="TextBox 88"/>
          <p:cNvSpPr txBox="1"/>
          <p:nvPr/>
        </p:nvSpPr>
        <p:spPr>
          <a:xfrm>
            <a:off x="2871216" y="4599432"/>
            <a:ext cx="1463040" cy="256032"/>
          </a:xfrm>
          <a:prstGeom prst="rect">
            <a:avLst/>
          </a:prstGeom>
          <a:noFill/>
        </p:spPr>
        <p:txBody>
          <a:bodyPr wrap="square">
            <a:spAutoFit/>
          </a:bodyPr>
          <a:lstStyle/>
          <a:p>
            <a:pPr algn="l"/>
            <a:r>
              <a:rPr sz="650" b="0" i="0">
                <a:solidFill>
                  <a:srgbClr val="4A5568"/>
                </a:solidFill>
                <a:latin typeface="Calibri"/>
              </a:rPr>
              <a:t>Spring ECC planning confirmations — Jan 5</a:t>
            </a:r>
          </a:p>
        </p:txBody>
      </p:sp>
      <p:sp>
        <p:nvSpPr>
          <p:cNvPr id="90" name="Rectangle 89"/>
          <p:cNvSpPr/>
          <p:nvPr/>
        </p:nvSpPr>
        <p:spPr>
          <a:xfrm>
            <a:off x="45262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562856" y="4599432"/>
            <a:ext cx="310896" cy="146304"/>
          </a:xfrm>
          <a:prstGeom prst="rect">
            <a:avLst/>
          </a:prstGeom>
          <a:noFill/>
        </p:spPr>
        <p:txBody>
          <a:bodyPr wrap="square">
            <a:spAutoFit/>
          </a:bodyPr>
          <a:lstStyle/>
          <a:p>
            <a:pPr algn="l"/>
            <a:r>
              <a:rPr sz="600" b="1" i="0">
                <a:solidFill>
                  <a:srgbClr val="FFFFFF"/>
                </a:solidFill>
                <a:latin typeface="Montserrat"/>
              </a:rPr>
              <a:t>C25</a:t>
            </a:r>
          </a:p>
        </p:txBody>
      </p:sp>
      <p:sp>
        <p:nvSpPr>
          <p:cNvPr id="92" name="TextBox 91"/>
          <p:cNvSpPr txBox="1"/>
          <p:nvPr/>
        </p:nvSpPr>
        <p:spPr>
          <a:xfrm>
            <a:off x="4928616" y="4599432"/>
            <a:ext cx="1463040" cy="256032"/>
          </a:xfrm>
          <a:prstGeom prst="rect">
            <a:avLst/>
          </a:prstGeom>
          <a:noFill/>
        </p:spPr>
        <p:txBody>
          <a:bodyPr wrap="square">
            <a:spAutoFit/>
          </a:bodyPr>
          <a:lstStyle/>
          <a:p>
            <a:pPr algn="l"/>
            <a:r>
              <a:rPr sz="650" b="0" i="0">
                <a:solidFill>
                  <a:srgbClr val="4A5568"/>
                </a:solidFill>
                <a:latin typeface="Calibri"/>
              </a:rPr>
              <a:t>Seniors: paid WBL accepted — Apr 5</a:t>
            </a:r>
          </a:p>
        </p:txBody>
      </p:sp>
      <p:sp>
        <p:nvSpPr>
          <p:cNvPr id="93" name="Rectangle 92"/>
          <p:cNvSpPr/>
          <p:nvPr/>
        </p:nvSpPr>
        <p:spPr>
          <a:xfrm>
            <a:off x="6583680" y="4590288"/>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620256" y="4599432"/>
            <a:ext cx="310896" cy="146304"/>
          </a:xfrm>
          <a:prstGeom prst="rect">
            <a:avLst/>
          </a:prstGeom>
          <a:noFill/>
        </p:spPr>
        <p:txBody>
          <a:bodyPr wrap="square">
            <a:spAutoFit/>
          </a:bodyPr>
          <a:lstStyle/>
          <a:p>
            <a:pPr algn="l"/>
            <a:r>
              <a:rPr sz="600" b="1" i="0">
                <a:solidFill>
                  <a:srgbClr val="FFFFFF"/>
                </a:solidFill>
                <a:latin typeface="Montserrat"/>
              </a:rPr>
              <a:t>D40</a:t>
            </a:r>
          </a:p>
        </p:txBody>
      </p:sp>
      <p:sp>
        <p:nvSpPr>
          <p:cNvPr id="95" name="TextBox 94"/>
          <p:cNvSpPr txBox="1"/>
          <p:nvPr/>
        </p:nvSpPr>
        <p:spPr>
          <a:xfrm>
            <a:off x="6986016" y="4599432"/>
            <a:ext cx="1463040" cy="256032"/>
          </a:xfrm>
          <a:prstGeom prst="rect">
            <a:avLst/>
          </a:prstGeom>
          <a:noFill/>
        </p:spPr>
        <p:txBody>
          <a:bodyPr wrap="square">
            <a:spAutoFit/>
          </a:bodyPr>
          <a:lstStyle/>
          <a:p>
            <a:pPr algn="l"/>
            <a:r>
              <a:rPr sz="650" b="0" i="0">
                <a:solidFill>
                  <a:srgbClr val="4A5568"/>
                </a:solidFill>
                <a:latin typeface="Calibri"/>
              </a:rPr>
              <a:t>ECC completion — Jul 5</a:t>
            </a:r>
          </a:p>
        </p:txBody>
      </p:sp>
      <p:sp>
        <p:nvSpPr>
          <p:cNvPr id="96" name="Rectangle 95"/>
          <p:cNvSpPr/>
          <p:nvPr/>
        </p:nvSpPr>
        <p:spPr>
          <a:xfrm>
            <a:off x="411480" y="4791456"/>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48056" y="4800600"/>
            <a:ext cx="310896" cy="146304"/>
          </a:xfrm>
          <a:prstGeom prst="rect">
            <a:avLst/>
          </a:prstGeom>
          <a:noFill/>
        </p:spPr>
        <p:txBody>
          <a:bodyPr wrap="square">
            <a:spAutoFit/>
          </a:bodyPr>
          <a:lstStyle/>
          <a:p>
            <a:pPr algn="l"/>
            <a:r>
              <a:rPr sz="600" b="1" i="0">
                <a:solidFill>
                  <a:srgbClr val="FFFFFF"/>
                </a:solidFill>
                <a:latin typeface="Montserrat"/>
              </a:rPr>
              <a:t>D46</a:t>
            </a:r>
          </a:p>
        </p:txBody>
      </p:sp>
      <p:sp>
        <p:nvSpPr>
          <p:cNvPr id="98" name="TextBox 97"/>
          <p:cNvSpPr txBox="1"/>
          <p:nvPr/>
        </p:nvSpPr>
        <p:spPr>
          <a:xfrm>
            <a:off x="813816" y="4800600"/>
            <a:ext cx="1463040" cy="256032"/>
          </a:xfrm>
          <a:prstGeom prst="rect">
            <a:avLst/>
          </a:prstGeom>
          <a:noFill/>
        </p:spPr>
        <p:txBody>
          <a:bodyPr wrap="square">
            <a:spAutoFit/>
          </a:bodyPr>
          <a:lstStyle/>
          <a:p>
            <a:pPr algn="l"/>
            <a:r>
              <a:rPr sz="650" b="0" i="0">
                <a:solidFill>
                  <a:srgbClr val="4A5568"/>
                </a:solidFill>
                <a:latin typeface="Calibri"/>
              </a:rPr>
              <a:t>Seniors: paid WBL completed — Jul 5</a:t>
            </a:r>
          </a:p>
        </p:txBody>
      </p:sp>
      <p:sp>
        <p:nvSpPr>
          <p:cNvPr id="99" name="Rectangle 98"/>
          <p:cNvSpPr/>
          <p:nvPr/>
        </p:nvSpPr>
        <p:spPr>
          <a:xfrm>
            <a:off x="2468880" y="4791456"/>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505456" y="4800600"/>
            <a:ext cx="310896" cy="146304"/>
          </a:xfrm>
          <a:prstGeom prst="rect">
            <a:avLst/>
          </a:prstGeom>
          <a:noFill/>
        </p:spPr>
        <p:txBody>
          <a:bodyPr wrap="square">
            <a:spAutoFit/>
          </a:bodyPr>
          <a:lstStyle/>
          <a:p>
            <a:pPr algn="l"/>
            <a:r>
              <a:rPr sz="600" b="1" i="0">
                <a:solidFill>
                  <a:srgbClr val="FFFFFF"/>
                </a:solidFill>
                <a:latin typeface="Montserrat"/>
              </a:rPr>
              <a:t>D29</a:t>
            </a:r>
          </a:p>
        </p:txBody>
      </p:sp>
      <p:sp>
        <p:nvSpPr>
          <p:cNvPr id="101" name="TextBox 100"/>
          <p:cNvSpPr txBox="1"/>
          <p:nvPr/>
        </p:nvSpPr>
        <p:spPr>
          <a:xfrm>
            <a:off x="2871216" y="4800600"/>
            <a:ext cx="1463040" cy="256032"/>
          </a:xfrm>
          <a:prstGeom prst="rect">
            <a:avLst/>
          </a:prstGeom>
          <a:noFill/>
        </p:spPr>
        <p:txBody>
          <a:bodyPr wrap="square">
            <a:spAutoFit/>
          </a:bodyPr>
          <a:lstStyle/>
          <a:p>
            <a:pPr algn="l"/>
            <a:r>
              <a:rPr sz="650" b="0" i="0">
                <a:solidFill>
                  <a:srgbClr val="4A5568"/>
                </a:solidFill>
                <a:latin typeface="Calibri"/>
              </a:rPr>
              <a:t>Next-SY implementation plan — Jul 5</a:t>
            </a:r>
          </a:p>
        </p:txBody>
      </p:sp>
      <p:sp>
        <p:nvSpPr>
          <p:cNvPr id="102" name="Rectangle 101"/>
          <p:cNvSpPr/>
          <p:nvPr/>
        </p:nvSpPr>
        <p:spPr>
          <a:xfrm>
            <a:off x="4526280" y="4791456"/>
            <a:ext cx="365760" cy="146304"/>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562856" y="4800600"/>
            <a:ext cx="310896" cy="146304"/>
          </a:xfrm>
          <a:prstGeom prst="rect">
            <a:avLst/>
          </a:prstGeom>
          <a:noFill/>
        </p:spPr>
        <p:txBody>
          <a:bodyPr wrap="square">
            <a:spAutoFit/>
          </a:bodyPr>
          <a:lstStyle/>
          <a:p>
            <a:pPr algn="l"/>
            <a:r>
              <a:rPr sz="600" b="1" i="0">
                <a:solidFill>
                  <a:srgbClr val="FFFFFF"/>
                </a:solidFill>
                <a:latin typeface="Montserrat"/>
              </a:rPr>
              <a:t>D31</a:t>
            </a:r>
          </a:p>
        </p:txBody>
      </p:sp>
      <p:sp>
        <p:nvSpPr>
          <p:cNvPr id="104" name="TextBox 103"/>
          <p:cNvSpPr txBox="1"/>
          <p:nvPr/>
        </p:nvSpPr>
        <p:spPr>
          <a:xfrm>
            <a:off x="4928616" y="4800600"/>
            <a:ext cx="1463040" cy="256032"/>
          </a:xfrm>
          <a:prstGeom prst="rect">
            <a:avLst/>
          </a:prstGeom>
          <a:noFill/>
        </p:spPr>
        <p:txBody>
          <a:bodyPr wrap="square">
            <a:spAutoFit/>
          </a:bodyPr>
          <a:lstStyle/>
          <a:p>
            <a:pPr algn="l"/>
            <a:r>
              <a:rPr sz="650" b="0" i="0">
                <a:solidFill>
                  <a:srgbClr val="4A5568"/>
                </a:solidFill>
                <a:latin typeface="Calibri"/>
              </a:rPr>
              <a:t>Equity reflection complete — Jul 5</a:t>
            </a:r>
          </a:p>
        </p:txBody>
      </p:sp>
      <p:sp>
        <p:nvSpPr>
          <p:cNvPr id="105" name="Rectangle 104"/>
          <p:cNvSpPr/>
          <p:nvPr/>
        </p:nvSpPr>
        <p:spPr>
          <a:xfrm>
            <a:off x="0" y="6537960"/>
            <a:ext cx="9144000" cy="3200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595360" y="6583680"/>
            <a:ext cx="365760" cy="320040"/>
          </a:xfrm>
          <a:prstGeom prst="rect">
            <a:avLst/>
          </a:prstGeom>
          <a:noFill/>
        </p:spPr>
        <p:txBody>
          <a:bodyPr wrap="square">
            <a:spAutoFit/>
          </a:bodyPr>
          <a:lstStyle/>
          <a:p>
            <a:pPr algn="r"/>
            <a:r>
              <a:rPr sz="800" b="1" i="0">
                <a:solidFill>
                  <a:srgbClr val="4A5568"/>
                </a:solidFill>
                <a:latin typeface="Montserrat"/>
              </a:rPr>
              <a:t>7</a:t>
            </a:r>
          </a:p>
        </p:txBody>
      </p:sp>
      <p:sp>
        <p:nvSpPr>
          <p:cNvPr id="107" name="TextBox 106"/>
          <p:cNvSpPr txBox="1"/>
          <p:nvPr/>
        </p:nvSpPr>
        <p:spPr>
          <a:xfrm>
            <a:off x="365760" y="6601968"/>
            <a:ext cx="5486400" cy="320040"/>
          </a:xfrm>
          <a:prstGeom prst="rect">
            <a:avLst/>
          </a:prstGeom>
          <a:noFill/>
        </p:spPr>
        <p:txBody>
          <a:bodyPr wrap="square">
            <a:spAutoFit/>
          </a:bodyPr>
          <a:lstStyle/>
          <a:p>
            <a:pPr algn="l"/>
            <a:r>
              <a:rPr sz="700" b="0" i="0">
                <a:solidFill>
                  <a:srgbClr val="4A5568"/>
                </a:solidFill>
                <a:latin typeface="Calibri"/>
              </a:rPr>
              <a:t>FutureReady NYC  ·  NYCPS Office of Student Pathways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48000" cy="73152"/>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8000" y="0"/>
            <a:ext cx="3048000" cy="73152"/>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0" y="0"/>
            <a:ext cx="3048000" cy="73152"/>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73152"/>
            <a:ext cx="9144000" cy="457200"/>
          </a:xfrm>
          <a:prstGeom prst="rect">
            <a:avLst/>
          </a:prstGeom>
          <a:noFill/>
          <a:ln w="9525">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6304"/>
            <a:ext cx="7315200" cy="457200"/>
          </a:xfrm>
          <a:prstGeom prst="rect">
            <a:avLst/>
          </a:prstGeom>
          <a:noFill/>
        </p:spPr>
        <p:txBody>
          <a:bodyPr wrap="square">
            <a:spAutoFit/>
          </a:bodyPr>
          <a:lstStyle/>
          <a:p>
            <a:pPr algn="l"/>
            <a:r>
              <a:rPr sz="750" b="1" i="0">
                <a:solidFill>
                  <a:srgbClr val="0F3460"/>
                </a:solidFill>
                <a:latin typeface="Montserrat"/>
              </a:rPr>
              <a:t>EQUITY CHECKLIST &amp; KIM CROSSWALK</a:t>
            </a:r>
          </a:p>
        </p:txBody>
      </p:sp>
      <p:sp>
        <p:nvSpPr>
          <p:cNvPr id="7" name="TextBox 6"/>
          <p:cNvSpPr txBox="1"/>
          <p:nvPr/>
        </p:nvSpPr>
        <p:spPr>
          <a:xfrm>
            <a:off x="365760" y="594360"/>
            <a:ext cx="8412480" cy="182880"/>
          </a:xfrm>
          <a:prstGeom prst="rect">
            <a:avLst/>
          </a:prstGeom>
          <a:noFill/>
        </p:spPr>
        <p:txBody>
          <a:bodyPr wrap="square">
            <a:spAutoFit/>
          </a:bodyPr>
          <a:lstStyle/>
          <a:p>
            <a:pPr algn="l"/>
            <a:r>
              <a:rPr sz="700" b="1" i="0">
                <a:solidFill>
                  <a:srgbClr val="4A5568"/>
                </a:solidFill>
                <a:latin typeface="Montserrat"/>
              </a:rPr>
              <a:t>EQUITY CHECKLIST — SWD &amp; MLL ACCESS (REVIEW AT ENROLLMENT AND MID-YEAR)</a:t>
            </a:r>
          </a:p>
        </p:txBody>
      </p:sp>
      <p:sp>
        <p:nvSpPr>
          <p:cNvPr id="8" name="Rectangle 7"/>
          <p:cNvSpPr/>
          <p:nvPr/>
        </p:nvSpPr>
        <p:spPr>
          <a:xfrm>
            <a:off x="365760" y="777240"/>
            <a:ext cx="8412480" cy="9144"/>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795528"/>
            <a:ext cx="3749039" cy="201168"/>
          </a:xfrm>
          <a:prstGeom prst="rect">
            <a:avLst/>
          </a:prstGeom>
          <a:solidFill>
            <a:srgbClr val="B51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832104"/>
            <a:ext cx="3657599" cy="182880"/>
          </a:xfrm>
          <a:prstGeom prst="rect">
            <a:avLst/>
          </a:prstGeom>
          <a:noFill/>
        </p:spPr>
        <p:txBody>
          <a:bodyPr wrap="square">
            <a:spAutoFit/>
          </a:bodyPr>
          <a:lstStyle/>
          <a:p>
            <a:pPr algn="l"/>
            <a:r>
              <a:rPr sz="650" b="1" i="0">
                <a:solidFill>
                  <a:srgbClr val="FFFFFF"/>
                </a:solidFill>
                <a:latin typeface="Montserrat"/>
              </a:rPr>
              <a:t>BARRIER TO WATCH FOR</a:t>
            </a:r>
          </a:p>
        </p:txBody>
      </p:sp>
      <p:sp>
        <p:nvSpPr>
          <p:cNvPr id="11" name="Rectangle 10"/>
          <p:cNvSpPr/>
          <p:nvPr/>
        </p:nvSpPr>
        <p:spPr>
          <a:xfrm>
            <a:off x="4206240" y="795528"/>
            <a:ext cx="4572000" cy="201168"/>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9392" y="832104"/>
            <a:ext cx="4480560" cy="182880"/>
          </a:xfrm>
          <a:prstGeom prst="rect">
            <a:avLst/>
          </a:prstGeom>
          <a:noFill/>
        </p:spPr>
        <p:txBody>
          <a:bodyPr wrap="square">
            <a:spAutoFit/>
          </a:bodyPr>
          <a:lstStyle/>
          <a:p>
            <a:pPr algn="l"/>
            <a:r>
              <a:rPr sz="650" b="1" i="0">
                <a:solidFill>
                  <a:srgbClr val="FFFFFF"/>
                </a:solidFill>
                <a:latin typeface="Montserrat"/>
              </a:rPr>
              <a:t>WHAT TO DO</a:t>
            </a:r>
          </a:p>
        </p:txBody>
      </p:sp>
      <p:sp>
        <p:nvSpPr>
          <p:cNvPr id="13" name="Rectangle 12"/>
          <p:cNvSpPr/>
          <p:nvPr/>
        </p:nvSpPr>
        <p:spPr>
          <a:xfrm>
            <a:off x="365760" y="996696"/>
            <a:ext cx="3749039"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06240" y="996696"/>
            <a:ext cx="4572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 y="1051560"/>
            <a:ext cx="3639311" cy="429768"/>
          </a:xfrm>
          <a:prstGeom prst="rect">
            <a:avLst/>
          </a:prstGeom>
          <a:noFill/>
        </p:spPr>
        <p:txBody>
          <a:bodyPr wrap="square">
            <a:spAutoFit/>
          </a:bodyPr>
          <a:lstStyle/>
          <a:p>
            <a:pPr algn="l"/>
            <a:r>
              <a:rPr sz="750" b="1" i="0">
                <a:solidFill>
                  <a:srgbClr val="B5162B"/>
                </a:solidFill>
                <a:latin typeface="Calibri"/>
              </a:rPr>
              <a:t>IEP mandated services or pull-out schedules create conflicts that block SWD students from the cohort — often without anyone flagging it</a:t>
            </a:r>
          </a:p>
        </p:txBody>
      </p:sp>
      <p:sp>
        <p:nvSpPr>
          <p:cNvPr id="16" name="TextBox 15"/>
          <p:cNvSpPr txBox="1"/>
          <p:nvPr/>
        </p:nvSpPr>
        <p:spPr>
          <a:xfrm>
            <a:off x="4279392" y="1051560"/>
            <a:ext cx="4462272" cy="429768"/>
          </a:xfrm>
          <a:prstGeom prst="rect">
            <a:avLst/>
          </a:prstGeom>
          <a:noFill/>
        </p:spPr>
        <p:txBody>
          <a:bodyPr wrap="square">
            <a:spAutoFit/>
          </a:bodyPr>
          <a:lstStyle/>
          <a:p>
            <a:pPr algn="l"/>
            <a:r>
              <a:rPr sz="750" b="0" i="0">
                <a:solidFill>
                  <a:srgbClr val="166534"/>
                </a:solidFill>
                <a:latin typeface="Calibri"/>
              </a:rPr>
              <a:t>Cross-reference the Yes/Maybe survey list with the master schedule before the cohort is finalized. Students blocked get a 1:1 — explore period swaps, modified pull-outs, or an alternate CCI section. Flag to AP before cohort finalized.</a:t>
            </a:r>
          </a:p>
        </p:txBody>
      </p:sp>
      <p:sp>
        <p:nvSpPr>
          <p:cNvPr id="17" name="Rectangle 16"/>
          <p:cNvSpPr/>
          <p:nvPr/>
        </p:nvSpPr>
        <p:spPr>
          <a:xfrm>
            <a:off x="365760" y="1499616"/>
            <a:ext cx="3749039" cy="5029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06240" y="1499616"/>
            <a:ext cx="4572000" cy="5029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 y="1554480"/>
            <a:ext cx="3639311" cy="429768"/>
          </a:xfrm>
          <a:prstGeom prst="rect">
            <a:avLst/>
          </a:prstGeom>
          <a:noFill/>
        </p:spPr>
        <p:txBody>
          <a:bodyPr wrap="square">
            <a:spAutoFit/>
          </a:bodyPr>
          <a:lstStyle/>
          <a:p>
            <a:pPr algn="l"/>
            <a:r>
              <a:rPr sz="750" b="1" i="0">
                <a:solidFill>
                  <a:srgbClr val="B5162B"/>
                </a:solidFill>
                <a:latin typeface="Calibri"/>
              </a:rPr>
              <a:t>Open house materials, interest survey, and pathway descriptions are English-only</a:t>
            </a:r>
          </a:p>
        </p:txBody>
      </p:sp>
      <p:sp>
        <p:nvSpPr>
          <p:cNvPr id="20" name="TextBox 19"/>
          <p:cNvSpPr txBox="1"/>
          <p:nvPr/>
        </p:nvSpPr>
        <p:spPr>
          <a:xfrm>
            <a:off x="4279392" y="1554480"/>
            <a:ext cx="4462272" cy="429768"/>
          </a:xfrm>
          <a:prstGeom prst="rect">
            <a:avLst/>
          </a:prstGeom>
          <a:noFill/>
        </p:spPr>
        <p:txBody>
          <a:bodyPr wrap="square">
            <a:spAutoFit/>
          </a:bodyPr>
          <a:lstStyle/>
          <a:p>
            <a:pPr algn="l"/>
            <a:r>
              <a:rPr sz="750" b="0" i="0">
                <a:solidFill>
                  <a:srgbClr val="166534"/>
                </a:solidFill>
                <a:latin typeface="Calibri"/>
              </a:rPr>
              <a:t>Translate all core materials into the top 3 home languages. Request support from ENL or your network office. Recruit bilingual student ambassadors.</a:t>
            </a:r>
          </a:p>
        </p:txBody>
      </p:sp>
      <p:sp>
        <p:nvSpPr>
          <p:cNvPr id="21" name="Rectangle 20"/>
          <p:cNvSpPr/>
          <p:nvPr/>
        </p:nvSpPr>
        <p:spPr>
          <a:xfrm>
            <a:off x="365760" y="2002536"/>
            <a:ext cx="3749039"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06240" y="2002536"/>
            <a:ext cx="457200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 y="2057400"/>
            <a:ext cx="3639311" cy="429768"/>
          </a:xfrm>
          <a:prstGeom prst="rect">
            <a:avLst/>
          </a:prstGeom>
          <a:noFill/>
        </p:spPr>
        <p:txBody>
          <a:bodyPr wrap="square">
            <a:spAutoFit/>
          </a:bodyPr>
          <a:lstStyle/>
          <a:p>
            <a:pPr algn="l"/>
            <a:r>
              <a:rPr sz="750" b="1" i="0">
                <a:solidFill>
                  <a:srgbClr val="B5162B"/>
                </a:solidFill>
                <a:latin typeface="Calibri"/>
              </a:rPr>
              <a:t>ECC partner prerequisites may screen out SWD and MLL students who qualify via different pathways</a:t>
            </a:r>
          </a:p>
        </p:txBody>
      </p:sp>
      <p:sp>
        <p:nvSpPr>
          <p:cNvPr id="24" name="TextBox 23"/>
          <p:cNvSpPr txBox="1"/>
          <p:nvPr/>
        </p:nvSpPr>
        <p:spPr>
          <a:xfrm>
            <a:off x="4279392" y="2057400"/>
            <a:ext cx="4462272" cy="429768"/>
          </a:xfrm>
          <a:prstGeom prst="rect">
            <a:avLst/>
          </a:prstGeom>
          <a:noFill/>
        </p:spPr>
        <p:txBody>
          <a:bodyPr wrap="square">
            <a:spAutoFit/>
          </a:bodyPr>
          <a:lstStyle/>
          <a:p>
            <a:pPr algn="l"/>
            <a:r>
              <a:rPr sz="750" b="0" i="0">
                <a:solidFill>
                  <a:srgbClr val="166534"/>
                </a:solidFill>
                <a:latin typeface="Calibri"/>
              </a:rPr>
              <a:t>Audit prerequisite lists annually. Identify confirmed partner requirements vs. internal assumptions that can be challenged. Escalate structural barriers to your AP and OSP.</a:t>
            </a:r>
          </a:p>
        </p:txBody>
      </p:sp>
      <p:sp>
        <p:nvSpPr>
          <p:cNvPr id="25" name="Rectangle 24"/>
          <p:cNvSpPr/>
          <p:nvPr/>
        </p:nvSpPr>
        <p:spPr>
          <a:xfrm>
            <a:off x="365760" y="2505456"/>
            <a:ext cx="3749039" cy="5029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06240" y="2505456"/>
            <a:ext cx="4572000" cy="5029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 y="2560320"/>
            <a:ext cx="3639311" cy="429768"/>
          </a:xfrm>
          <a:prstGeom prst="rect">
            <a:avLst/>
          </a:prstGeom>
          <a:noFill/>
        </p:spPr>
        <p:txBody>
          <a:bodyPr wrap="square">
            <a:spAutoFit/>
          </a:bodyPr>
          <a:lstStyle/>
          <a:p>
            <a:pPr algn="l"/>
            <a:r>
              <a:rPr sz="750" b="1" i="0">
                <a:solidFill>
                  <a:srgbClr val="B5162B"/>
                </a:solidFill>
                <a:latin typeface="Calibri"/>
              </a:rPr>
              <a:t>SWD / MLL enrollment in FRNYC is significantly below their share of the school population</a:t>
            </a:r>
          </a:p>
        </p:txBody>
      </p:sp>
      <p:sp>
        <p:nvSpPr>
          <p:cNvPr id="28" name="TextBox 27"/>
          <p:cNvSpPr txBox="1"/>
          <p:nvPr/>
        </p:nvSpPr>
        <p:spPr>
          <a:xfrm>
            <a:off x="4279392" y="2560320"/>
            <a:ext cx="4462272" cy="429768"/>
          </a:xfrm>
          <a:prstGeom prst="rect">
            <a:avLst/>
          </a:prstGeom>
          <a:noFill/>
        </p:spPr>
        <p:txBody>
          <a:bodyPr wrap="square">
            <a:spAutoFit/>
          </a:bodyPr>
          <a:lstStyle/>
          <a:p>
            <a:pPr algn="l"/>
            <a:r>
              <a:rPr sz="750" b="0" i="0">
                <a:solidFill>
                  <a:srgbClr val="166534"/>
                </a:solidFill>
                <a:latin typeface="Calibri"/>
              </a:rPr>
              <a:t>Set an explicit equity target before each cycle. Actively recruit early. Escalate significant gaps to school leadership and OSP before October 1.</a:t>
            </a:r>
          </a:p>
        </p:txBody>
      </p:sp>
      <p:sp>
        <p:nvSpPr>
          <p:cNvPr id="29" name="TextBox 28"/>
          <p:cNvSpPr txBox="1"/>
          <p:nvPr/>
        </p:nvSpPr>
        <p:spPr>
          <a:xfrm>
            <a:off x="365760" y="3145536"/>
            <a:ext cx="8412480" cy="182880"/>
          </a:xfrm>
          <a:prstGeom prst="rect">
            <a:avLst/>
          </a:prstGeom>
          <a:noFill/>
        </p:spPr>
        <p:txBody>
          <a:bodyPr wrap="square">
            <a:spAutoFit/>
          </a:bodyPr>
          <a:lstStyle/>
          <a:p>
            <a:pPr algn="l"/>
            <a:r>
              <a:rPr sz="700" b="1" i="0">
                <a:solidFill>
                  <a:srgbClr val="4A5568"/>
                </a:solidFill>
                <a:latin typeface="Montserrat"/>
              </a:rPr>
              <a:t>KIM CROSSWALK — ALL GRADES AT A GLANCE</a:t>
            </a:r>
          </a:p>
        </p:txBody>
      </p:sp>
      <p:sp>
        <p:nvSpPr>
          <p:cNvPr id="30" name="Rectangle 29"/>
          <p:cNvSpPr/>
          <p:nvPr/>
        </p:nvSpPr>
        <p:spPr>
          <a:xfrm>
            <a:off x="365760" y="3328416"/>
            <a:ext cx="8412480" cy="9144"/>
          </a:xfrm>
          <a:prstGeom prst="rect">
            <a:avLst/>
          </a:prstGeom>
          <a:solidFill>
            <a:srgbClr val="CB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3346704"/>
            <a:ext cx="475488" cy="173736"/>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374136"/>
            <a:ext cx="402336" cy="173736"/>
          </a:xfrm>
          <a:prstGeom prst="rect">
            <a:avLst/>
          </a:prstGeom>
          <a:noFill/>
        </p:spPr>
        <p:txBody>
          <a:bodyPr wrap="square">
            <a:spAutoFit/>
          </a:bodyPr>
          <a:lstStyle/>
          <a:p>
            <a:pPr algn="l"/>
            <a:r>
              <a:rPr sz="600" b="1" i="0">
                <a:solidFill>
                  <a:srgbClr val="FFFFFF"/>
                </a:solidFill>
                <a:latin typeface="Montserrat"/>
              </a:rPr>
              <a:t>KIM</a:t>
            </a:r>
          </a:p>
        </p:txBody>
      </p:sp>
      <p:sp>
        <p:nvSpPr>
          <p:cNvPr id="33" name="Rectangle 32"/>
          <p:cNvSpPr/>
          <p:nvPr/>
        </p:nvSpPr>
        <p:spPr>
          <a:xfrm>
            <a:off x="841248" y="3346704"/>
            <a:ext cx="3200400" cy="173736"/>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6968" y="3374136"/>
            <a:ext cx="3127248" cy="173736"/>
          </a:xfrm>
          <a:prstGeom prst="rect">
            <a:avLst/>
          </a:prstGeom>
          <a:noFill/>
        </p:spPr>
        <p:txBody>
          <a:bodyPr wrap="square">
            <a:spAutoFit/>
          </a:bodyPr>
          <a:lstStyle/>
          <a:p>
            <a:pPr algn="l"/>
            <a:r>
              <a:rPr sz="600" b="1" i="0">
                <a:solidFill>
                  <a:srgbClr val="FFFFFF"/>
                </a:solidFill>
                <a:latin typeface="Montserrat"/>
              </a:rPr>
              <a:t>DESCRIPTION</a:t>
            </a:r>
          </a:p>
        </p:txBody>
      </p:sp>
      <p:sp>
        <p:nvSpPr>
          <p:cNvPr id="35" name="Rectangle 34"/>
          <p:cNvSpPr/>
          <p:nvPr/>
        </p:nvSpPr>
        <p:spPr>
          <a:xfrm>
            <a:off x="4041648" y="3346704"/>
            <a:ext cx="640080" cy="173736"/>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87368" y="3374136"/>
            <a:ext cx="566928" cy="173736"/>
          </a:xfrm>
          <a:prstGeom prst="rect">
            <a:avLst/>
          </a:prstGeom>
          <a:noFill/>
        </p:spPr>
        <p:txBody>
          <a:bodyPr wrap="square">
            <a:spAutoFit/>
          </a:bodyPr>
          <a:lstStyle/>
          <a:p>
            <a:pPr algn="l"/>
            <a:r>
              <a:rPr sz="600" b="1" i="0">
                <a:solidFill>
                  <a:srgbClr val="FFFFFF"/>
                </a:solidFill>
                <a:latin typeface="Montserrat"/>
              </a:rPr>
              <a:t>DUE</a:t>
            </a:r>
          </a:p>
        </p:txBody>
      </p:sp>
      <p:sp>
        <p:nvSpPr>
          <p:cNvPr id="37" name="Rectangle 36"/>
          <p:cNvSpPr/>
          <p:nvPr/>
        </p:nvSpPr>
        <p:spPr>
          <a:xfrm>
            <a:off x="4681728" y="3346704"/>
            <a:ext cx="640080" cy="173736"/>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27448" y="3374136"/>
            <a:ext cx="566928" cy="173736"/>
          </a:xfrm>
          <a:prstGeom prst="rect">
            <a:avLst/>
          </a:prstGeom>
          <a:noFill/>
        </p:spPr>
        <p:txBody>
          <a:bodyPr wrap="square">
            <a:spAutoFit/>
          </a:bodyPr>
          <a:lstStyle/>
          <a:p>
            <a:pPr algn="l"/>
            <a:r>
              <a:rPr sz="600" b="1" i="0">
                <a:solidFill>
                  <a:srgbClr val="FFFFFF"/>
                </a:solidFill>
                <a:latin typeface="Montserrat"/>
              </a:rPr>
              <a:t>GRADE</a:t>
            </a:r>
          </a:p>
        </p:txBody>
      </p:sp>
      <p:sp>
        <p:nvSpPr>
          <p:cNvPr id="39" name="Rectangle 38"/>
          <p:cNvSpPr/>
          <p:nvPr/>
        </p:nvSpPr>
        <p:spPr>
          <a:xfrm>
            <a:off x="5321808" y="3346704"/>
            <a:ext cx="3456432" cy="173736"/>
          </a:xfrm>
          <a:prstGeom prst="rect">
            <a:avLst/>
          </a:prstGeom>
          <a:solidFill>
            <a:srgbClr val="081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67528" y="3374136"/>
            <a:ext cx="3383280" cy="173736"/>
          </a:xfrm>
          <a:prstGeom prst="rect">
            <a:avLst/>
          </a:prstGeom>
          <a:noFill/>
        </p:spPr>
        <p:txBody>
          <a:bodyPr wrap="square">
            <a:spAutoFit/>
          </a:bodyPr>
          <a:lstStyle/>
          <a:p>
            <a:pPr algn="l"/>
            <a:r>
              <a:rPr sz="600" b="1" i="0">
                <a:solidFill>
                  <a:srgbClr val="FFFFFF"/>
                </a:solidFill>
                <a:latin typeface="Montserrat"/>
              </a:rPr>
              <a:t>PLAYBOOK ACTIVITY</a:t>
            </a:r>
          </a:p>
        </p:txBody>
      </p:sp>
      <p:sp>
        <p:nvSpPr>
          <p:cNvPr id="41" name="Rectangle 40"/>
          <p:cNvSpPr/>
          <p:nvPr/>
        </p:nvSpPr>
        <p:spPr>
          <a:xfrm>
            <a:off x="365760" y="3520440"/>
            <a:ext cx="475488"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538728"/>
            <a:ext cx="411480" cy="173736"/>
          </a:xfrm>
          <a:prstGeom prst="rect">
            <a:avLst/>
          </a:prstGeom>
          <a:noFill/>
        </p:spPr>
        <p:txBody>
          <a:bodyPr wrap="square">
            <a:spAutoFit/>
          </a:bodyPr>
          <a:lstStyle/>
          <a:p>
            <a:pPr algn="l"/>
            <a:r>
              <a:rPr sz="700" b="1" i="0">
                <a:solidFill>
                  <a:srgbClr val="0F3460"/>
                </a:solidFill>
                <a:latin typeface="Montserrat"/>
              </a:rPr>
              <a:t>A3</a:t>
            </a:r>
          </a:p>
        </p:txBody>
      </p:sp>
      <p:sp>
        <p:nvSpPr>
          <p:cNvPr id="43" name="Rectangle 42"/>
          <p:cNvSpPr/>
          <p:nvPr/>
        </p:nvSpPr>
        <p:spPr>
          <a:xfrm>
            <a:off x="841248" y="3520440"/>
            <a:ext cx="320040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6968" y="3538728"/>
            <a:ext cx="3136392" cy="173736"/>
          </a:xfrm>
          <a:prstGeom prst="rect">
            <a:avLst/>
          </a:prstGeom>
          <a:noFill/>
        </p:spPr>
        <p:txBody>
          <a:bodyPr wrap="square">
            <a:spAutoFit/>
          </a:bodyPr>
          <a:lstStyle/>
          <a:p>
            <a:pPr algn="l"/>
            <a:r>
              <a:rPr sz="750" b="0" i="0">
                <a:solidFill>
                  <a:srgbClr val="4A5568"/>
                </a:solidFill>
                <a:latin typeface="Calibri"/>
              </a:rPr>
              <a:t>All FRNYC 10th–12th graders in STARS</a:t>
            </a:r>
          </a:p>
        </p:txBody>
      </p:sp>
      <p:sp>
        <p:nvSpPr>
          <p:cNvPr id="45" name="Rectangle 44"/>
          <p:cNvSpPr/>
          <p:nvPr/>
        </p:nvSpPr>
        <p:spPr>
          <a:xfrm>
            <a:off x="4041648" y="3520440"/>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087368" y="3538728"/>
            <a:ext cx="576072" cy="173736"/>
          </a:xfrm>
          <a:prstGeom prst="rect">
            <a:avLst/>
          </a:prstGeom>
          <a:noFill/>
        </p:spPr>
        <p:txBody>
          <a:bodyPr wrap="square">
            <a:spAutoFit/>
          </a:bodyPr>
          <a:lstStyle/>
          <a:p>
            <a:pPr algn="l"/>
            <a:r>
              <a:rPr sz="750" b="0" i="0">
                <a:solidFill>
                  <a:srgbClr val="4A5568"/>
                </a:solidFill>
                <a:latin typeface="Calibri"/>
              </a:rPr>
              <a:t>Oct 5</a:t>
            </a:r>
          </a:p>
        </p:txBody>
      </p:sp>
      <p:sp>
        <p:nvSpPr>
          <p:cNvPr id="47" name="Rectangle 46"/>
          <p:cNvSpPr/>
          <p:nvPr/>
        </p:nvSpPr>
        <p:spPr>
          <a:xfrm>
            <a:off x="4681728" y="3520440"/>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727448" y="3538728"/>
            <a:ext cx="576072" cy="173736"/>
          </a:xfrm>
          <a:prstGeom prst="rect">
            <a:avLst/>
          </a:prstGeom>
          <a:noFill/>
        </p:spPr>
        <p:txBody>
          <a:bodyPr wrap="square">
            <a:spAutoFit/>
          </a:bodyPr>
          <a:lstStyle/>
          <a:p>
            <a:pPr algn="l"/>
            <a:r>
              <a:rPr sz="750" b="0" i="0">
                <a:solidFill>
                  <a:srgbClr val="4A5568"/>
                </a:solidFill>
                <a:latin typeface="Calibri"/>
              </a:rPr>
              <a:t>10th</a:t>
            </a:r>
          </a:p>
        </p:txBody>
      </p:sp>
      <p:sp>
        <p:nvSpPr>
          <p:cNvPr id="49" name="Rectangle 48"/>
          <p:cNvSpPr/>
          <p:nvPr/>
        </p:nvSpPr>
        <p:spPr>
          <a:xfrm>
            <a:off x="5321808" y="3520440"/>
            <a:ext cx="3456432"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67528" y="3538728"/>
            <a:ext cx="3392424" cy="173736"/>
          </a:xfrm>
          <a:prstGeom prst="rect">
            <a:avLst/>
          </a:prstGeom>
          <a:noFill/>
        </p:spPr>
        <p:txBody>
          <a:bodyPr wrap="square">
            <a:spAutoFit/>
          </a:bodyPr>
          <a:lstStyle/>
          <a:p>
            <a:pPr algn="l"/>
            <a:r>
              <a:rPr sz="750" b="1" i="0">
                <a:solidFill>
                  <a:srgbClr val="0F3460"/>
                </a:solidFill>
                <a:latin typeface="Calibri"/>
              </a:rPr>
              <a:t>STARS enrollment + cohort launch</a:t>
            </a:r>
          </a:p>
        </p:txBody>
      </p:sp>
      <p:sp>
        <p:nvSpPr>
          <p:cNvPr id="51" name="Rectangle 50"/>
          <p:cNvSpPr/>
          <p:nvPr/>
        </p:nvSpPr>
        <p:spPr>
          <a:xfrm>
            <a:off x="365760" y="3694176"/>
            <a:ext cx="475488"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11480" y="3712464"/>
            <a:ext cx="411480" cy="173736"/>
          </a:xfrm>
          <a:prstGeom prst="rect">
            <a:avLst/>
          </a:prstGeom>
          <a:noFill/>
        </p:spPr>
        <p:txBody>
          <a:bodyPr wrap="square">
            <a:spAutoFit/>
          </a:bodyPr>
          <a:lstStyle/>
          <a:p>
            <a:pPr algn="l"/>
            <a:r>
              <a:rPr sz="700" b="1" i="0">
                <a:solidFill>
                  <a:srgbClr val="0F3460"/>
                </a:solidFill>
                <a:latin typeface="Montserrat"/>
              </a:rPr>
              <a:t>A6</a:t>
            </a:r>
          </a:p>
        </p:txBody>
      </p:sp>
      <p:sp>
        <p:nvSpPr>
          <p:cNvPr id="53" name="Rectangle 52"/>
          <p:cNvSpPr/>
          <p:nvPr/>
        </p:nvSpPr>
        <p:spPr>
          <a:xfrm>
            <a:off x="841248" y="3694176"/>
            <a:ext cx="320040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86968" y="3712464"/>
            <a:ext cx="3136392" cy="173736"/>
          </a:xfrm>
          <a:prstGeom prst="rect">
            <a:avLst/>
          </a:prstGeom>
          <a:noFill/>
        </p:spPr>
        <p:txBody>
          <a:bodyPr wrap="square">
            <a:spAutoFit/>
          </a:bodyPr>
          <a:lstStyle/>
          <a:p>
            <a:pPr algn="l"/>
            <a:r>
              <a:rPr sz="750" b="0" i="0">
                <a:solidFill>
                  <a:srgbClr val="4A5568"/>
                </a:solidFill>
                <a:latin typeface="Calibri"/>
              </a:rPr>
              <a:t>Plan to equitably recruit underserved students</a:t>
            </a:r>
          </a:p>
        </p:txBody>
      </p:sp>
      <p:sp>
        <p:nvSpPr>
          <p:cNvPr id="55" name="Rectangle 54"/>
          <p:cNvSpPr/>
          <p:nvPr/>
        </p:nvSpPr>
        <p:spPr>
          <a:xfrm>
            <a:off x="4041648" y="3694176"/>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87368" y="3712464"/>
            <a:ext cx="576072" cy="173736"/>
          </a:xfrm>
          <a:prstGeom prst="rect">
            <a:avLst/>
          </a:prstGeom>
          <a:noFill/>
        </p:spPr>
        <p:txBody>
          <a:bodyPr wrap="square">
            <a:spAutoFit/>
          </a:bodyPr>
          <a:lstStyle/>
          <a:p>
            <a:pPr algn="l"/>
            <a:r>
              <a:rPr sz="750" b="0" i="0">
                <a:solidFill>
                  <a:srgbClr val="4A5568"/>
                </a:solidFill>
                <a:latin typeface="Calibri"/>
              </a:rPr>
              <a:t>Oct 5</a:t>
            </a:r>
          </a:p>
        </p:txBody>
      </p:sp>
      <p:sp>
        <p:nvSpPr>
          <p:cNvPr id="57" name="Rectangle 56"/>
          <p:cNvSpPr/>
          <p:nvPr/>
        </p:nvSpPr>
        <p:spPr>
          <a:xfrm>
            <a:off x="4681728" y="3694176"/>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27448" y="3712464"/>
            <a:ext cx="576072" cy="173736"/>
          </a:xfrm>
          <a:prstGeom prst="rect">
            <a:avLst/>
          </a:prstGeom>
          <a:noFill/>
        </p:spPr>
        <p:txBody>
          <a:bodyPr wrap="square">
            <a:spAutoFit/>
          </a:bodyPr>
          <a:lstStyle/>
          <a:p>
            <a:pPr algn="l"/>
            <a:r>
              <a:rPr sz="750" b="0" i="0">
                <a:solidFill>
                  <a:srgbClr val="4A5568"/>
                </a:solidFill>
                <a:latin typeface="Calibri"/>
              </a:rPr>
              <a:t>All</a:t>
            </a:r>
          </a:p>
        </p:txBody>
      </p:sp>
      <p:sp>
        <p:nvSpPr>
          <p:cNvPr id="59" name="Rectangle 58"/>
          <p:cNvSpPr/>
          <p:nvPr/>
        </p:nvSpPr>
        <p:spPr>
          <a:xfrm>
            <a:off x="5321808" y="3694176"/>
            <a:ext cx="3456432"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67528" y="3712464"/>
            <a:ext cx="3392424" cy="173736"/>
          </a:xfrm>
          <a:prstGeom prst="rect">
            <a:avLst/>
          </a:prstGeom>
          <a:noFill/>
        </p:spPr>
        <p:txBody>
          <a:bodyPr wrap="square">
            <a:spAutoFit/>
          </a:bodyPr>
          <a:lstStyle/>
          <a:p>
            <a:pPr algn="l"/>
            <a:r>
              <a:rPr sz="750" b="1" i="0">
                <a:solidFill>
                  <a:srgbClr val="0F3460"/>
                </a:solidFill>
                <a:latin typeface="Calibri"/>
              </a:rPr>
              <a:t>Outreach, open house, feeder schools, equity targets</a:t>
            </a:r>
          </a:p>
        </p:txBody>
      </p:sp>
      <p:sp>
        <p:nvSpPr>
          <p:cNvPr id="61" name="Rectangle 60"/>
          <p:cNvSpPr/>
          <p:nvPr/>
        </p:nvSpPr>
        <p:spPr>
          <a:xfrm>
            <a:off x="365760" y="3867912"/>
            <a:ext cx="475488"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1480" y="3886200"/>
            <a:ext cx="411480" cy="173736"/>
          </a:xfrm>
          <a:prstGeom prst="rect">
            <a:avLst/>
          </a:prstGeom>
          <a:noFill/>
        </p:spPr>
        <p:txBody>
          <a:bodyPr wrap="square">
            <a:spAutoFit/>
          </a:bodyPr>
          <a:lstStyle/>
          <a:p>
            <a:pPr algn="l"/>
            <a:r>
              <a:rPr sz="700" b="1" i="0">
                <a:solidFill>
                  <a:srgbClr val="0F3460"/>
                </a:solidFill>
                <a:latin typeface="Montserrat"/>
              </a:rPr>
              <a:t>A7</a:t>
            </a:r>
          </a:p>
        </p:txBody>
      </p:sp>
      <p:sp>
        <p:nvSpPr>
          <p:cNvPr id="63" name="Rectangle 62"/>
          <p:cNvSpPr/>
          <p:nvPr/>
        </p:nvSpPr>
        <p:spPr>
          <a:xfrm>
            <a:off x="841248" y="3867912"/>
            <a:ext cx="320040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6968" y="3886200"/>
            <a:ext cx="3136392" cy="173736"/>
          </a:xfrm>
          <a:prstGeom prst="rect">
            <a:avLst/>
          </a:prstGeom>
          <a:noFill/>
        </p:spPr>
        <p:txBody>
          <a:bodyPr wrap="square">
            <a:spAutoFit/>
          </a:bodyPr>
          <a:lstStyle/>
          <a:p>
            <a:pPr algn="l"/>
            <a:r>
              <a:rPr sz="750" b="0" i="0">
                <a:solidFill>
                  <a:srgbClr val="4A5568"/>
                </a:solidFill>
                <a:latin typeface="Calibri"/>
              </a:rPr>
              <a:t>Plan for academic supports &amp; remediation</a:t>
            </a:r>
          </a:p>
        </p:txBody>
      </p:sp>
      <p:sp>
        <p:nvSpPr>
          <p:cNvPr id="65" name="Rectangle 64"/>
          <p:cNvSpPr/>
          <p:nvPr/>
        </p:nvSpPr>
        <p:spPr>
          <a:xfrm>
            <a:off x="4041648" y="3867912"/>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087368" y="3886200"/>
            <a:ext cx="576072" cy="173736"/>
          </a:xfrm>
          <a:prstGeom prst="rect">
            <a:avLst/>
          </a:prstGeom>
          <a:noFill/>
        </p:spPr>
        <p:txBody>
          <a:bodyPr wrap="square">
            <a:spAutoFit/>
          </a:bodyPr>
          <a:lstStyle/>
          <a:p>
            <a:pPr algn="l"/>
            <a:r>
              <a:rPr sz="750" b="0" i="0">
                <a:solidFill>
                  <a:srgbClr val="4A5568"/>
                </a:solidFill>
                <a:latin typeface="Calibri"/>
              </a:rPr>
              <a:t>Oct 5</a:t>
            </a:r>
          </a:p>
        </p:txBody>
      </p:sp>
      <p:sp>
        <p:nvSpPr>
          <p:cNvPr id="67" name="Rectangle 66"/>
          <p:cNvSpPr/>
          <p:nvPr/>
        </p:nvSpPr>
        <p:spPr>
          <a:xfrm>
            <a:off x="4681728" y="3867912"/>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727448" y="3886200"/>
            <a:ext cx="576072" cy="173736"/>
          </a:xfrm>
          <a:prstGeom prst="rect">
            <a:avLst/>
          </a:prstGeom>
          <a:noFill/>
        </p:spPr>
        <p:txBody>
          <a:bodyPr wrap="square">
            <a:spAutoFit/>
          </a:bodyPr>
          <a:lstStyle/>
          <a:p>
            <a:pPr algn="l"/>
            <a:r>
              <a:rPr sz="750" b="0" i="0">
                <a:solidFill>
                  <a:srgbClr val="4A5568"/>
                </a:solidFill>
                <a:latin typeface="Calibri"/>
              </a:rPr>
              <a:t>11–12th</a:t>
            </a:r>
          </a:p>
        </p:txBody>
      </p:sp>
      <p:sp>
        <p:nvSpPr>
          <p:cNvPr id="69" name="Rectangle 68"/>
          <p:cNvSpPr/>
          <p:nvPr/>
        </p:nvSpPr>
        <p:spPr>
          <a:xfrm>
            <a:off x="5321808" y="3867912"/>
            <a:ext cx="3456432"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367528" y="3886200"/>
            <a:ext cx="3392424" cy="173736"/>
          </a:xfrm>
          <a:prstGeom prst="rect">
            <a:avLst/>
          </a:prstGeom>
          <a:noFill/>
        </p:spPr>
        <p:txBody>
          <a:bodyPr wrap="square">
            <a:spAutoFit/>
          </a:bodyPr>
          <a:lstStyle/>
          <a:p>
            <a:pPr algn="l"/>
            <a:r>
              <a:rPr sz="750" b="1" i="0">
                <a:solidFill>
                  <a:srgbClr val="0F3460"/>
                </a:solidFill>
                <a:latin typeface="Calibri"/>
              </a:rPr>
              <a:t>ECC audit (11th) · KIM review (12th)</a:t>
            </a:r>
          </a:p>
        </p:txBody>
      </p:sp>
      <p:sp>
        <p:nvSpPr>
          <p:cNvPr id="71" name="Rectangle 70"/>
          <p:cNvSpPr/>
          <p:nvPr/>
        </p:nvSpPr>
        <p:spPr>
          <a:xfrm>
            <a:off x="365760" y="4041648"/>
            <a:ext cx="475488"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11480" y="4059936"/>
            <a:ext cx="411480" cy="173736"/>
          </a:xfrm>
          <a:prstGeom prst="rect">
            <a:avLst/>
          </a:prstGeom>
          <a:noFill/>
        </p:spPr>
        <p:txBody>
          <a:bodyPr wrap="square">
            <a:spAutoFit/>
          </a:bodyPr>
          <a:lstStyle/>
          <a:p>
            <a:pPr algn="l"/>
            <a:r>
              <a:rPr sz="700" b="1" i="0">
                <a:solidFill>
                  <a:srgbClr val="0F3460"/>
                </a:solidFill>
                <a:latin typeface="Montserrat"/>
              </a:rPr>
              <a:t>A8</a:t>
            </a:r>
          </a:p>
        </p:txBody>
      </p:sp>
      <p:sp>
        <p:nvSpPr>
          <p:cNvPr id="73" name="Rectangle 72"/>
          <p:cNvSpPr/>
          <p:nvPr/>
        </p:nvSpPr>
        <p:spPr>
          <a:xfrm>
            <a:off x="841248" y="4041648"/>
            <a:ext cx="320040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86968" y="4059936"/>
            <a:ext cx="3136392" cy="173736"/>
          </a:xfrm>
          <a:prstGeom prst="rect">
            <a:avLst/>
          </a:prstGeom>
          <a:noFill/>
        </p:spPr>
        <p:txBody>
          <a:bodyPr wrap="square">
            <a:spAutoFit/>
          </a:bodyPr>
          <a:lstStyle/>
          <a:p>
            <a:pPr algn="l"/>
            <a:r>
              <a:rPr sz="750" b="0" i="0">
                <a:solidFill>
                  <a:srgbClr val="4A5568"/>
                </a:solidFill>
                <a:latin typeface="Calibri"/>
              </a:rPr>
              <a:t>All FRNYC students enrolled in Fall CCI</a:t>
            </a:r>
          </a:p>
        </p:txBody>
      </p:sp>
      <p:sp>
        <p:nvSpPr>
          <p:cNvPr id="75" name="Rectangle 74"/>
          <p:cNvSpPr/>
          <p:nvPr/>
        </p:nvSpPr>
        <p:spPr>
          <a:xfrm>
            <a:off x="4041648" y="4041648"/>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087368" y="4059936"/>
            <a:ext cx="576072" cy="173736"/>
          </a:xfrm>
          <a:prstGeom prst="rect">
            <a:avLst/>
          </a:prstGeom>
          <a:noFill/>
        </p:spPr>
        <p:txBody>
          <a:bodyPr wrap="square">
            <a:spAutoFit/>
          </a:bodyPr>
          <a:lstStyle/>
          <a:p>
            <a:pPr algn="l"/>
            <a:r>
              <a:rPr sz="750" b="0" i="0">
                <a:solidFill>
                  <a:srgbClr val="4A5568"/>
                </a:solidFill>
                <a:latin typeface="Calibri"/>
              </a:rPr>
              <a:t>Oct 5</a:t>
            </a:r>
          </a:p>
        </p:txBody>
      </p:sp>
      <p:sp>
        <p:nvSpPr>
          <p:cNvPr id="77" name="Rectangle 76"/>
          <p:cNvSpPr/>
          <p:nvPr/>
        </p:nvSpPr>
        <p:spPr>
          <a:xfrm>
            <a:off x="4681728" y="4041648"/>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727448" y="4059936"/>
            <a:ext cx="576072" cy="173736"/>
          </a:xfrm>
          <a:prstGeom prst="rect">
            <a:avLst/>
          </a:prstGeom>
          <a:noFill/>
        </p:spPr>
        <p:txBody>
          <a:bodyPr wrap="square">
            <a:spAutoFit/>
          </a:bodyPr>
          <a:lstStyle/>
          <a:p>
            <a:pPr algn="l"/>
            <a:r>
              <a:rPr sz="750" b="0" i="0">
                <a:solidFill>
                  <a:srgbClr val="4A5568"/>
                </a:solidFill>
                <a:latin typeface="Calibri"/>
              </a:rPr>
              <a:t>10th</a:t>
            </a:r>
          </a:p>
        </p:txBody>
      </p:sp>
      <p:sp>
        <p:nvSpPr>
          <p:cNvPr id="79" name="Rectangle 78"/>
          <p:cNvSpPr/>
          <p:nvPr/>
        </p:nvSpPr>
        <p:spPr>
          <a:xfrm>
            <a:off x="5321808" y="4041648"/>
            <a:ext cx="3456432"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367528" y="4059936"/>
            <a:ext cx="3392424" cy="173736"/>
          </a:xfrm>
          <a:prstGeom prst="rect">
            <a:avLst/>
          </a:prstGeom>
          <a:noFill/>
        </p:spPr>
        <p:txBody>
          <a:bodyPr wrap="square">
            <a:spAutoFit/>
          </a:bodyPr>
          <a:lstStyle/>
          <a:p>
            <a:pPr algn="l"/>
            <a:r>
              <a:rPr sz="750" b="1" i="0">
                <a:solidFill>
                  <a:srgbClr val="0F3460"/>
                </a:solidFill>
                <a:latin typeface="Calibri"/>
              </a:rPr>
              <a:t>STARS enrollment + cohort launch</a:t>
            </a:r>
          </a:p>
        </p:txBody>
      </p:sp>
      <p:sp>
        <p:nvSpPr>
          <p:cNvPr id="81" name="Rectangle 80"/>
          <p:cNvSpPr/>
          <p:nvPr/>
        </p:nvSpPr>
        <p:spPr>
          <a:xfrm>
            <a:off x="365760" y="4215384"/>
            <a:ext cx="475488"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11480" y="4233672"/>
            <a:ext cx="411480" cy="173736"/>
          </a:xfrm>
          <a:prstGeom prst="rect">
            <a:avLst/>
          </a:prstGeom>
          <a:noFill/>
        </p:spPr>
        <p:txBody>
          <a:bodyPr wrap="square">
            <a:spAutoFit/>
          </a:bodyPr>
          <a:lstStyle/>
          <a:p>
            <a:pPr algn="l"/>
            <a:r>
              <a:rPr sz="700" b="1" i="0">
                <a:solidFill>
                  <a:srgbClr val="0F3460"/>
                </a:solidFill>
                <a:latin typeface="Montserrat"/>
              </a:rPr>
              <a:t>B15</a:t>
            </a:r>
          </a:p>
        </p:txBody>
      </p:sp>
      <p:sp>
        <p:nvSpPr>
          <p:cNvPr id="83" name="Rectangle 82"/>
          <p:cNvSpPr/>
          <p:nvPr/>
        </p:nvSpPr>
        <p:spPr>
          <a:xfrm>
            <a:off x="841248" y="4215384"/>
            <a:ext cx="320040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86968" y="4233672"/>
            <a:ext cx="3136392" cy="173736"/>
          </a:xfrm>
          <a:prstGeom prst="rect">
            <a:avLst/>
          </a:prstGeom>
          <a:noFill/>
        </p:spPr>
        <p:txBody>
          <a:bodyPr wrap="square">
            <a:spAutoFit/>
          </a:bodyPr>
          <a:lstStyle/>
          <a:p>
            <a:pPr algn="l"/>
            <a:r>
              <a:rPr sz="750" b="0" i="0">
                <a:solidFill>
                  <a:srgbClr val="4A5568"/>
                </a:solidFill>
                <a:latin typeface="Calibri"/>
              </a:rPr>
              <a:t>First 1:1 advising complete</a:t>
            </a:r>
          </a:p>
        </p:txBody>
      </p:sp>
      <p:sp>
        <p:nvSpPr>
          <p:cNvPr id="85" name="Rectangle 84"/>
          <p:cNvSpPr/>
          <p:nvPr/>
        </p:nvSpPr>
        <p:spPr>
          <a:xfrm>
            <a:off x="4041648" y="4215384"/>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087368" y="4233672"/>
            <a:ext cx="576072" cy="173736"/>
          </a:xfrm>
          <a:prstGeom prst="rect">
            <a:avLst/>
          </a:prstGeom>
          <a:noFill/>
        </p:spPr>
        <p:txBody>
          <a:bodyPr wrap="square">
            <a:spAutoFit/>
          </a:bodyPr>
          <a:lstStyle/>
          <a:p>
            <a:pPr algn="l"/>
            <a:r>
              <a:rPr sz="750" b="0" i="0">
                <a:solidFill>
                  <a:srgbClr val="4A5568"/>
                </a:solidFill>
                <a:latin typeface="Calibri"/>
              </a:rPr>
              <a:t>Jan 5</a:t>
            </a:r>
          </a:p>
        </p:txBody>
      </p:sp>
      <p:sp>
        <p:nvSpPr>
          <p:cNvPr id="87" name="Rectangle 86"/>
          <p:cNvSpPr/>
          <p:nvPr/>
        </p:nvSpPr>
        <p:spPr>
          <a:xfrm>
            <a:off x="4681728" y="4215384"/>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727448" y="4233672"/>
            <a:ext cx="576072" cy="173736"/>
          </a:xfrm>
          <a:prstGeom prst="rect">
            <a:avLst/>
          </a:prstGeom>
          <a:noFill/>
        </p:spPr>
        <p:txBody>
          <a:bodyPr wrap="square">
            <a:spAutoFit/>
          </a:bodyPr>
          <a:lstStyle/>
          <a:p>
            <a:pPr algn="l"/>
            <a:r>
              <a:rPr sz="750" b="0" i="0">
                <a:solidFill>
                  <a:srgbClr val="4A5568"/>
                </a:solidFill>
                <a:latin typeface="Calibri"/>
              </a:rPr>
              <a:t>11th</a:t>
            </a:r>
          </a:p>
        </p:txBody>
      </p:sp>
      <p:sp>
        <p:nvSpPr>
          <p:cNvPr id="89" name="Rectangle 88"/>
          <p:cNvSpPr/>
          <p:nvPr/>
        </p:nvSpPr>
        <p:spPr>
          <a:xfrm>
            <a:off x="5321808" y="4215384"/>
            <a:ext cx="3456432"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367528" y="4233672"/>
            <a:ext cx="3392424" cy="173736"/>
          </a:xfrm>
          <a:prstGeom prst="rect">
            <a:avLst/>
          </a:prstGeom>
          <a:noFill/>
        </p:spPr>
        <p:txBody>
          <a:bodyPr wrap="square">
            <a:spAutoFit/>
          </a:bodyPr>
          <a:lstStyle/>
          <a:p>
            <a:pPr algn="l"/>
            <a:r>
              <a:rPr sz="750" b="1" i="0">
                <a:solidFill>
                  <a:srgbClr val="0F3460"/>
                </a:solidFill>
                <a:latin typeface="Calibri"/>
              </a:rPr>
              <a:t>First structured 1:1 advising</a:t>
            </a:r>
          </a:p>
        </p:txBody>
      </p:sp>
      <p:sp>
        <p:nvSpPr>
          <p:cNvPr id="91" name="Rectangle 90"/>
          <p:cNvSpPr/>
          <p:nvPr/>
        </p:nvSpPr>
        <p:spPr>
          <a:xfrm>
            <a:off x="365760" y="4389120"/>
            <a:ext cx="475488"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411480" y="4407408"/>
            <a:ext cx="411480" cy="173736"/>
          </a:xfrm>
          <a:prstGeom prst="rect">
            <a:avLst/>
          </a:prstGeom>
          <a:noFill/>
        </p:spPr>
        <p:txBody>
          <a:bodyPr wrap="square">
            <a:spAutoFit/>
          </a:bodyPr>
          <a:lstStyle/>
          <a:p>
            <a:pPr algn="l"/>
            <a:r>
              <a:rPr sz="700" b="1" i="0">
                <a:solidFill>
                  <a:srgbClr val="0F3460"/>
                </a:solidFill>
                <a:latin typeface="Montserrat"/>
              </a:rPr>
              <a:t>B17</a:t>
            </a:r>
          </a:p>
        </p:txBody>
      </p:sp>
      <p:sp>
        <p:nvSpPr>
          <p:cNvPr id="93" name="Rectangle 92"/>
          <p:cNvSpPr/>
          <p:nvPr/>
        </p:nvSpPr>
        <p:spPr>
          <a:xfrm>
            <a:off x="841248" y="4389120"/>
            <a:ext cx="320040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86968" y="4407408"/>
            <a:ext cx="3136392" cy="173736"/>
          </a:xfrm>
          <a:prstGeom prst="rect">
            <a:avLst/>
          </a:prstGeom>
          <a:noFill/>
        </p:spPr>
        <p:txBody>
          <a:bodyPr wrap="square">
            <a:spAutoFit/>
          </a:bodyPr>
          <a:lstStyle/>
          <a:p>
            <a:pPr algn="l"/>
            <a:r>
              <a:rPr sz="750" b="0" i="0">
                <a:solidFill>
                  <a:srgbClr val="4A5568"/>
                </a:solidFill>
                <a:latin typeface="Calibri"/>
              </a:rPr>
              <a:t>First unpaid WBL captured in STARS</a:t>
            </a:r>
          </a:p>
        </p:txBody>
      </p:sp>
      <p:sp>
        <p:nvSpPr>
          <p:cNvPr id="95" name="Rectangle 94"/>
          <p:cNvSpPr/>
          <p:nvPr/>
        </p:nvSpPr>
        <p:spPr>
          <a:xfrm>
            <a:off x="4041648" y="4389120"/>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087368" y="4407408"/>
            <a:ext cx="576072" cy="173736"/>
          </a:xfrm>
          <a:prstGeom prst="rect">
            <a:avLst/>
          </a:prstGeom>
          <a:noFill/>
        </p:spPr>
        <p:txBody>
          <a:bodyPr wrap="square">
            <a:spAutoFit/>
          </a:bodyPr>
          <a:lstStyle/>
          <a:p>
            <a:pPr algn="l"/>
            <a:r>
              <a:rPr sz="750" b="0" i="0">
                <a:solidFill>
                  <a:srgbClr val="4A5568"/>
                </a:solidFill>
                <a:latin typeface="Calibri"/>
              </a:rPr>
              <a:t>Jan 5</a:t>
            </a:r>
          </a:p>
        </p:txBody>
      </p:sp>
      <p:sp>
        <p:nvSpPr>
          <p:cNvPr id="97" name="Rectangle 96"/>
          <p:cNvSpPr/>
          <p:nvPr/>
        </p:nvSpPr>
        <p:spPr>
          <a:xfrm>
            <a:off x="4681728" y="4389120"/>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727448" y="4407408"/>
            <a:ext cx="576072" cy="173736"/>
          </a:xfrm>
          <a:prstGeom prst="rect">
            <a:avLst/>
          </a:prstGeom>
          <a:noFill/>
        </p:spPr>
        <p:txBody>
          <a:bodyPr wrap="square">
            <a:spAutoFit/>
          </a:bodyPr>
          <a:lstStyle/>
          <a:p>
            <a:pPr algn="l"/>
            <a:r>
              <a:rPr sz="750" b="0" i="0">
                <a:solidFill>
                  <a:srgbClr val="4A5568"/>
                </a:solidFill>
                <a:latin typeface="Calibri"/>
              </a:rPr>
              <a:t>10th</a:t>
            </a:r>
          </a:p>
        </p:txBody>
      </p:sp>
      <p:sp>
        <p:nvSpPr>
          <p:cNvPr id="99" name="Rectangle 98"/>
          <p:cNvSpPr/>
          <p:nvPr/>
        </p:nvSpPr>
        <p:spPr>
          <a:xfrm>
            <a:off x="5321808" y="4389120"/>
            <a:ext cx="3456432"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367528" y="4407408"/>
            <a:ext cx="3392424" cy="173736"/>
          </a:xfrm>
          <a:prstGeom prst="rect">
            <a:avLst/>
          </a:prstGeom>
          <a:noFill/>
        </p:spPr>
        <p:txBody>
          <a:bodyPr wrap="square">
            <a:spAutoFit/>
          </a:bodyPr>
          <a:lstStyle/>
          <a:p>
            <a:pPr algn="l"/>
            <a:r>
              <a:rPr sz="750" b="1" i="0">
                <a:solidFill>
                  <a:srgbClr val="0F3460"/>
                </a:solidFill>
                <a:latin typeface="Calibri"/>
              </a:rPr>
              <a:t>WBL alignment with intermediary</a:t>
            </a:r>
          </a:p>
        </p:txBody>
      </p:sp>
      <p:sp>
        <p:nvSpPr>
          <p:cNvPr id="101" name="Rectangle 100"/>
          <p:cNvSpPr/>
          <p:nvPr/>
        </p:nvSpPr>
        <p:spPr>
          <a:xfrm>
            <a:off x="365760" y="4562856"/>
            <a:ext cx="475488"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11480" y="4581144"/>
            <a:ext cx="411480" cy="173736"/>
          </a:xfrm>
          <a:prstGeom prst="rect">
            <a:avLst/>
          </a:prstGeom>
          <a:noFill/>
        </p:spPr>
        <p:txBody>
          <a:bodyPr wrap="square">
            <a:spAutoFit/>
          </a:bodyPr>
          <a:lstStyle/>
          <a:p>
            <a:pPr algn="l"/>
            <a:r>
              <a:rPr sz="700" b="1" i="0">
                <a:solidFill>
                  <a:srgbClr val="0F3460"/>
                </a:solidFill>
                <a:latin typeface="Montserrat"/>
              </a:rPr>
              <a:t>C20</a:t>
            </a:r>
          </a:p>
        </p:txBody>
      </p:sp>
      <p:sp>
        <p:nvSpPr>
          <p:cNvPr id="103" name="Rectangle 102"/>
          <p:cNvSpPr/>
          <p:nvPr/>
        </p:nvSpPr>
        <p:spPr>
          <a:xfrm>
            <a:off x="841248" y="4562856"/>
            <a:ext cx="320040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86968" y="4581144"/>
            <a:ext cx="3136392" cy="173736"/>
          </a:xfrm>
          <a:prstGeom prst="rect">
            <a:avLst/>
          </a:prstGeom>
          <a:noFill/>
        </p:spPr>
        <p:txBody>
          <a:bodyPr wrap="square">
            <a:spAutoFit/>
          </a:bodyPr>
          <a:lstStyle/>
          <a:p>
            <a:pPr algn="l"/>
            <a:r>
              <a:rPr sz="750" b="0" i="0">
                <a:solidFill>
                  <a:srgbClr val="4A5568"/>
                </a:solidFill>
                <a:latin typeface="Calibri"/>
              </a:rPr>
              <a:t>9th graders enrolled in career exploration course</a:t>
            </a:r>
          </a:p>
        </p:txBody>
      </p:sp>
      <p:sp>
        <p:nvSpPr>
          <p:cNvPr id="105" name="Rectangle 104"/>
          <p:cNvSpPr/>
          <p:nvPr/>
        </p:nvSpPr>
        <p:spPr>
          <a:xfrm>
            <a:off x="4041648" y="4562856"/>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087368" y="4581144"/>
            <a:ext cx="576072" cy="173736"/>
          </a:xfrm>
          <a:prstGeom prst="rect">
            <a:avLst/>
          </a:prstGeom>
          <a:noFill/>
        </p:spPr>
        <p:txBody>
          <a:bodyPr wrap="square">
            <a:spAutoFit/>
          </a:bodyPr>
          <a:lstStyle/>
          <a:p>
            <a:pPr algn="l"/>
            <a:r>
              <a:rPr sz="750" b="0" i="0">
                <a:solidFill>
                  <a:srgbClr val="4A5568"/>
                </a:solidFill>
                <a:latin typeface="Calibri"/>
              </a:rPr>
              <a:t>Apr 5</a:t>
            </a:r>
          </a:p>
        </p:txBody>
      </p:sp>
      <p:sp>
        <p:nvSpPr>
          <p:cNvPr id="107" name="Rectangle 106"/>
          <p:cNvSpPr/>
          <p:nvPr/>
        </p:nvSpPr>
        <p:spPr>
          <a:xfrm>
            <a:off x="4681728" y="4562856"/>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4727448" y="4581144"/>
            <a:ext cx="576072" cy="173736"/>
          </a:xfrm>
          <a:prstGeom prst="rect">
            <a:avLst/>
          </a:prstGeom>
          <a:noFill/>
        </p:spPr>
        <p:txBody>
          <a:bodyPr wrap="square">
            <a:spAutoFit/>
          </a:bodyPr>
          <a:lstStyle/>
          <a:p>
            <a:pPr algn="l"/>
            <a:r>
              <a:rPr sz="750" b="0" i="0">
                <a:solidFill>
                  <a:srgbClr val="4A5568"/>
                </a:solidFill>
                <a:latin typeface="Calibri"/>
              </a:rPr>
              <a:t>9th</a:t>
            </a:r>
          </a:p>
        </p:txBody>
      </p:sp>
      <p:sp>
        <p:nvSpPr>
          <p:cNvPr id="109" name="Rectangle 108"/>
          <p:cNvSpPr/>
          <p:nvPr/>
        </p:nvSpPr>
        <p:spPr>
          <a:xfrm>
            <a:off x="5321808" y="4562856"/>
            <a:ext cx="3456432"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367528" y="4581144"/>
            <a:ext cx="3392424" cy="173736"/>
          </a:xfrm>
          <a:prstGeom prst="rect">
            <a:avLst/>
          </a:prstGeom>
          <a:noFill/>
        </p:spPr>
        <p:txBody>
          <a:bodyPr wrap="square">
            <a:spAutoFit/>
          </a:bodyPr>
          <a:lstStyle/>
          <a:p>
            <a:pPr algn="l"/>
            <a:r>
              <a:rPr sz="750" b="1" i="0">
                <a:solidFill>
                  <a:srgbClr val="0F3460"/>
                </a:solidFill>
                <a:latin typeface="Calibri"/>
              </a:rPr>
              <a:t>Career Explorations</a:t>
            </a:r>
          </a:p>
        </p:txBody>
      </p:sp>
      <p:sp>
        <p:nvSpPr>
          <p:cNvPr id="111" name="Rectangle 110"/>
          <p:cNvSpPr/>
          <p:nvPr/>
        </p:nvSpPr>
        <p:spPr>
          <a:xfrm>
            <a:off x="365760" y="4736592"/>
            <a:ext cx="475488"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11480" y="4754880"/>
            <a:ext cx="411480" cy="173736"/>
          </a:xfrm>
          <a:prstGeom prst="rect">
            <a:avLst/>
          </a:prstGeom>
          <a:noFill/>
        </p:spPr>
        <p:txBody>
          <a:bodyPr wrap="square">
            <a:spAutoFit/>
          </a:bodyPr>
          <a:lstStyle/>
          <a:p>
            <a:pPr algn="l"/>
            <a:r>
              <a:rPr sz="700" b="1" i="0">
                <a:solidFill>
                  <a:srgbClr val="0F3460"/>
                </a:solidFill>
                <a:latin typeface="Montserrat"/>
              </a:rPr>
              <a:t>C24</a:t>
            </a:r>
          </a:p>
        </p:txBody>
      </p:sp>
      <p:sp>
        <p:nvSpPr>
          <p:cNvPr id="113" name="Rectangle 112"/>
          <p:cNvSpPr/>
          <p:nvPr/>
        </p:nvSpPr>
        <p:spPr>
          <a:xfrm>
            <a:off x="841248" y="4736592"/>
            <a:ext cx="320040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86968" y="4754880"/>
            <a:ext cx="3136392" cy="173736"/>
          </a:xfrm>
          <a:prstGeom prst="rect">
            <a:avLst/>
          </a:prstGeom>
          <a:noFill/>
        </p:spPr>
        <p:txBody>
          <a:bodyPr wrap="square">
            <a:spAutoFit/>
          </a:bodyPr>
          <a:lstStyle/>
          <a:p>
            <a:pPr algn="l"/>
            <a:r>
              <a:rPr sz="750" b="0" i="0">
                <a:solidFill>
                  <a:srgbClr val="4A5568"/>
                </a:solidFill>
                <a:latin typeface="Calibri"/>
              </a:rPr>
              <a:t>11th–12th enrolled in pathway-aligned ECC</a:t>
            </a:r>
          </a:p>
        </p:txBody>
      </p:sp>
      <p:sp>
        <p:nvSpPr>
          <p:cNvPr id="115" name="Rectangle 114"/>
          <p:cNvSpPr/>
          <p:nvPr/>
        </p:nvSpPr>
        <p:spPr>
          <a:xfrm>
            <a:off x="4041648" y="4736592"/>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087368" y="4754880"/>
            <a:ext cx="576072" cy="173736"/>
          </a:xfrm>
          <a:prstGeom prst="rect">
            <a:avLst/>
          </a:prstGeom>
          <a:noFill/>
        </p:spPr>
        <p:txBody>
          <a:bodyPr wrap="square">
            <a:spAutoFit/>
          </a:bodyPr>
          <a:lstStyle/>
          <a:p>
            <a:pPr algn="l"/>
            <a:r>
              <a:rPr sz="750" b="0" i="0">
                <a:solidFill>
                  <a:srgbClr val="4A5568"/>
                </a:solidFill>
                <a:latin typeface="Calibri"/>
              </a:rPr>
              <a:t>Apr 5</a:t>
            </a:r>
          </a:p>
        </p:txBody>
      </p:sp>
      <p:sp>
        <p:nvSpPr>
          <p:cNvPr id="117" name="Rectangle 116"/>
          <p:cNvSpPr/>
          <p:nvPr/>
        </p:nvSpPr>
        <p:spPr>
          <a:xfrm>
            <a:off x="4681728" y="4736592"/>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4727448" y="4754880"/>
            <a:ext cx="576072" cy="173736"/>
          </a:xfrm>
          <a:prstGeom prst="rect">
            <a:avLst/>
          </a:prstGeom>
          <a:noFill/>
        </p:spPr>
        <p:txBody>
          <a:bodyPr wrap="square">
            <a:spAutoFit/>
          </a:bodyPr>
          <a:lstStyle/>
          <a:p>
            <a:pPr algn="l"/>
            <a:r>
              <a:rPr sz="750" b="0" i="0">
                <a:solidFill>
                  <a:srgbClr val="4A5568"/>
                </a:solidFill>
                <a:latin typeface="Calibri"/>
              </a:rPr>
              <a:t>11th</a:t>
            </a:r>
          </a:p>
        </p:txBody>
      </p:sp>
      <p:sp>
        <p:nvSpPr>
          <p:cNvPr id="119" name="Rectangle 118"/>
          <p:cNvSpPr/>
          <p:nvPr/>
        </p:nvSpPr>
        <p:spPr>
          <a:xfrm>
            <a:off x="5321808" y="4736592"/>
            <a:ext cx="3456432"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367528" y="4754880"/>
            <a:ext cx="3392424" cy="173736"/>
          </a:xfrm>
          <a:prstGeom prst="rect">
            <a:avLst/>
          </a:prstGeom>
          <a:noFill/>
        </p:spPr>
        <p:txBody>
          <a:bodyPr wrap="square">
            <a:spAutoFit/>
          </a:bodyPr>
          <a:lstStyle/>
          <a:p>
            <a:pPr algn="l"/>
            <a:r>
              <a:rPr sz="750" b="1" i="0">
                <a:solidFill>
                  <a:srgbClr val="0F3460"/>
                </a:solidFill>
                <a:latin typeface="Calibri"/>
              </a:rPr>
              <a:t>ECC eligibility audit + supports</a:t>
            </a:r>
          </a:p>
        </p:txBody>
      </p:sp>
      <p:sp>
        <p:nvSpPr>
          <p:cNvPr id="121" name="Rectangle 120"/>
          <p:cNvSpPr/>
          <p:nvPr/>
        </p:nvSpPr>
        <p:spPr>
          <a:xfrm>
            <a:off x="365760" y="4910328"/>
            <a:ext cx="475488"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11480" y="4928616"/>
            <a:ext cx="411480" cy="173736"/>
          </a:xfrm>
          <a:prstGeom prst="rect">
            <a:avLst/>
          </a:prstGeom>
          <a:noFill/>
        </p:spPr>
        <p:txBody>
          <a:bodyPr wrap="square">
            <a:spAutoFit/>
          </a:bodyPr>
          <a:lstStyle/>
          <a:p>
            <a:pPr algn="l"/>
            <a:r>
              <a:rPr sz="700" b="1" i="0">
                <a:solidFill>
                  <a:srgbClr val="0F3460"/>
                </a:solidFill>
                <a:latin typeface="Montserrat"/>
              </a:rPr>
              <a:t>C25</a:t>
            </a:r>
          </a:p>
        </p:txBody>
      </p:sp>
      <p:sp>
        <p:nvSpPr>
          <p:cNvPr id="123" name="Rectangle 122"/>
          <p:cNvSpPr/>
          <p:nvPr/>
        </p:nvSpPr>
        <p:spPr>
          <a:xfrm>
            <a:off x="841248" y="4910328"/>
            <a:ext cx="320040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6968" y="4928616"/>
            <a:ext cx="3136392" cy="173736"/>
          </a:xfrm>
          <a:prstGeom prst="rect">
            <a:avLst/>
          </a:prstGeom>
          <a:noFill/>
        </p:spPr>
        <p:txBody>
          <a:bodyPr wrap="square">
            <a:spAutoFit/>
          </a:bodyPr>
          <a:lstStyle/>
          <a:p>
            <a:pPr algn="l"/>
            <a:r>
              <a:rPr sz="750" b="0" i="0">
                <a:solidFill>
                  <a:srgbClr val="4A5568"/>
                </a:solidFill>
                <a:latin typeface="Calibri"/>
              </a:rPr>
              <a:t>Seniors: pathway-aligned paid WBL accepted/confirmed</a:t>
            </a:r>
          </a:p>
        </p:txBody>
      </p:sp>
      <p:sp>
        <p:nvSpPr>
          <p:cNvPr id="125" name="Rectangle 124"/>
          <p:cNvSpPr/>
          <p:nvPr/>
        </p:nvSpPr>
        <p:spPr>
          <a:xfrm>
            <a:off x="4041648" y="4910328"/>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087368" y="4928616"/>
            <a:ext cx="576072" cy="173736"/>
          </a:xfrm>
          <a:prstGeom prst="rect">
            <a:avLst/>
          </a:prstGeom>
          <a:noFill/>
        </p:spPr>
        <p:txBody>
          <a:bodyPr wrap="square">
            <a:spAutoFit/>
          </a:bodyPr>
          <a:lstStyle/>
          <a:p>
            <a:pPr algn="l"/>
            <a:r>
              <a:rPr sz="750" b="0" i="0">
                <a:solidFill>
                  <a:srgbClr val="4A5568"/>
                </a:solidFill>
                <a:latin typeface="Calibri"/>
              </a:rPr>
              <a:t>Apr 5</a:t>
            </a:r>
          </a:p>
        </p:txBody>
      </p:sp>
      <p:sp>
        <p:nvSpPr>
          <p:cNvPr id="127" name="Rectangle 126"/>
          <p:cNvSpPr/>
          <p:nvPr/>
        </p:nvSpPr>
        <p:spPr>
          <a:xfrm>
            <a:off x="4681728" y="4910328"/>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727448" y="4928616"/>
            <a:ext cx="576072" cy="173736"/>
          </a:xfrm>
          <a:prstGeom prst="rect">
            <a:avLst/>
          </a:prstGeom>
          <a:noFill/>
        </p:spPr>
        <p:txBody>
          <a:bodyPr wrap="square">
            <a:spAutoFit/>
          </a:bodyPr>
          <a:lstStyle/>
          <a:p>
            <a:pPr algn="l"/>
            <a:r>
              <a:rPr sz="750" b="0" i="0">
                <a:solidFill>
                  <a:srgbClr val="4A5568"/>
                </a:solidFill>
                <a:latin typeface="Calibri"/>
              </a:rPr>
              <a:t>12th</a:t>
            </a:r>
          </a:p>
        </p:txBody>
      </p:sp>
      <p:sp>
        <p:nvSpPr>
          <p:cNvPr id="129" name="Rectangle 128"/>
          <p:cNvSpPr/>
          <p:nvPr/>
        </p:nvSpPr>
        <p:spPr>
          <a:xfrm>
            <a:off x="5321808" y="4910328"/>
            <a:ext cx="3456432"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367528" y="4928616"/>
            <a:ext cx="3392424" cy="173736"/>
          </a:xfrm>
          <a:prstGeom prst="rect">
            <a:avLst/>
          </a:prstGeom>
          <a:noFill/>
        </p:spPr>
        <p:txBody>
          <a:bodyPr wrap="square">
            <a:spAutoFit/>
          </a:bodyPr>
          <a:lstStyle/>
          <a:p>
            <a:pPr algn="l"/>
            <a:r>
              <a:rPr sz="750" b="1" i="0">
                <a:solidFill>
                  <a:srgbClr val="0F3460"/>
                </a:solidFill>
                <a:latin typeface="Calibri"/>
              </a:rPr>
              <a:t>Completion push (Jan–Apr)</a:t>
            </a:r>
          </a:p>
        </p:txBody>
      </p:sp>
      <p:sp>
        <p:nvSpPr>
          <p:cNvPr id="131" name="Rectangle 130"/>
          <p:cNvSpPr/>
          <p:nvPr/>
        </p:nvSpPr>
        <p:spPr>
          <a:xfrm>
            <a:off x="365760" y="5084064"/>
            <a:ext cx="475488"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11480" y="5102352"/>
            <a:ext cx="411480" cy="173736"/>
          </a:xfrm>
          <a:prstGeom prst="rect">
            <a:avLst/>
          </a:prstGeom>
          <a:noFill/>
        </p:spPr>
        <p:txBody>
          <a:bodyPr wrap="square">
            <a:spAutoFit/>
          </a:bodyPr>
          <a:lstStyle/>
          <a:p>
            <a:pPr algn="l"/>
            <a:r>
              <a:rPr sz="700" b="1" i="0">
                <a:solidFill>
                  <a:srgbClr val="0F3460"/>
                </a:solidFill>
                <a:latin typeface="Montserrat"/>
              </a:rPr>
              <a:t>D30</a:t>
            </a:r>
          </a:p>
        </p:txBody>
      </p:sp>
      <p:sp>
        <p:nvSpPr>
          <p:cNvPr id="133" name="Rectangle 132"/>
          <p:cNvSpPr/>
          <p:nvPr/>
        </p:nvSpPr>
        <p:spPr>
          <a:xfrm>
            <a:off x="841248" y="5084064"/>
            <a:ext cx="320040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886968" y="5102352"/>
            <a:ext cx="3136392" cy="173736"/>
          </a:xfrm>
          <a:prstGeom prst="rect">
            <a:avLst/>
          </a:prstGeom>
          <a:noFill/>
        </p:spPr>
        <p:txBody>
          <a:bodyPr wrap="square">
            <a:spAutoFit/>
          </a:bodyPr>
          <a:lstStyle/>
          <a:p>
            <a:pPr algn="l"/>
            <a:r>
              <a:rPr sz="750" b="0" i="0">
                <a:solidFill>
                  <a:srgbClr val="4A5568"/>
                </a:solidFill>
                <a:latin typeface="Calibri"/>
              </a:rPr>
              <a:t>Rising 10th graders identified in STARS</a:t>
            </a:r>
          </a:p>
        </p:txBody>
      </p:sp>
      <p:sp>
        <p:nvSpPr>
          <p:cNvPr id="135" name="Rectangle 134"/>
          <p:cNvSpPr/>
          <p:nvPr/>
        </p:nvSpPr>
        <p:spPr>
          <a:xfrm>
            <a:off x="4041648" y="5084064"/>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4087368" y="5102352"/>
            <a:ext cx="576072" cy="173736"/>
          </a:xfrm>
          <a:prstGeom prst="rect">
            <a:avLst/>
          </a:prstGeom>
          <a:noFill/>
        </p:spPr>
        <p:txBody>
          <a:bodyPr wrap="square">
            <a:spAutoFit/>
          </a:bodyPr>
          <a:lstStyle/>
          <a:p>
            <a:pPr algn="l"/>
            <a:r>
              <a:rPr sz="750" b="0" i="0">
                <a:solidFill>
                  <a:srgbClr val="4A5568"/>
                </a:solidFill>
                <a:latin typeface="Calibri"/>
              </a:rPr>
              <a:t>Jul 5</a:t>
            </a:r>
          </a:p>
        </p:txBody>
      </p:sp>
      <p:sp>
        <p:nvSpPr>
          <p:cNvPr id="137" name="Rectangle 136"/>
          <p:cNvSpPr/>
          <p:nvPr/>
        </p:nvSpPr>
        <p:spPr>
          <a:xfrm>
            <a:off x="4681728" y="5084064"/>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727448" y="5102352"/>
            <a:ext cx="576072" cy="173736"/>
          </a:xfrm>
          <a:prstGeom prst="rect">
            <a:avLst/>
          </a:prstGeom>
          <a:noFill/>
        </p:spPr>
        <p:txBody>
          <a:bodyPr wrap="square">
            <a:spAutoFit/>
          </a:bodyPr>
          <a:lstStyle/>
          <a:p>
            <a:pPr algn="l"/>
            <a:r>
              <a:rPr sz="750" b="0" i="0">
                <a:solidFill>
                  <a:srgbClr val="4A5568"/>
                </a:solidFill>
                <a:latin typeface="Calibri"/>
              </a:rPr>
              <a:t>9th</a:t>
            </a:r>
          </a:p>
        </p:txBody>
      </p:sp>
      <p:sp>
        <p:nvSpPr>
          <p:cNvPr id="139" name="Rectangle 138"/>
          <p:cNvSpPr/>
          <p:nvPr/>
        </p:nvSpPr>
        <p:spPr>
          <a:xfrm>
            <a:off x="5321808" y="5084064"/>
            <a:ext cx="3456432"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367528" y="5102352"/>
            <a:ext cx="3392424" cy="173736"/>
          </a:xfrm>
          <a:prstGeom prst="rect">
            <a:avLst/>
          </a:prstGeom>
          <a:noFill/>
        </p:spPr>
        <p:txBody>
          <a:bodyPr wrap="square">
            <a:spAutoFit/>
          </a:bodyPr>
          <a:lstStyle/>
          <a:p>
            <a:pPr algn="l"/>
            <a:r>
              <a:rPr sz="750" b="1" i="0">
                <a:solidFill>
                  <a:srgbClr val="0F3460"/>
                </a:solidFill>
                <a:latin typeface="Calibri"/>
              </a:rPr>
              <a:t>Orientation for rising 10th graders</a:t>
            </a:r>
          </a:p>
        </p:txBody>
      </p:sp>
      <p:sp>
        <p:nvSpPr>
          <p:cNvPr id="141" name="Rectangle 140"/>
          <p:cNvSpPr/>
          <p:nvPr/>
        </p:nvSpPr>
        <p:spPr>
          <a:xfrm>
            <a:off x="365760" y="5257800"/>
            <a:ext cx="475488"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11480" y="5276088"/>
            <a:ext cx="411480" cy="173736"/>
          </a:xfrm>
          <a:prstGeom prst="rect">
            <a:avLst/>
          </a:prstGeom>
          <a:noFill/>
        </p:spPr>
        <p:txBody>
          <a:bodyPr wrap="square">
            <a:spAutoFit/>
          </a:bodyPr>
          <a:lstStyle/>
          <a:p>
            <a:pPr algn="l"/>
            <a:r>
              <a:rPr sz="700" b="1" i="0">
                <a:solidFill>
                  <a:srgbClr val="0F3460"/>
                </a:solidFill>
                <a:latin typeface="Montserrat"/>
              </a:rPr>
              <a:t>D32</a:t>
            </a:r>
          </a:p>
        </p:txBody>
      </p:sp>
      <p:sp>
        <p:nvSpPr>
          <p:cNvPr id="143" name="Rectangle 142"/>
          <p:cNvSpPr/>
          <p:nvPr/>
        </p:nvSpPr>
        <p:spPr>
          <a:xfrm>
            <a:off x="841248" y="5257800"/>
            <a:ext cx="320040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886968" y="5276088"/>
            <a:ext cx="3136392" cy="173736"/>
          </a:xfrm>
          <a:prstGeom prst="rect">
            <a:avLst/>
          </a:prstGeom>
          <a:noFill/>
        </p:spPr>
        <p:txBody>
          <a:bodyPr wrap="square">
            <a:spAutoFit/>
          </a:bodyPr>
          <a:lstStyle/>
          <a:p>
            <a:pPr algn="l"/>
            <a:r>
              <a:rPr sz="750" b="0" i="0">
                <a:solidFill>
                  <a:srgbClr val="4A5568"/>
                </a:solidFill>
                <a:latin typeface="Calibri"/>
              </a:rPr>
              <a:t>9th graders completed career interest survey</a:t>
            </a:r>
          </a:p>
        </p:txBody>
      </p:sp>
      <p:sp>
        <p:nvSpPr>
          <p:cNvPr id="145" name="Rectangle 144"/>
          <p:cNvSpPr/>
          <p:nvPr/>
        </p:nvSpPr>
        <p:spPr>
          <a:xfrm>
            <a:off x="4041648" y="5257800"/>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087368" y="5276088"/>
            <a:ext cx="576072" cy="173736"/>
          </a:xfrm>
          <a:prstGeom prst="rect">
            <a:avLst/>
          </a:prstGeom>
          <a:noFill/>
        </p:spPr>
        <p:txBody>
          <a:bodyPr wrap="square">
            <a:spAutoFit/>
          </a:bodyPr>
          <a:lstStyle/>
          <a:p>
            <a:pPr algn="l"/>
            <a:r>
              <a:rPr sz="750" b="0" i="0">
                <a:solidFill>
                  <a:srgbClr val="4A5568"/>
                </a:solidFill>
                <a:latin typeface="Calibri"/>
              </a:rPr>
              <a:t>Jul 5</a:t>
            </a:r>
          </a:p>
        </p:txBody>
      </p:sp>
      <p:sp>
        <p:nvSpPr>
          <p:cNvPr id="147" name="Rectangle 146"/>
          <p:cNvSpPr/>
          <p:nvPr/>
        </p:nvSpPr>
        <p:spPr>
          <a:xfrm>
            <a:off x="4681728" y="5257800"/>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4727448" y="5276088"/>
            <a:ext cx="576072" cy="173736"/>
          </a:xfrm>
          <a:prstGeom prst="rect">
            <a:avLst/>
          </a:prstGeom>
          <a:noFill/>
        </p:spPr>
        <p:txBody>
          <a:bodyPr wrap="square">
            <a:spAutoFit/>
          </a:bodyPr>
          <a:lstStyle/>
          <a:p>
            <a:pPr algn="l"/>
            <a:r>
              <a:rPr sz="750" b="0" i="0">
                <a:solidFill>
                  <a:srgbClr val="4A5568"/>
                </a:solidFill>
                <a:latin typeface="Calibri"/>
              </a:rPr>
              <a:t>9th</a:t>
            </a:r>
          </a:p>
        </p:txBody>
      </p:sp>
      <p:sp>
        <p:nvSpPr>
          <p:cNvPr id="149" name="Rectangle 148"/>
          <p:cNvSpPr/>
          <p:nvPr/>
        </p:nvSpPr>
        <p:spPr>
          <a:xfrm>
            <a:off x="5321808" y="5257800"/>
            <a:ext cx="3456432"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5367528" y="5276088"/>
            <a:ext cx="3392424" cy="173736"/>
          </a:xfrm>
          <a:prstGeom prst="rect">
            <a:avLst/>
          </a:prstGeom>
          <a:noFill/>
        </p:spPr>
        <p:txBody>
          <a:bodyPr wrap="square">
            <a:spAutoFit/>
          </a:bodyPr>
          <a:lstStyle/>
          <a:p>
            <a:pPr algn="l"/>
            <a:r>
              <a:rPr sz="750" b="1" i="0">
                <a:solidFill>
                  <a:srgbClr val="0F3460"/>
                </a:solidFill>
                <a:latin typeface="Calibri"/>
              </a:rPr>
              <a:t>Interest survey (March)</a:t>
            </a:r>
          </a:p>
        </p:txBody>
      </p:sp>
      <p:sp>
        <p:nvSpPr>
          <p:cNvPr id="151" name="Rectangle 150"/>
          <p:cNvSpPr/>
          <p:nvPr/>
        </p:nvSpPr>
        <p:spPr>
          <a:xfrm>
            <a:off x="365760" y="5431536"/>
            <a:ext cx="475488"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411480" y="5449824"/>
            <a:ext cx="411480" cy="173736"/>
          </a:xfrm>
          <a:prstGeom prst="rect">
            <a:avLst/>
          </a:prstGeom>
          <a:noFill/>
        </p:spPr>
        <p:txBody>
          <a:bodyPr wrap="square">
            <a:spAutoFit/>
          </a:bodyPr>
          <a:lstStyle/>
          <a:p>
            <a:pPr algn="l"/>
            <a:r>
              <a:rPr sz="700" b="1" i="0">
                <a:solidFill>
                  <a:srgbClr val="0F3460"/>
                </a:solidFill>
                <a:latin typeface="Montserrat"/>
              </a:rPr>
              <a:t>D34</a:t>
            </a:r>
          </a:p>
        </p:txBody>
      </p:sp>
      <p:sp>
        <p:nvSpPr>
          <p:cNvPr id="153" name="Rectangle 152"/>
          <p:cNvSpPr/>
          <p:nvPr/>
        </p:nvSpPr>
        <p:spPr>
          <a:xfrm>
            <a:off x="841248" y="5431536"/>
            <a:ext cx="320040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886968" y="5449824"/>
            <a:ext cx="3136392" cy="173736"/>
          </a:xfrm>
          <a:prstGeom prst="rect">
            <a:avLst/>
          </a:prstGeom>
          <a:noFill/>
        </p:spPr>
        <p:txBody>
          <a:bodyPr wrap="square">
            <a:spAutoFit/>
          </a:bodyPr>
          <a:lstStyle/>
          <a:p>
            <a:pPr algn="l"/>
            <a:r>
              <a:rPr sz="750" b="0" i="0">
                <a:solidFill>
                  <a:srgbClr val="4A5568"/>
                </a:solidFill>
                <a:latin typeface="Calibri"/>
              </a:rPr>
              <a:t>9th graders completed 1:1 with advisor</a:t>
            </a:r>
          </a:p>
        </p:txBody>
      </p:sp>
      <p:sp>
        <p:nvSpPr>
          <p:cNvPr id="155" name="Rectangle 154"/>
          <p:cNvSpPr/>
          <p:nvPr/>
        </p:nvSpPr>
        <p:spPr>
          <a:xfrm>
            <a:off x="4041648" y="5431536"/>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87368" y="5449824"/>
            <a:ext cx="576072" cy="173736"/>
          </a:xfrm>
          <a:prstGeom prst="rect">
            <a:avLst/>
          </a:prstGeom>
          <a:noFill/>
        </p:spPr>
        <p:txBody>
          <a:bodyPr wrap="square">
            <a:spAutoFit/>
          </a:bodyPr>
          <a:lstStyle/>
          <a:p>
            <a:pPr algn="l"/>
            <a:r>
              <a:rPr sz="750" b="0" i="0">
                <a:solidFill>
                  <a:srgbClr val="4A5568"/>
                </a:solidFill>
                <a:latin typeface="Calibri"/>
              </a:rPr>
              <a:t>Jul 5</a:t>
            </a:r>
          </a:p>
        </p:txBody>
      </p:sp>
      <p:sp>
        <p:nvSpPr>
          <p:cNvPr id="157" name="Rectangle 156"/>
          <p:cNvSpPr/>
          <p:nvPr/>
        </p:nvSpPr>
        <p:spPr>
          <a:xfrm>
            <a:off x="4681728" y="5431536"/>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4727448" y="5449824"/>
            <a:ext cx="576072" cy="173736"/>
          </a:xfrm>
          <a:prstGeom prst="rect">
            <a:avLst/>
          </a:prstGeom>
          <a:noFill/>
        </p:spPr>
        <p:txBody>
          <a:bodyPr wrap="square">
            <a:spAutoFit/>
          </a:bodyPr>
          <a:lstStyle/>
          <a:p>
            <a:pPr algn="l"/>
            <a:r>
              <a:rPr sz="750" b="0" i="0">
                <a:solidFill>
                  <a:srgbClr val="4A5568"/>
                </a:solidFill>
                <a:latin typeface="Calibri"/>
              </a:rPr>
              <a:t>9th</a:t>
            </a:r>
          </a:p>
        </p:txBody>
      </p:sp>
      <p:sp>
        <p:nvSpPr>
          <p:cNvPr id="159" name="Rectangle 158"/>
          <p:cNvSpPr/>
          <p:nvPr/>
        </p:nvSpPr>
        <p:spPr>
          <a:xfrm>
            <a:off x="5321808" y="5431536"/>
            <a:ext cx="3456432"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5367528" y="5449824"/>
            <a:ext cx="3392424" cy="173736"/>
          </a:xfrm>
          <a:prstGeom prst="rect">
            <a:avLst/>
          </a:prstGeom>
          <a:noFill/>
        </p:spPr>
        <p:txBody>
          <a:bodyPr wrap="square">
            <a:spAutoFit/>
          </a:bodyPr>
          <a:lstStyle/>
          <a:p>
            <a:pPr algn="l"/>
            <a:r>
              <a:rPr sz="750" b="1" i="0">
                <a:solidFill>
                  <a:srgbClr val="0F3460"/>
                </a:solidFill>
                <a:latin typeface="Calibri"/>
              </a:rPr>
              <a:t>1:1 meetings with interested students (April)</a:t>
            </a:r>
          </a:p>
        </p:txBody>
      </p:sp>
      <p:sp>
        <p:nvSpPr>
          <p:cNvPr id="161" name="Rectangle 160"/>
          <p:cNvSpPr/>
          <p:nvPr/>
        </p:nvSpPr>
        <p:spPr>
          <a:xfrm>
            <a:off x="365760" y="5605272"/>
            <a:ext cx="475488"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411480" y="5623560"/>
            <a:ext cx="411480" cy="173736"/>
          </a:xfrm>
          <a:prstGeom prst="rect">
            <a:avLst/>
          </a:prstGeom>
          <a:noFill/>
        </p:spPr>
        <p:txBody>
          <a:bodyPr wrap="square">
            <a:spAutoFit/>
          </a:bodyPr>
          <a:lstStyle/>
          <a:p>
            <a:pPr algn="l"/>
            <a:r>
              <a:rPr sz="700" b="1" i="0">
                <a:solidFill>
                  <a:srgbClr val="0F3460"/>
                </a:solidFill>
                <a:latin typeface="Montserrat"/>
              </a:rPr>
              <a:t>D36</a:t>
            </a:r>
          </a:p>
        </p:txBody>
      </p:sp>
      <p:sp>
        <p:nvSpPr>
          <p:cNvPr id="163" name="Rectangle 162"/>
          <p:cNvSpPr/>
          <p:nvPr/>
        </p:nvSpPr>
        <p:spPr>
          <a:xfrm>
            <a:off x="841248" y="5605272"/>
            <a:ext cx="320040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886968" y="5623560"/>
            <a:ext cx="3136392" cy="173736"/>
          </a:xfrm>
          <a:prstGeom prst="rect">
            <a:avLst/>
          </a:prstGeom>
          <a:noFill/>
        </p:spPr>
        <p:txBody>
          <a:bodyPr wrap="square">
            <a:spAutoFit/>
          </a:bodyPr>
          <a:lstStyle/>
          <a:p>
            <a:pPr algn="l"/>
            <a:r>
              <a:rPr sz="750" b="0" i="0">
                <a:solidFill>
                  <a:srgbClr val="4A5568"/>
                </a:solidFill>
                <a:latin typeface="Calibri"/>
              </a:rPr>
              <a:t>All FRNYC students: written career planning reflection</a:t>
            </a:r>
          </a:p>
        </p:txBody>
      </p:sp>
      <p:sp>
        <p:nvSpPr>
          <p:cNvPr id="165" name="Rectangle 164"/>
          <p:cNvSpPr/>
          <p:nvPr/>
        </p:nvSpPr>
        <p:spPr>
          <a:xfrm>
            <a:off x="4041648" y="5605272"/>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4087368" y="5623560"/>
            <a:ext cx="576072" cy="173736"/>
          </a:xfrm>
          <a:prstGeom prst="rect">
            <a:avLst/>
          </a:prstGeom>
          <a:noFill/>
        </p:spPr>
        <p:txBody>
          <a:bodyPr wrap="square">
            <a:spAutoFit/>
          </a:bodyPr>
          <a:lstStyle/>
          <a:p>
            <a:pPr algn="l"/>
            <a:r>
              <a:rPr sz="750" b="0" i="0">
                <a:solidFill>
                  <a:srgbClr val="4A5568"/>
                </a:solidFill>
                <a:latin typeface="Calibri"/>
              </a:rPr>
              <a:t>Jul 5</a:t>
            </a:r>
          </a:p>
        </p:txBody>
      </p:sp>
      <p:sp>
        <p:nvSpPr>
          <p:cNvPr id="167" name="Rectangle 166"/>
          <p:cNvSpPr/>
          <p:nvPr/>
        </p:nvSpPr>
        <p:spPr>
          <a:xfrm>
            <a:off x="4681728" y="5605272"/>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4727448" y="5623560"/>
            <a:ext cx="576072" cy="173736"/>
          </a:xfrm>
          <a:prstGeom prst="rect">
            <a:avLst/>
          </a:prstGeom>
          <a:noFill/>
        </p:spPr>
        <p:txBody>
          <a:bodyPr wrap="square">
            <a:spAutoFit/>
          </a:bodyPr>
          <a:lstStyle/>
          <a:p>
            <a:pPr algn="l"/>
            <a:r>
              <a:rPr sz="750" b="0" i="0">
                <a:solidFill>
                  <a:srgbClr val="4A5568"/>
                </a:solidFill>
                <a:latin typeface="Calibri"/>
              </a:rPr>
              <a:t>11th</a:t>
            </a:r>
          </a:p>
        </p:txBody>
      </p:sp>
      <p:sp>
        <p:nvSpPr>
          <p:cNvPr id="169" name="Rectangle 168"/>
          <p:cNvSpPr/>
          <p:nvPr/>
        </p:nvSpPr>
        <p:spPr>
          <a:xfrm>
            <a:off x="5321808" y="5605272"/>
            <a:ext cx="3456432"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367528" y="5623560"/>
            <a:ext cx="3392424" cy="173736"/>
          </a:xfrm>
          <a:prstGeom prst="rect">
            <a:avLst/>
          </a:prstGeom>
          <a:noFill/>
        </p:spPr>
        <p:txBody>
          <a:bodyPr wrap="square">
            <a:spAutoFit/>
          </a:bodyPr>
          <a:lstStyle/>
          <a:p>
            <a:pPr algn="l"/>
            <a:r>
              <a:rPr sz="750" b="1" i="0">
                <a:solidFill>
                  <a:srgbClr val="0F3460"/>
                </a:solidFill>
                <a:latin typeface="Calibri"/>
              </a:rPr>
              <a:t>Second 1:1 + post-secondary plan</a:t>
            </a:r>
          </a:p>
        </p:txBody>
      </p:sp>
      <p:sp>
        <p:nvSpPr>
          <p:cNvPr id="171" name="Rectangle 170"/>
          <p:cNvSpPr/>
          <p:nvPr/>
        </p:nvSpPr>
        <p:spPr>
          <a:xfrm>
            <a:off x="365760" y="5779008"/>
            <a:ext cx="475488"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411480" y="5797296"/>
            <a:ext cx="411480" cy="173736"/>
          </a:xfrm>
          <a:prstGeom prst="rect">
            <a:avLst/>
          </a:prstGeom>
          <a:noFill/>
        </p:spPr>
        <p:txBody>
          <a:bodyPr wrap="square">
            <a:spAutoFit/>
          </a:bodyPr>
          <a:lstStyle/>
          <a:p>
            <a:pPr algn="l"/>
            <a:r>
              <a:rPr sz="700" b="1" i="0">
                <a:solidFill>
                  <a:srgbClr val="0F3460"/>
                </a:solidFill>
                <a:latin typeface="Montserrat"/>
              </a:rPr>
              <a:t>D40</a:t>
            </a:r>
          </a:p>
        </p:txBody>
      </p:sp>
      <p:sp>
        <p:nvSpPr>
          <p:cNvPr id="173" name="Rectangle 172"/>
          <p:cNvSpPr/>
          <p:nvPr/>
        </p:nvSpPr>
        <p:spPr>
          <a:xfrm>
            <a:off x="841248" y="5779008"/>
            <a:ext cx="320040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86968" y="5797296"/>
            <a:ext cx="3136392" cy="173736"/>
          </a:xfrm>
          <a:prstGeom prst="rect">
            <a:avLst/>
          </a:prstGeom>
          <a:noFill/>
        </p:spPr>
        <p:txBody>
          <a:bodyPr wrap="square">
            <a:spAutoFit/>
          </a:bodyPr>
          <a:lstStyle/>
          <a:p>
            <a:pPr algn="l"/>
            <a:r>
              <a:rPr sz="750" b="0" i="0">
                <a:solidFill>
                  <a:srgbClr val="4A5568"/>
                </a:solidFill>
                <a:latin typeface="Calibri"/>
              </a:rPr>
              <a:t>All FRNYC 11th–12th: completed ECC</a:t>
            </a:r>
          </a:p>
        </p:txBody>
      </p:sp>
      <p:sp>
        <p:nvSpPr>
          <p:cNvPr id="175" name="Rectangle 174"/>
          <p:cNvSpPr/>
          <p:nvPr/>
        </p:nvSpPr>
        <p:spPr>
          <a:xfrm>
            <a:off x="4041648" y="5779008"/>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4087368" y="5797296"/>
            <a:ext cx="576072" cy="173736"/>
          </a:xfrm>
          <a:prstGeom prst="rect">
            <a:avLst/>
          </a:prstGeom>
          <a:noFill/>
        </p:spPr>
        <p:txBody>
          <a:bodyPr wrap="square">
            <a:spAutoFit/>
          </a:bodyPr>
          <a:lstStyle/>
          <a:p>
            <a:pPr algn="l"/>
            <a:r>
              <a:rPr sz="750" b="0" i="0">
                <a:solidFill>
                  <a:srgbClr val="4A5568"/>
                </a:solidFill>
                <a:latin typeface="Calibri"/>
              </a:rPr>
              <a:t>Jul 5</a:t>
            </a:r>
          </a:p>
        </p:txBody>
      </p:sp>
      <p:sp>
        <p:nvSpPr>
          <p:cNvPr id="177" name="Rectangle 176"/>
          <p:cNvSpPr/>
          <p:nvPr/>
        </p:nvSpPr>
        <p:spPr>
          <a:xfrm>
            <a:off x="4681728" y="5779008"/>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4727448" y="5797296"/>
            <a:ext cx="576072" cy="173736"/>
          </a:xfrm>
          <a:prstGeom prst="rect">
            <a:avLst/>
          </a:prstGeom>
          <a:noFill/>
        </p:spPr>
        <p:txBody>
          <a:bodyPr wrap="square">
            <a:spAutoFit/>
          </a:bodyPr>
          <a:lstStyle/>
          <a:p>
            <a:pPr algn="l"/>
            <a:r>
              <a:rPr sz="750" b="0" i="0">
                <a:solidFill>
                  <a:srgbClr val="4A5568"/>
                </a:solidFill>
                <a:latin typeface="Calibri"/>
              </a:rPr>
              <a:t>11–12th</a:t>
            </a:r>
          </a:p>
        </p:txBody>
      </p:sp>
      <p:sp>
        <p:nvSpPr>
          <p:cNvPr id="179" name="Rectangle 178"/>
          <p:cNvSpPr/>
          <p:nvPr/>
        </p:nvSpPr>
        <p:spPr>
          <a:xfrm>
            <a:off x="5321808" y="5779008"/>
            <a:ext cx="3456432"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5367528" y="5797296"/>
            <a:ext cx="3392424" cy="173736"/>
          </a:xfrm>
          <a:prstGeom prst="rect">
            <a:avLst/>
          </a:prstGeom>
          <a:noFill/>
        </p:spPr>
        <p:txBody>
          <a:bodyPr wrap="square">
            <a:spAutoFit/>
          </a:bodyPr>
          <a:lstStyle/>
          <a:p>
            <a:pPr algn="l"/>
            <a:r>
              <a:rPr sz="750" b="1" i="0">
                <a:solidFill>
                  <a:srgbClr val="0F3460"/>
                </a:solidFill>
                <a:latin typeface="Calibri"/>
              </a:rPr>
              <a:t>ECC supports + completion push</a:t>
            </a:r>
          </a:p>
        </p:txBody>
      </p:sp>
      <p:sp>
        <p:nvSpPr>
          <p:cNvPr id="181" name="Rectangle 180"/>
          <p:cNvSpPr/>
          <p:nvPr/>
        </p:nvSpPr>
        <p:spPr>
          <a:xfrm>
            <a:off x="365760" y="5952744"/>
            <a:ext cx="475488"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411480" y="5971032"/>
            <a:ext cx="411480" cy="173736"/>
          </a:xfrm>
          <a:prstGeom prst="rect">
            <a:avLst/>
          </a:prstGeom>
          <a:noFill/>
        </p:spPr>
        <p:txBody>
          <a:bodyPr wrap="square">
            <a:spAutoFit/>
          </a:bodyPr>
          <a:lstStyle/>
          <a:p>
            <a:pPr algn="l"/>
            <a:r>
              <a:rPr sz="700" b="1" i="0">
                <a:solidFill>
                  <a:srgbClr val="0F3460"/>
                </a:solidFill>
                <a:latin typeface="Montserrat"/>
              </a:rPr>
              <a:t>D43</a:t>
            </a:r>
          </a:p>
        </p:txBody>
      </p:sp>
      <p:sp>
        <p:nvSpPr>
          <p:cNvPr id="183" name="Rectangle 182"/>
          <p:cNvSpPr/>
          <p:nvPr/>
        </p:nvSpPr>
        <p:spPr>
          <a:xfrm>
            <a:off x="841248" y="5952744"/>
            <a:ext cx="320040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86968" y="5971032"/>
            <a:ext cx="3136392" cy="173736"/>
          </a:xfrm>
          <a:prstGeom prst="rect">
            <a:avLst/>
          </a:prstGeom>
          <a:noFill/>
        </p:spPr>
        <p:txBody>
          <a:bodyPr wrap="square">
            <a:spAutoFit/>
          </a:bodyPr>
          <a:lstStyle/>
          <a:p>
            <a:pPr algn="l"/>
            <a:r>
              <a:rPr sz="750" b="0" i="0">
                <a:solidFill>
                  <a:srgbClr val="4A5568"/>
                </a:solidFill>
                <a:latin typeface="Calibri"/>
              </a:rPr>
              <a:t>All 10th graders: two unpaid WBL activities completed</a:t>
            </a:r>
          </a:p>
        </p:txBody>
      </p:sp>
      <p:sp>
        <p:nvSpPr>
          <p:cNvPr id="185" name="Rectangle 184"/>
          <p:cNvSpPr/>
          <p:nvPr/>
        </p:nvSpPr>
        <p:spPr>
          <a:xfrm>
            <a:off x="4041648" y="5952744"/>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4087368" y="5971032"/>
            <a:ext cx="576072" cy="173736"/>
          </a:xfrm>
          <a:prstGeom prst="rect">
            <a:avLst/>
          </a:prstGeom>
          <a:noFill/>
        </p:spPr>
        <p:txBody>
          <a:bodyPr wrap="square">
            <a:spAutoFit/>
          </a:bodyPr>
          <a:lstStyle/>
          <a:p>
            <a:pPr algn="l"/>
            <a:r>
              <a:rPr sz="750" b="0" i="0">
                <a:solidFill>
                  <a:srgbClr val="4A5568"/>
                </a:solidFill>
                <a:latin typeface="Calibri"/>
              </a:rPr>
              <a:t>Jul 5</a:t>
            </a:r>
          </a:p>
        </p:txBody>
      </p:sp>
      <p:sp>
        <p:nvSpPr>
          <p:cNvPr id="187" name="Rectangle 186"/>
          <p:cNvSpPr/>
          <p:nvPr/>
        </p:nvSpPr>
        <p:spPr>
          <a:xfrm>
            <a:off x="4681728" y="5952744"/>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4727448" y="5971032"/>
            <a:ext cx="576072" cy="173736"/>
          </a:xfrm>
          <a:prstGeom prst="rect">
            <a:avLst/>
          </a:prstGeom>
          <a:noFill/>
        </p:spPr>
        <p:txBody>
          <a:bodyPr wrap="square">
            <a:spAutoFit/>
          </a:bodyPr>
          <a:lstStyle/>
          <a:p>
            <a:pPr algn="l"/>
            <a:r>
              <a:rPr sz="750" b="0" i="0">
                <a:solidFill>
                  <a:srgbClr val="4A5568"/>
                </a:solidFill>
                <a:latin typeface="Calibri"/>
              </a:rPr>
              <a:t>10th</a:t>
            </a:r>
          </a:p>
        </p:txBody>
      </p:sp>
      <p:sp>
        <p:nvSpPr>
          <p:cNvPr id="189" name="Rectangle 188"/>
          <p:cNvSpPr/>
          <p:nvPr/>
        </p:nvSpPr>
        <p:spPr>
          <a:xfrm>
            <a:off x="5321808" y="5952744"/>
            <a:ext cx="3456432"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367528" y="5971032"/>
            <a:ext cx="3392424" cy="173736"/>
          </a:xfrm>
          <a:prstGeom prst="rect">
            <a:avLst/>
          </a:prstGeom>
          <a:noFill/>
        </p:spPr>
        <p:txBody>
          <a:bodyPr wrap="square">
            <a:spAutoFit/>
          </a:bodyPr>
          <a:lstStyle/>
          <a:p>
            <a:pPr algn="l"/>
            <a:r>
              <a:rPr sz="750" b="1" i="0">
                <a:solidFill>
                  <a:srgbClr val="0F3460"/>
                </a:solidFill>
                <a:latin typeface="Calibri"/>
              </a:rPr>
              <a:t>WBL alignment with intermediary</a:t>
            </a:r>
          </a:p>
        </p:txBody>
      </p:sp>
      <p:sp>
        <p:nvSpPr>
          <p:cNvPr id="191" name="Rectangle 190"/>
          <p:cNvSpPr/>
          <p:nvPr/>
        </p:nvSpPr>
        <p:spPr>
          <a:xfrm>
            <a:off x="365760" y="6126480"/>
            <a:ext cx="475488"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411480" y="6144768"/>
            <a:ext cx="411480" cy="173736"/>
          </a:xfrm>
          <a:prstGeom prst="rect">
            <a:avLst/>
          </a:prstGeom>
          <a:noFill/>
        </p:spPr>
        <p:txBody>
          <a:bodyPr wrap="square">
            <a:spAutoFit/>
          </a:bodyPr>
          <a:lstStyle/>
          <a:p>
            <a:pPr algn="l"/>
            <a:r>
              <a:rPr sz="700" b="1" i="0">
                <a:solidFill>
                  <a:srgbClr val="0F3460"/>
                </a:solidFill>
                <a:latin typeface="Montserrat"/>
              </a:rPr>
              <a:t>D31</a:t>
            </a:r>
          </a:p>
        </p:txBody>
      </p:sp>
      <p:sp>
        <p:nvSpPr>
          <p:cNvPr id="193" name="Rectangle 192"/>
          <p:cNvSpPr/>
          <p:nvPr/>
        </p:nvSpPr>
        <p:spPr>
          <a:xfrm>
            <a:off x="841248" y="6126480"/>
            <a:ext cx="320040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886968" y="6144768"/>
            <a:ext cx="3136392" cy="173736"/>
          </a:xfrm>
          <a:prstGeom prst="rect">
            <a:avLst/>
          </a:prstGeom>
          <a:noFill/>
        </p:spPr>
        <p:txBody>
          <a:bodyPr wrap="square">
            <a:spAutoFit/>
          </a:bodyPr>
          <a:lstStyle/>
          <a:p>
            <a:pPr algn="l"/>
            <a:r>
              <a:rPr sz="750" b="0" i="0">
                <a:solidFill>
                  <a:srgbClr val="4A5568"/>
                </a:solidFill>
                <a:latin typeface="Calibri"/>
              </a:rPr>
              <a:t>Equity reflection complete</a:t>
            </a:r>
          </a:p>
        </p:txBody>
      </p:sp>
      <p:sp>
        <p:nvSpPr>
          <p:cNvPr id="195" name="Rectangle 194"/>
          <p:cNvSpPr/>
          <p:nvPr/>
        </p:nvSpPr>
        <p:spPr>
          <a:xfrm>
            <a:off x="4041648" y="6126480"/>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4087368" y="6144768"/>
            <a:ext cx="576072" cy="173736"/>
          </a:xfrm>
          <a:prstGeom prst="rect">
            <a:avLst/>
          </a:prstGeom>
          <a:noFill/>
        </p:spPr>
        <p:txBody>
          <a:bodyPr wrap="square">
            <a:spAutoFit/>
          </a:bodyPr>
          <a:lstStyle/>
          <a:p>
            <a:pPr algn="l"/>
            <a:r>
              <a:rPr sz="750" b="0" i="0">
                <a:solidFill>
                  <a:srgbClr val="4A5568"/>
                </a:solidFill>
                <a:latin typeface="Calibri"/>
              </a:rPr>
              <a:t>Jul 5</a:t>
            </a:r>
          </a:p>
        </p:txBody>
      </p:sp>
      <p:sp>
        <p:nvSpPr>
          <p:cNvPr id="197" name="Rectangle 196"/>
          <p:cNvSpPr/>
          <p:nvPr/>
        </p:nvSpPr>
        <p:spPr>
          <a:xfrm>
            <a:off x="4681728" y="6126480"/>
            <a:ext cx="640080"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4727448" y="6144768"/>
            <a:ext cx="576072" cy="173736"/>
          </a:xfrm>
          <a:prstGeom prst="rect">
            <a:avLst/>
          </a:prstGeom>
          <a:noFill/>
        </p:spPr>
        <p:txBody>
          <a:bodyPr wrap="square">
            <a:spAutoFit/>
          </a:bodyPr>
          <a:lstStyle/>
          <a:p>
            <a:pPr algn="l"/>
            <a:r>
              <a:rPr sz="750" b="0" i="0">
                <a:solidFill>
                  <a:srgbClr val="4A5568"/>
                </a:solidFill>
                <a:latin typeface="Calibri"/>
              </a:rPr>
              <a:t>All</a:t>
            </a:r>
          </a:p>
        </p:txBody>
      </p:sp>
      <p:sp>
        <p:nvSpPr>
          <p:cNvPr id="199" name="Rectangle 198"/>
          <p:cNvSpPr/>
          <p:nvPr/>
        </p:nvSpPr>
        <p:spPr>
          <a:xfrm>
            <a:off x="5321808" y="6126480"/>
            <a:ext cx="3456432" cy="173736"/>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5367528" y="6144768"/>
            <a:ext cx="3392424" cy="173736"/>
          </a:xfrm>
          <a:prstGeom prst="rect">
            <a:avLst/>
          </a:prstGeom>
          <a:noFill/>
        </p:spPr>
        <p:txBody>
          <a:bodyPr wrap="square">
            <a:spAutoFit/>
          </a:bodyPr>
          <a:lstStyle/>
          <a:p>
            <a:pPr algn="l"/>
            <a:r>
              <a:rPr sz="750" b="1" i="0">
                <a:solidFill>
                  <a:srgbClr val="0F3460"/>
                </a:solidFill>
                <a:latin typeface="Calibri"/>
              </a:rPr>
              <a:t>End-of-year debrief</a:t>
            </a:r>
          </a:p>
        </p:txBody>
      </p:sp>
      <p:sp>
        <p:nvSpPr>
          <p:cNvPr id="201" name="Rectangle 200"/>
          <p:cNvSpPr/>
          <p:nvPr/>
        </p:nvSpPr>
        <p:spPr>
          <a:xfrm>
            <a:off x="365760" y="6300216"/>
            <a:ext cx="475488"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411480" y="6318504"/>
            <a:ext cx="411480" cy="173736"/>
          </a:xfrm>
          <a:prstGeom prst="rect">
            <a:avLst/>
          </a:prstGeom>
          <a:noFill/>
        </p:spPr>
        <p:txBody>
          <a:bodyPr wrap="square">
            <a:spAutoFit/>
          </a:bodyPr>
          <a:lstStyle/>
          <a:p>
            <a:pPr algn="l"/>
            <a:r>
              <a:rPr sz="700" b="1" i="0">
                <a:solidFill>
                  <a:srgbClr val="0F3460"/>
                </a:solidFill>
                <a:latin typeface="Montserrat"/>
              </a:rPr>
              <a:t>D29</a:t>
            </a:r>
          </a:p>
        </p:txBody>
      </p:sp>
      <p:sp>
        <p:nvSpPr>
          <p:cNvPr id="203" name="Rectangle 202"/>
          <p:cNvSpPr/>
          <p:nvPr/>
        </p:nvSpPr>
        <p:spPr>
          <a:xfrm>
            <a:off x="841248" y="6300216"/>
            <a:ext cx="320040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886968" y="6318504"/>
            <a:ext cx="3136392" cy="173736"/>
          </a:xfrm>
          <a:prstGeom prst="rect">
            <a:avLst/>
          </a:prstGeom>
          <a:noFill/>
        </p:spPr>
        <p:txBody>
          <a:bodyPr wrap="square">
            <a:spAutoFit/>
          </a:bodyPr>
          <a:lstStyle/>
          <a:p>
            <a:pPr algn="l"/>
            <a:r>
              <a:rPr sz="750" b="0" i="0">
                <a:solidFill>
                  <a:srgbClr val="4A5568"/>
                </a:solidFill>
                <a:latin typeface="Calibri"/>
              </a:rPr>
              <a:t>Next-SY budget &amp; implementation plan approved</a:t>
            </a:r>
          </a:p>
        </p:txBody>
      </p:sp>
      <p:sp>
        <p:nvSpPr>
          <p:cNvPr id="205" name="Rectangle 204"/>
          <p:cNvSpPr/>
          <p:nvPr/>
        </p:nvSpPr>
        <p:spPr>
          <a:xfrm>
            <a:off x="4041648" y="6300216"/>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4087368" y="6318504"/>
            <a:ext cx="576072" cy="173736"/>
          </a:xfrm>
          <a:prstGeom prst="rect">
            <a:avLst/>
          </a:prstGeom>
          <a:noFill/>
        </p:spPr>
        <p:txBody>
          <a:bodyPr wrap="square">
            <a:spAutoFit/>
          </a:bodyPr>
          <a:lstStyle/>
          <a:p>
            <a:pPr algn="l"/>
            <a:r>
              <a:rPr sz="750" b="0" i="0">
                <a:solidFill>
                  <a:srgbClr val="4A5568"/>
                </a:solidFill>
                <a:latin typeface="Calibri"/>
              </a:rPr>
              <a:t>Jul 5</a:t>
            </a:r>
          </a:p>
        </p:txBody>
      </p:sp>
      <p:sp>
        <p:nvSpPr>
          <p:cNvPr id="207" name="Rectangle 206"/>
          <p:cNvSpPr/>
          <p:nvPr/>
        </p:nvSpPr>
        <p:spPr>
          <a:xfrm>
            <a:off x="4681728" y="6300216"/>
            <a:ext cx="640080"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4727448" y="6318504"/>
            <a:ext cx="576072" cy="173736"/>
          </a:xfrm>
          <a:prstGeom prst="rect">
            <a:avLst/>
          </a:prstGeom>
          <a:noFill/>
        </p:spPr>
        <p:txBody>
          <a:bodyPr wrap="square">
            <a:spAutoFit/>
          </a:bodyPr>
          <a:lstStyle/>
          <a:p>
            <a:pPr algn="l"/>
            <a:r>
              <a:rPr sz="750" b="0" i="0">
                <a:solidFill>
                  <a:srgbClr val="4A5568"/>
                </a:solidFill>
                <a:latin typeface="Calibri"/>
              </a:rPr>
              <a:t>12th</a:t>
            </a:r>
          </a:p>
        </p:txBody>
      </p:sp>
      <p:sp>
        <p:nvSpPr>
          <p:cNvPr id="209" name="Rectangle 208"/>
          <p:cNvSpPr/>
          <p:nvPr/>
        </p:nvSpPr>
        <p:spPr>
          <a:xfrm>
            <a:off x="5321808" y="6300216"/>
            <a:ext cx="3456432" cy="1737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5367528" y="6318504"/>
            <a:ext cx="3392424" cy="173736"/>
          </a:xfrm>
          <a:prstGeom prst="rect">
            <a:avLst/>
          </a:prstGeom>
          <a:noFill/>
        </p:spPr>
        <p:txBody>
          <a:bodyPr wrap="square">
            <a:spAutoFit/>
          </a:bodyPr>
          <a:lstStyle/>
          <a:p>
            <a:pPr algn="l"/>
            <a:r>
              <a:rPr sz="750" b="1" i="0">
                <a:solidFill>
                  <a:srgbClr val="0F3460"/>
                </a:solidFill>
                <a:latin typeface="Calibri"/>
              </a:rPr>
              <a:t>End-of-year debrief</a:t>
            </a:r>
          </a:p>
        </p:txBody>
      </p:sp>
      <p:sp>
        <p:nvSpPr>
          <p:cNvPr id="211" name="Rectangle 210"/>
          <p:cNvSpPr/>
          <p:nvPr/>
        </p:nvSpPr>
        <p:spPr>
          <a:xfrm>
            <a:off x="0" y="6537960"/>
            <a:ext cx="9144000" cy="320040"/>
          </a:xfrm>
          <a:prstGeom prst="rect">
            <a:avLst/>
          </a:prstGeom>
          <a:noFill/>
          <a:ln w="6350">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8595360" y="6583680"/>
            <a:ext cx="365760" cy="320040"/>
          </a:xfrm>
          <a:prstGeom prst="rect">
            <a:avLst/>
          </a:prstGeom>
          <a:noFill/>
        </p:spPr>
        <p:txBody>
          <a:bodyPr wrap="square">
            <a:spAutoFit/>
          </a:bodyPr>
          <a:lstStyle/>
          <a:p>
            <a:pPr algn="r"/>
            <a:r>
              <a:rPr sz="800" b="1" i="0">
                <a:solidFill>
                  <a:srgbClr val="4A5568"/>
                </a:solidFill>
                <a:latin typeface="Montserrat"/>
              </a:rPr>
              <a:t>8</a:t>
            </a:r>
          </a:p>
        </p:txBody>
      </p:sp>
      <p:sp>
        <p:nvSpPr>
          <p:cNvPr id="213" name="TextBox 212"/>
          <p:cNvSpPr txBox="1"/>
          <p:nvPr/>
        </p:nvSpPr>
        <p:spPr>
          <a:xfrm>
            <a:off x="365760" y="6601968"/>
            <a:ext cx="5486400" cy="320040"/>
          </a:xfrm>
          <a:prstGeom prst="rect">
            <a:avLst/>
          </a:prstGeom>
          <a:noFill/>
        </p:spPr>
        <p:txBody>
          <a:bodyPr wrap="square">
            <a:spAutoFit/>
          </a:bodyPr>
          <a:lstStyle/>
          <a:p>
            <a:pPr algn="l"/>
            <a:r>
              <a:rPr sz="700" b="0" i="0">
                <a:solidFill>
                  <a:srgbClr val="4A5568"/>
                </a:solidFill>
                <a:latin typeface="Calibri"/>
              </a:rPr>
              <a:t>FutureReady NYC  ·  NYCPS Office of Student Pathways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